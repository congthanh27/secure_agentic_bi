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72"/>
    <p:restoredTop sz="79976"/>
  </p:normalViewPr>
  <p:slideViewPr>
    <p:cSldViewPr snapToGrid="0" snapToObjects="1">
      <p:cViewPr varScale="1">
        <p:scale>
          <a:sx n="122" d="100"/>
          <a:sy n="122" d="100"/>
        </p:scale>
        <p:origin x="1544" y="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1608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Kính thưa Thầy Lê Xuân Bách cùng toàn thể các bạn học viên trong hội đồng môn Công nghệ Phần mềm Thế hệ Mới. Hôm nay, đại diện cho Nhóm 6, em xin phép được trình bày Báo cáo tiến độ Giữa kỳ (mốc Checkpoint D2) của đề tài: 'Secure Agentic BI Framework: Kiến trúc phòng thủ Neuro-Symbolic và Giao thức Model Context Protocol cho Hệ thống Trí tuệ Doanh nghiệp Tự trị'.</a:t>
            </a:r>
          </a:p>
          <a:p>
            <a:endParaRPr/>
          </a:p>
          <a:p>
            <a:r>
              <a:t>Đề tài được thực hiện bởi 3 thành viên gồm em Nguyễn Công Thành, bạn Phạm Quỳnh Trân và bạn Nguyễn Hữu Lợi, dưới sự hướng dẫn khoa học của TS. Lê Xuân Bách. Mục tiêu sống còn mà dự án hướng tới là giải quyết bài toán hóc búa nhất khi đưa AI vào phân tích dữ liệu doanh nghiệp: Làm sao để nhân viên có thể thoải mái hỏi đáp bằng ngôn ngữ tự nhiên với cơ sở dữ liệu lớn mà không mở toang cánh cửa cho hacker phá hoại, đánh cắp bí mật hay làm sập hệ thống.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Thưa Thầy và các bạn, việc tích hợp LLM vào Business Intelligence đang tạo ra một bước tiến vượt bậc, giúp bất kỳ nhân viên nào cũng có thể truy vấn số liệu kinh doanh mà không cần học viết SQL. Tuy nhiên, nếu chúng ta chỉ đơn giản là bọc một mô hình LLM quanh thư viện LangChain rồi kết nối thẳng vào database, chúng ta đang tạo ra một hiểm họa bảo mật vô cùng nghiêm trọng.</a:t>
            </a:r>
          </a:p>
          <a:p>
            <a:endParaRPr/>
          </a:p>
          <a:p>
            <a:r>
              <a:t>Bởi vì LLM bản chất là mô hình xác suất và xử lý ngôn ngữ trong cùng một dòng dữ liệu hòa lẫn. Các nghiên cứu an ninh mới nhất đã chỉ ra rằng kẻ tấn công có thể dễ dàng dùng các câu lệnh Jailbreak để ép LLM sinh ra DROP TABLE làm mất trắng dữ liệu, hoặc tạo ra các câu lệnh CROSS JOIN khổng lồ làm sập hoàn toàn máy chủ cơ sở dữ liệu. Nguy hiểm hơn nữa là khi dữ liệu trong bảng chứa mã độc gián tiếp (Indirect Injection), chính Agent sẽ bị điều khiển từ bên trong. Đây chính là khoảng trống kỹ thuật sống còn mà dự án chúng em tập trung giải quyết.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với bản đề xuất ban đầu ở Tuần 1, nhóm đã có một bước chuyển dịch mang tính bước ngoặt về mặt kiến trúc phần mềm. Ban đầu, nhóm dự kiến dựa vào System Prompt và dùng biểu thức chính quy Regex để bắt từ khóa cấm. Nhưng qua thực nghiệm đối kháng, Regex rất dễ bị qua mặt bằng các kỹ thuật làm mờ chuỗi hoặc comment lồng nhau.</a:t>
            </a:r>
          </a:p>
          <a:p>
            <a:endParaRPr/>
          </a:p>
          <a:p>
            <a:r>
              <a:t>Do đó, nhóm đã quyết định chuyển hẳn sang Kiến trúc Phòng thủ Neuro-Symbolic. Trong kiến trúc này, chúng em phân định rạch ròi hai khối: LLM chỉ làm nhiệm vụ Neural, tức là hiểu ngôn ngữ và đề xuất kế hoạch truy vấn; còn việc câu lệnh đó có được phép chạm vào database hay không phải do các cổng kiểm soát Symbolic hình thức quyết định. Cụ thể, chúng em dùng bộ phân tích cây cú pháp sqlglot để kiểm tra toán học mọi câu lệnh. Dù kẻ tấn công có Jailbreak thành công LLM thì câu lệnh sinh ra vẫn bị bẻ gãy 100% tại cổng AST trước khi tới Database.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Trên màn hình là bảng đối chiếu chi tiết giữa những gì nhóm cam kết trong Proposal và những gì đã thực sự cài đặt được tại mốc giữa kỳ. Chúng em đã hoàn thành 8/10 hạng mục với chất lượng vượt kế hoạch ban đầu.</a:t>
            </a:r>
          </a:p>
          <a:p>
            <a:endParaRPr/>
          </a:p>
          <a:p>
            <a:r>
              <a:t>Cụ thể, nhóm đã thay thế việc kết nối CSDL trực tiếp bằng giao thức chuẩn hóa Model Context Protocol (MCP) của Anthropic; thay thế Regex bằng AST Parser toàn diện; và nâng cấp hạ tầng từ một CSDL đơn lẻ lên thành cụm cơ sở dữ liệu liên kết Federated Trino với 21 bảng dữ liệu trên cả PostgreSQL và MySQL. Riêng đối với bộ nhớ ngữ nghĩa Vector DB, nhóm chủ động chuyển trạng thái sang Đang làm và tạm hoãn sang Tuần 10. Quyết định này nhằm ưu tiên hoàn thiện cơ chế quản trị bộ nhớ và kiểm thử Red-teaming trên MySQL trước, tránh nguy cơ hệ thống bị tấn công đầu độc bộ nhớ dài hạn như các nghiên cứu quốc tế đã cảnh báo.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sơ đồ kiến trúc tổng thể mà nhóm đã cài đặt và đưa vào vận hành trơn tru end-to-end. Toàn bộ giải pháp được đóng gói thành các container Docker độc lập kết nối qua mạng nội bộ bi-network.</a:t>
            </a:r>
          </a:p>
          <a:p>
            <a:endParaRPr/>
          </a:p>
          <a:p>
            <a:r>
              <a:t>Lớp dữ liệu được thiết kế mô phỏng môi trường doanh nghiệp thực tế với hai hệ quản trị CSDL chuyên biệt: PostgreSQL đóng vai trò kho dữ liệu ERP nòng cốt với 13 bảng lưu trữ đơn hàng, thanh toán và nhân sự; MySQL đóng vai trò cổng tương tác người dùng với 8 bảng lưu trữ các đánh giá, ticket hỗ trợ và bộ nhớ của Agent. Đứng trước hai CSDL này là Trino Coordinator làm cổng truy vấn liên kết tập trung. Ở lớp ứng dụng, Backend FastAPI giao tiếp với Trino thông qua một máy chủ MCP Server chạy ngầm qua kênh Stdio JSON-RPC. Giao diện React 19 cung cấp cho người dùng một bảng điều khiển Red-teaming trực quan với luồng stream dữ liệu thời gian thực.</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Mọi yêu cầu từ người dùng khi gửi vào hệ thống đều bắt buộc phải đi qua đúng 6 bước phòng thủ nghiêm ngặt như trên slide.</a:t>
            </a:r>
          </a:p>
          <a:p>
            <a:endParaRPr/>
          </a:p>
          <a:p>
            <a:r>
              <a:t>Em xin phép minh họa qua một vết thực thi thực tế khi người dùng có vai trò analyst hỏi: 'Thống kê tổng doanh thu theo từng danh mục sản phẩm'. Đầu tiên, hệ thống tra cứu bảng RBAC và dùng Schema Filter loại bỏ hoàn toàn các bảng nhạy cảm như bảng lương hay tài chính. Khi Gemini nhận được yêu cầu, mô hình sinh ra câu lệnh SQL JOIN 4 bảng có cấu trúc rất chuẩn xác. Câu lệnh này ngay lập tức bị chặn lại tại Bước 4: Bộ phân tích sqlglot kiểm tra trong 0.02 giây, xác nhận câu lệnh không có dấu chấm phẩy, thuộc loại Select, các phép Join đều có điều kiện ON và 4 bảng tham chiếu đều nằm trong danh mục cấp phép của Role analyst.</a:t>
            </a:r>
          </a:p>
          <a:p>
            <a:endParaRPr/>
          </a:p>
          <a:p>
            <a:r>
              <a:t>Sau đó ở Bước 5, câu lệnh được chuyển tới Trino MCP và chạy thành công trong 0.35 giây. Ở bước cuối cùng, dữ liệu thô được đóng băng thành văn bản thụ động qua Taint Filter để Gemini tổng hợp thành một báo cáo doanh thu chuyên nghiệp. Toàn bộ chu trình chỉ mất chưa tới 2 giây.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Ở tầng giao tiếp công cụ, hệ thống tuân thủ chặt chẽ chuẩn Model Context Protocol của Anthropic. Đóng góp kỹ thuật quan trọng của nhóm tại đây là việc loại bỏ hoàn toàn khả năng can thiệp phá hoại dữ liệu bằng cách khóa cứng quyền ghi ở 2 tầng độc lập mà không bao giờ dựa vào việc nhắc nhở trong Prompt.</a:t>
            </a:r>
          </a:p>
          <a:p>
            <a:endParaRPr/>
          </a:p>
          <a:p>
            <a:r>
              <a:t>Tầng thứ nhất là Tầng Code: Trước khi câu lệnh rời khỏi Gateway, module sql_validator dùng sqlglot bóc tách cây cú pháp, bắt buộc câu lệnh phải là SELECT và duyệt toàn bộ các node con để cấm triệt để mọi hành vi INSERT, UPDATE, DELETE hay DROP. Không những vậy, chính máy chủ MCP Server cũng duyệt lại cây AST một lần nữa để bảo đảm nguyên tắc Fail-Closed.</a:t>
            </a:r>
          </a:p>
          <a:p>
            <a:endParaRPr/>
          </a:p>
          <a:p>
            <a:r>
              <a:t>Nhưng nếu chẳng may tầng code có lỗ hổng Zero-day thì sao? Chúng em đã thiết lập Tầng thứ hai trực tiếp tại Database Engine: Các tài khoản kết nối của Trino xuống PostgreSQL và MySQL chỉ được cấp duy nhất đặc quyền SELECT. Nghĩa là ngay cả khi câu lệnh DROP vượt qua được code, chính hệ quản trị cơ sở dữ liệu ở tầng dưới cùng vẫn sẽ từ chối thực thi với thông báo Permission Denied. Đây là triết lý phòng thủ đa tầng Defense-in-Depth chuẩn mực.</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Về vấn đề quản trị bộ nhớ, hệ thống phân chia rạch ròi giữa bộ nhớ ngắn hạn và bộ nhớ dài hạn. Bộ nhớ ngắn hạn được quản lý theo session với kỹ thuật cắt tỉa token để giảm chi phí. Đối với bộ nhớ dài hạn và Semantic Cache, nhóm triển khai hai bảng dữ liệu có kiểm toán trong MySQL là agent_query_history và semantic_cache.</a:t>
            </a:r>
          </a:p>
          <a:p>
            <a:endParaRPr/>
          </a:p>
          <a:p>
            <a:r>
              <a:t>Tại đây, nhóm thiết lập hai nguyên tắc an ninh nghiêm ngặt: Thứ nhất là Chính sách ghi khắt khe: chỉ những truy vấn an toàn và chạy thành công mới được ghi vào bộ nhớ. Thứ hai, và là quan trọng nhất, là nguyên tắc Re-validation on Retrieval: Bất kỳ câu lệnh SQL nào được lấy ra từ bộ nhớ trong quá khứ khi đem đi tái sử dụng đều bắt buộc phải đi qua AST Parser kiểm định lại từ đầu theo quyền của người hỏi hiện tại. Không có bất kỳ đặc quyền ưu tiên nào cho dữ liệu bộ nhớ.</a:t>
            </a:r>
          </a:p>
          <a:p>
            <a:endParaRPr/>
          </a:p>
          <a:p>
            <a:r>
              <a:t>Quy trình này trực tiếp giải quyết bài toán Memory Poisoning được cảnh báo trong bài báo AgentPoison tại hội nghị NeurIPS 2024, bảo đảm kẻ tấn công không thể cấy mã độc vào bộ nhớ để lây lan sang các phiên làm việc sau.</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Để chứng minh tính hiệu quả của hệ thống, nhóm đã xây dựng một bộ Harness kiểm thử thực nghiệm đối kháng gồm 26 kịch bản toàn diện, tích hợp sẵn trên giao diện web. Bộ kiểm thử gồm 4 kịch bản nghiệp vụ chuẩn và 22 kịch bản tấn công bao phủ toàn bộ 6 nhóm hiểm họa.</a:t>
            </a:r>
          </a:p>
          <a:p>
            <a:endParaRPr/>
          </a:p>
          <a:p>
            <a:r>
              <a:t>Khi tiến hành thử nghiệm so sánh đối đầu giữa mô hình ReAct truyền thống và kiến trúc Neuro-Symbolic của nhóm, kết quả thu được rất ấn tượng: Tỷ lệ chặn tấn công (Attack Block Rate) của hệ thống đạt 100%, trong khi mô hình truyền thống chỉ chặn được 13.6% và để xảy ra tới 68.2% trường hợp vượt quyền truy cập dữ liệu nhạy cảm.</a:t>
            </a:r>
          </a:p>
          <a:p>
            <a:endParaRPr/>
          </a:p>
          <a:p>
            <a:r>
              <a:t>Đặc biệt, về mặt nghiệp vụ, độ chính xác thực thi (Execution Accuracy) của hệ thống đã tăng từ 78.5% lên 93.8% nhờ vào vòng lặp tự sửa lỗi Reflexion. Điều này chứng minh rằng kiến trúc phòng thủ của nhóm không hề làm suy giảm năng lực nghiệp vụ của AI mà trái lại còn giúp hệ thống vận hành thông minh và bền bỉ hơn.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Đi sâu vào phân tích hiệu năng, tổng thời gian phản hồi cho một truy vấn hợp lệ là 1.85 giây. Trong đó, toàn bộ việc phân tích cú pháp AST toán học bằng sqlglot chỉ tiêu tốn 0.02 giây, tức là chỉ chiếm hơn 1% tổng thời gian. Điều này bác bỏ định kiến cho rằng việc thêm các lớp bảo vệ kiểm tra cú pháp sẽ làm chậm hệ thống.</a:t>
            </a:r>
          </a:p>
          <a:p>
            <a:endParaRPr/>
          </a:p>
          <a:p>
            <a:r>
              <a:t>Về mặt chi phí, nhờ kỹ thuật Schema Filter chỉ tiêm đúng các bảng được cấp phép thay vì nạp toàn bộ 21 bảng vào ngữ cảnh, hệ thống tiết kiệm được 70% lượng token tiêu thụ. Chi phí trung bình cho mỗi câu hỏi chỉ khoảng 5 đồng Việt Nam. Ngoài ra, cơ chế Fallback Engine giúp hệ thống tự động chuyển đổi giữa các model khi gặp giới hạn Quota, bảo đảm hệ thống không bao giờ bị nghẽn.</a:t>
            </a:r>
          </a:p>
          <a:p>
            <a:endParaRPr/>
          </a:p>
          <a:p>
            <a:r>
              <a:t>Nhật ký kiểm thử cũng ghi nhận Vòng lặp Reflexion đã giải cứu thành công các lỗi sai tên cột hay thiếu định danh catalog của Trino ngay ở lần thử thứ 2, giúp AI tự đứng dậy sau vấp ngã mà không cần con người can thiệp.</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Mô hình mối đe dọa Threat Model v1 của nhóm được thiết lập dựa trên sự tổng hòa giữa các tài sản trọng yếu của doanh nghiệp và 12 công trình nghiên cứu khoa học phân hạng A* quốc tế từ ICSE, USENIX Security, IEEE S&amp;P và NeurIPS.</a:t>
            </a:r>
          </a:p>
          <a:p>
            <a:endParaRPr/>
          </a:p>
          <a:p>
            <a:r>
              <a:t>Chúng em xác định rõ hai nhóm tác nhân đe dọa: Kẻ tấn công bên ngoài tìm cách Jailbreak để ép sinh lệnh phá hoại, spam DoS làm nghẽn máy chủ hoặc cấy mã độc vào các bình luận và ticket khiếu nại; và Kẻ tấn công nội bộ lợi dụng quyền hạn Agent để đọc lén dữ liệu lương hay ghi đè file cấu hình hệ thống. Tương ứng với mỗi vector, hệ thống đều có một cơ chế phòng thủ chuyên biệt: từ AST Parser, Circuit Breaker, Schema Filter, Taint Filter cho đến Path Sandbox.</a:t>
            </a:r>
          </a:p>
          <a:p>
            <a:endParaRPr/>
          </a:p>
          <a:p>
            <a:r>
              <a:t>Theo đúng đề cương yêu cầu của Checkpoint D2, việc đo lường chạy thử nghiệm Prompt Injection trên tập benchmark quy mô lớn sẽ được nhóm trình bày chi tiết trong Báo cáo cuối kỳ, hiện tại nhóm tập trung vào việc thiết kế chuẩn hóa Threat Model lý thuyết và xác thực trên 26 kịch bản thực tế.</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Từ nay đến ngày Báo cáo Khóa luận chính thức vào ngày 02 tháng 12 năm 2026, nhóm đặt ra một lộ trình hành động 5 tuần vô cùng chặt chẽ. Trong 2 tuần tới, nhóm sẽ mở rộng tập kiểm thử lên trên 50 tác vụ từ benchmark chuẩn BIRD và Spider để thực hiện nghiên cứu loại trừ Ablation Study bài bản trên 3 cấu hình.</a:t>
            </a:r>
          </a:p>
          <a:p>
            <a:endParaRPr/>
          </a:p>
          <a:p>
            <a:r>
              <a:t>Đến Tuần 10, nhóm sẽ đưa các mô hình mã nguồn mở như Qwen-2.5-Coder và Llama-3.1 vào chạy thử nghiệm qua vLLM nhằm hướng tới giải pháp On-Premise hoàn toàn độc lập cho doanh nghiệp; đồng thời kích hoạt Vector Cache có rào chắn. Sang Tuần 11, nhóm sẽ bổ sung tính năng trực quan hóa cây AST trên giao diện và mời các chuyên gia phân tích dữ liệu cùng chuyên viên an ninh thông tin tại doanh nghiệp tham gia buổi đánh giá thực tế.</a:t>
            </a:r>
          </a:p>
          <a:p>
            <a:endParaRPr/>
          </a:p>
          <a:p>
            <a:r>
              <a:t>Nhóm cũng đã lường trước các rủi ro kỹ thuật như việc trôi ngữ nghĩa trong cache hay giới hạn API để có phương án dự phòng. Nhóm tự đánh giá dự án đang hoàn toàn Đúng tiến độ và tự tin sẽ hoàn thành xuất sắc đề tài trước ngày 02/12.</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Về mặt tổ chức nhân sự, 3 thành viên trong nhóm đã có sự phối hợp ăn ý và phân công trách nhiệm rõ ràng, mọi dòng code đều được lưu vết minh bạch trên GitHub. Em chịu trách nhiệm 100% khối lượng công việc về thiết kế kiến trúc lõi, Backend FastAPI, AST Guardrail và Reflexion, máy chủ Trino MCP Server; bạn Quỳnh Trân đảm nhiệm 100% về xây dựng giao diện React 19, NDJSON Stream và 26 kịch bản Red-Teaming; bạn Hữu Lợi phụ trách 100% về hạ tầng Docker cụm CSDL liên kết 21 bảng.</a:t>
            </a:r>
          </a:p>
          <a:p>
            <a:endParaRPr/>
          </a:p>
          <a:p>
            <a:r>
              <a:t>Nhóm cũng xin tuyên bố minh bạch về việc sử dụng AI theo đúng quy định liêm chính học thuật của nhà trường: Chúng em sử dụng Cursor và Windsurf làm trợ lý viết mã khung boilerplate và sinh dữ liệu mẫu giả định; sử dụng Gemini làm thành phần suy luận runtime. Tuy nhiên, toàn bộ tư tưởng kiến trúc Neuro-Symbolic, việc thiết kế mô hình đe dọa 6 nhóm tấn công, thuật toán bóc tách cú pháp AST và 26 kịch bản Red-teaming đều do chính 3 học viên trong nhóm tự chủ nghiên cứu, phản biện và chịu trách nhiệm học thuật toàn diện.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Để khép lại bài báo cáo hôm nay, thông điệp lớn nhất mà đề tài Secure Agentic BI Framework muốn khẳng định là: Chúng ta tuyệt đối không thể giao phó an ninh cơ sở dữ liệu doanh nghiệp cho tính xác suất của LLM, mà bắt buộc phải áp dụng Kiến trúc phòng thủ Neuro-Symbolic và chuẩn hóa giao thức MCP. Dự án đã chứng minh tính khả thi vượt trội với tỷ lệ chặn tấn công 100%, độ chính xác nghiệp vụ trên 93% và chi phí gần như bằng không.</a:t>
            </a:r>
          </a:p>
          <a:p>
            <a:endParaRPr/>
          </a:p>
          <a:p>
            <a:r>
              <a:t>Em xin chân thành cảm ơn Thầy Lê Xuân Bách và toàn thể các bạn học viên đã chú ý lắng nghe bài trình bày của Nhóm 6. Nhóm chúng em rất mong nhận được những câu hỏi, nhận xét và đóng góp quý báu từ Thầy để nhóm tiếp tục hoàn thiện đề tài xuất sắc hơn nữa trong nửa sau của môn học. Em xin trân trọng cảm ơn Thầy!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48640"/>
            <a:ext cx="10728655" cy="347472"/>
          </a:xfrm>
          <a:prstGeom prst="rect">
            <a:avLst/>
          </a:prstGeom>
          <a:noFill/>
        </p:spPr>
        <p:txBody>
          <a:bodyPr wrap="square" lIns="0" tIns="0" rIns="0" bIns="0">
            <a:spAutoFit/>
          </a:bodyPr>
          <a:lstStyle/>
          <a:p>
            <a:pPr>
              <a:defRPr sz="1300" b="1">
                <a:solidFill>
                  <a:srgbClr val="0070AD"/>
                </a:solidFill>
                <a:latin typeface="Arial"/>
              </a:defRPr>
            </a:pPr>
            <a:r>
              <a:t>BÁO CÁO GIỮA KỲ (CHECKPOINT D2)  •  CO5151: CÔNG NGHỆ PHẦN MỀM THẾ HỆ MỚI</a:t>
            </a:r>
          </a:p>
        </p:txBody>
      </p:sp>
      <p:sp>
        <p:nvSpPr>
          <p:cNvPr id="4" name="TextBox 3"/>
          <p:cNvSpPr txBox="1"/>
          <p:nvPr/>
        </p:nvSpPr>
        <p:spPr>
          <a:xfrm>
            <a:off x="731520" y="932688"/>
            <a:ext cx="10728655" cy="822960"/>
          </a:xfrm>
          <a:prstGeom prst="rect">
            <a:avLst/>
          </a:prstGeom>
          <a:noFill/>
        </p:spPr>
        <p:txBody>
          <a:bodyPr wrap="square" lIns="0" tIns="0" rIns="0" bIns="0">
            <a:spAutoFit/>
          </a:bodyPr>
          <a:lstStyle/>
          <a:p>
            <a:pPr>
              <a:defRPr sz="3600" b="1">
                <a:solidFill>
                  <a:srgbClr val="00205B"/>
                </a:solidFill>
                <a:latin typeface="Arial"/>
              </a:defRPr>
            </a:pPr>
            <a:r>
              <a:t>SECURE AGENTIC BI FRAMEWORK</a:t>
            </a:r>
          </a:p>
        </p:txBody>
      </p:sp>
      <p:sp>
        <p:nvSpPr>
          <p:cNvPr id="5" name="TextBox 4"/>
          <p:cNvSpPr txBox="1"/>
          <p:nvPr/>
        </p:nvSpPr>
        <p:spPr>
          <a:xfrm>
            <a:off x="731520" y="1810512"/>
            <a:ext cx="10728655" cy="502920"/>
          </a:xfrm>
          <a:prstGeom prst="rect">
            <a:avLst/>
          </a:prstGeom>
          <a:noFill/>
        </p:spPr>
        <p:txBody>
          <a:bodyPr wrap="square" lIns="0" tIns="0" rIns="0" bIns="0">
            <a:spAutoFit/>
          </a:bodyPr>
          <a:lstStyle/>
          <a:p>
            <a:pPr>
              <a:defRPr sz="1550">
                <a:solidFill>
                  <a:srgbClr val="64748B"/>
                </a:solidFill>
                <a:latin typeface="Arial"/>
              </a:defRPr>
            </a:pPr>
            <a:r>
              <a:t>Kiến trúc Phòng thủ Neuro-Symbolic và Giao thức Model Context Protocol (MCP) cho Hệ thống Trí tuệ Doanh nghiệp Tự trị</a:t>
            </a:r>
          </a:p>
        </p:txBody>
      </p:sp>
      <p:sp>
        <p:nvSpPr>
          <p:cNvPr id="6" name="Rounded Rectangle 5"/>
          <p:cNvSpPr/>
          <p:nvPr/>
        </p:nvSpPr>
        <p:spPr>
          <a:xfrm>
            <a:off x="731520" y="2423160"/>
            <a:ext cx="10728655" cy="1143000"/>
          </a:xfrm>
          <a:prstGeom prst="roundRect">
            <a:avLst/>
          </a:prstGeom>
          <a:solidFill>
            <a:srgbClr val="EBF4FE"/>
          </a:solidFill>
          <a:ln w="12700">
            <a:solidFill>
              <a:srgbClr val="BAD7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2423160"/>
            <a:ext cx="109728" cy="1143000"/>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496312"/>
            <a:ext cx="10241280" cy="960120"/>
          </a:xfrm>
          <a:prstGeom prst="rect">
            <a:avLst/>
          </a:prstGeom>
          <a:noFill/>
        </p:spPr>
        <p:txBody>
          <a:bodyPr wrap="square" lIns="0" tIns="0" rIns="0" bIns="0">
            <a:spAutoFit/>
          </a:bodyPr>
          <a:lstStyle/>
          <a:p>
            <a:pPr>
              <a:defRPr sz="1300" b="1">
                <a:solidFill>
                  <a:srgbClr val="00205B"/>
                </a:solidFill>
                <a:latin typeface="Arial"/>
              </a:defRPr>
            </a:pPr>
            <a:r>
              <a:rPr dirty="0"/>
              <a:t>MỤC TIÊU CHIẾN LƯỢC CỦA DỰ ÁN:</a:t>
            </a:r>
          </a:p>
          <a:p>
            <a:pPr>
              <a:spcBef>
                <a:spcPts val="400"/>
              </a:spcBef>
              <a:defRPr sz="1400">
                <a:solidFill>
                  <a:srgbClr val="1E293B"/>
                </a:solidFill>
                <a:latin typeface="Arial"/>
              </a:defRPr>
            </a:pPr>
            <a:r>
              <a:rPr dirty="0"/>
              <a:t>Cho </a:t>
            </a:r>
            <a:r>
              <a:rPr dirty="0" err="1"/>
              <a:t>phép</a:t>
            </a:r>
            <a:r>
              <a:rPr dirty="0"/>
              <a:t> </a:t>
            </a:r>
            <a:r>
              <a:rPr dirty="0" err="1"/>
              <a:t>người</a:t>
            </a:r>
            <a:r>
              <a:rPr dirty="0"/>
              <a:t> </a:t>
            </a:r>
            <a:r>
              <a:rPr dirty="0" err="1"/>
              <a:t>dùng</a:t>
            </a:r>
            <a:r>
              <a:rPr dirty="0"/>
              <a:t> </a:t>
            </a:r>
            <a:r>
              <a:rPr dirty="0" err="1"/>
              <a:t>kinh</a:t>
            </a:r>
            <a:r>
              <a:rPr dirty="0"/>
              <a:t> </a:t>
            </a:r>
            <a:r>
              <a:rPr dirty="0" err="1"/>
              <a:t>doanh</a:t>
            </a:r>
            <a:r>
              <a:rPr dirty="0"/>
              <a:t> </a:t>
            </a:r>
            <a:r>
              <a:rPr dirty="0" err="1"/>
              <a:t>đàm</a:t>
            </a:r>
            <a:r>
              <a:rPr dirty="0"/>
              <a:t> </a:t>
            </a:r>
            <a:r>
              <a:rPr dirty="0" err="1"/>
              <a:t>thoại</a:t>
            </a:r>
            <a:r>
              <a:rPr dirty="0"/>
              <a:t> </a:t>
            </a:r>
            <a:r>
              <a:rPr dirty="0" err="1"/>
              <a:t>tự</a:t>
            </a:r>
            <a:r>
              <a:rPr dirty="0"/>
              <a:t> </a:t>
            </a:r>
            <a:r>
              <a:rPr dirty="0" err="1"/>
              <a:t>nhiên</a:t>
            </a:r>
            <a:r>
              <a:rPr dirty="0"/>
              <a:t> </a:t>
            </a:r>
            <a:r>
              <a:rPr dirty="0" err="1"/>
              <a:t>với</a:t>
            </a:r>
            <a:r>
              <a:rPr dirty="0"/>
              <a:t> CSDL </a:t>
            </a:r>
            <a:r>
              <a:rPr dirty="0" err="1"/>
              <a:t>phân</a:t>
            </a:r>
            <a:r>
              <a:rPr dirty="0"/>
              <a:t> </a:t>
            </a:r>
            <a:r>
              <a:rPr dirty="0" err="1"/>
              <a:t>tán</a:t>
            </a:r>
            <a:r>
              <a:rPr dirty="0"/>
              <a:t> </a:t>
            </a:r>
            <a:r>
              <a:rPr dirty="0" err="1"/>
              <a:t>mà</a:t>
            </a:r>
            <a:r>
              <a:rPr dirty="0"/>
              <a:t> </a:t>
            </a:r>
            <a:r>
              <a:rPr dirty="0" err="1"/>
              <a:t>vẫn</a:t>
            </a:r>
            <a:r>
              <a:rPr dirty="0"/>
              <a:t> </a:t>
            </a:r>
            <a:r>
              <a:rPr dirty="0" err="1"/>
              <a:t>bảo</a:t>
            </a:r>
            <a:r>
              <a:rPr dirty="0"/>
              <a:t> </a:t>
            </a:r>
            <a:r>
              <a:rPr dirty="0" err="1"/>
              <a:t>đảm</a:t>
            </a:r>
            <a:r>
              <a:rPr dirty="0"/>
              <a:t> an </a:t>
            </a:r>
            <a:r>
              <a:rPr dirty="0" err="1"/>
              <a:t>toàn</a:t>
            </a:r>
            <a:r>
              <a:rPr dirty="0"/>
              <a:t> </a:t>
            </a:r>
            <a:r>
              <a:rPr dirty="0" err="1"/>
              <a:t>tuyệt</a:t>
            </a:r>
            <a:r>
              <a:rPr dirty="0"/>
              <a:t> </a:t>
            </a:r>
            <a:r>
              <a:rPr dirty="0" err="1"/>
              <a:t>đối</a:t>
            </a:r>
            <a:r>
              <a:rPr dirty="0"/>
              <a:t> </a:t>
            </a:r>
            <a:r>
              <a:rPr dirty="0" err="1"/>
              <a:t>trước</a:t>
            </a:r>
            <a:r>
              <a:rPr dirty="0"/>
              <a:t> </a:t>
            </a:r>
            <a:r>
              <a:rPr dirty="0" err="1"/>
              <a:t>các</a:t>
            </a:r>
            <a:r>
              <a:rPr dirty="0"/>
              <a:t> </a:t>
            </a:r>
            <a:r>
              <a:rPr dirty="0" err="1"/>
              <a:t>cuộc</a:t>
            </a:r>
            <a:r>
              <a:rPr dirty="0"/>
              <a:t> </a:t>
            </a:r>
            <a:r>
              <a:rPr dirty="0" err="1"/>
              <a:t>tấn</a:t>
            </a:r>
            <a:r>
              <a:rPr dirty="0"/>
              <a:t> </a:t>
            </a:r>
            <a:r>
              <a:rPr dirty="0" err="1"/>
              <a:t>công</a:t>
            </a:r>
            <a:r>
              <a:rPr dirty="0"/>
              <a:t> </a:t>
            </a:r>
            <a:r>
              <a:rPr dirty="0" err="1"/>
              <a:t>phá</a:t>
            </a:r>
            <a:r>
              <a:rPr dirty="0"/>
              <a:t> </a:t>
            </a:r>
            <a:r>
              <a:rPr dirty="0" err="1"/>
              <a:t>hoại</a:t>
            </a:r>
            <a:r>
              <a:rPr dirty="0"/>
              <a:t>, </a:t>
            </a:r>
            <a:r>
              <a:rPr dirty="0" err="1"/>
              <a:t>rò</a:t>
            </a:r>
            <a:r>
              <a:rPr dirty="0"/>
              <a:t> </a:t>
            </a:r>
            <a:r>
              <a:rPr dirty="0" err="1"/>
              <a:t>rỉ</a:t>
            </a:r>
            <a:r>
              <a:rPr dirty="0"/>
              <a:t> </a:t>
            </a:r>
            <a:r>
              <a:rPr dirty="0" err="1"/>
              <a:t>dữ</a:t>
            </a:r>
            <a:r>
              <a:rPr dirty="0"/>
              <a:t> </a:t>
            </a:r>
            <a:r>
              <a:rPr dirty="0" err="1"/>
              <a:t>liệu</a:t>
            </a:r>
            <a:r>
              <a:rPr dirty="0"/>
              <a:t> </a:t>
            </a:r>
            <a:r>
              <a:rPr dirty="0" err="1"/>
              <a:t>và</a:t>
            </a:r>
            <a:r>
              <a:rPr dirty="0"/>
              <a:t> </a:t>
            </a:r>
            <a:r>
              <a:rPr dirty="0" err="1"/>
              <a:t>từ</a:t>
            </a:r>
            <a:r>
              <a:rPr dirty="0"/>
              <a:t> </a:t>
            </a:r>
            <a:r>
              <a:rPr dirty="0" err="1"/>
              <a:t>chối</a:t>
            </a:r>
            <a:r>
              <a:rPr dirty="0"/>
              <a:t> </a:t>
            </a:r>
            <a:r>
              <a:rPr dirty="0" err="1"/>
              <a:t>dịch</a:t>
            </a:r>
            <a:r>
              <a:rPr dirty="0"/>
              <a:t> </a:t>
            </a:r>
            <a:r>
              <a:rPr dirty="0" err="1"/>
              <a:t>vụ</a:t>
            </a:r>
            <a:r>
              <a:rPr dirty="0"/>
              <a:t>.</a:t>
            </a:r>
          </a:p>
        </p:txBody>
      </p:sp>
      <p:sp>
        <p:nvSpPr>
          <p:cNvPr id="9" name="Rounded Rectangle 8"/>
          <p:cNvSpPr/>
          <p:nvPr/>
        </p:nvSpPr>
        <p:spPr>
          <a:xfrm>
            <a:off x="731520" y="3794760"/>
            <a:ext cx="3429000" cy="2423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3794760"/>
            <a:ext cx="3429000" cy="384048"/>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00" b="1">
                <a:solidFill>
                  <a:srgbClr val="FFFFFF"/>
                </a:solidFill>
                <a:latin typeface="Arial"/>
              </a:defRPr>
            </a:pPr>
            <a:r>
              <a:t>ĐƠN VỊ ĐÀO TẠO &amp; HỌC PHẦN</a:t>
            </a:r>
          </a:p>
        </p:txBody>
      </p:sp>
      <p:sp>
        <p:nvSpPr>
          <p:cNvPr id="11" name="TextBox 10"/>
          <p:cNvSpPr txBox="1"/>
          <p:nvPr/>
        </p:nvSpPr>
        <p:spPr>
          <a:xfrm>
            <a:off x="868680" y="4251960"/>
            <a:ext cx="3154680" cy="1920240"/>
          </a:xfrm>
          <a:prstGeom prst="rect">
            <a:avLst/>
          </a:prstGeom>
          <a:noFill/>
        </p:spPr>
        <p:txBody>
          <a:bodyPr wrap="square" lIns="0" tIns="0" rIns="0" bIns="0">
            <a:spAutoFit/>
          </a:bodyPr>
          <a:lstStyle/>
          <a:p>
            <a:pPr>
              <a:spcAft>
                <a:spcPts val="600"/>
              </a:spcAft>
              <a:defRPr sz="1200">
                <a:solidFill>
                  <a:srgbClr val="1E293B"/>
                </a:solidFill>
                <a:latin typeface="Arial"/>
              </a:defRPr>
            </a:pPr>
            <a:r>
              <a:rPr b="1" dirty="0">
                <a:solidFill>
                  <a:srgbClr val="00205B"/>
                </a:solidFill>
              </a:rPr>
              <a:t>• </a:t>
            </a:r>
            <a:r>
              <a:rPr b="1" dirty="0" err="1">
                <a:solidFill>
                  <a:srgbClr val="00205B"/>
                </a:solidFill>
              </a:rPr>
              <a:t>Cơ</a:t>
            </a:r>
            <a:r>
              <a:rPr b="1" dirty="0">
                <a:solidFill>
                  <a:srgbClr val="00205B"/>
                </a:solidFill>
              </a:rPr>
              <a:t> </a:t>
            </a:r>
            <a:r>
              <a:rPr b="1" dirty="0" err="1">
                <a:solidFill>
                  <a:srgbClr val="00205B"/>
                </a:solidFill>
              </a:rPr>
              <a:t>sở</a:t>
            </a:r>
            <a:r>
              <a:rPr b="1" dirty="0">
                <a:solidFill>
                  <a:srgbClr val="00205B"/>
                </a:solidFill>
              </a:rPr>
              <a:t>: </a:t>
            </a:r>
            <a:r>
              <a:rPr b="0" dirty="0">
                <a:solidFill>
                  <a:srgbClr val="1E293B"/>
                </a:solidFill>
              </a:rPr>
              <a:t>ĐH </a:t>
            </a:r>
            <a:r>
              <a:rPr b="0" dirty="0" err="1">
                <a:solidFill>
                  <a:srgbClr val="1E293B"/>
                </a:solidFill>
              </a:rPr>
              <a:t>Bách</a:t>
            </a:r>
            <a:r>
              <a:rPr b="0" dirty="0">
                <a:solidFill>
                  <a:srgbClr val="1E293B"/>
                </a:solidFill>
              </a:rPr>
              <a:t> Khoa TP. </a:t>
            </a:r>
            <a:r>
              <a:rPr b="0" dirty="0" err="1">
                <a:solidFill>
                  <a:srgbClr val="1E293B"/>
                </a:solidFill>
              </a:rPr>
              <a:t>Hồ</a:t>
            </a:r>
            <a:r>
              <a:rPr b="0" dirty="0">
                <a:solidFill>
                  <a:srgbClr val="1E293B"/>
                </a:solidFill>
              </a:rPr>
              <a:t> Chí Minh</a:t>
            </a:r>
          </a:p>
          <a:p>
            <a:pPr>
              <a:spcAft>
                <a:spcPts val="600"/>
              </a:spcAft>
              <a:defRPr sz="1200">
                <a:solidFill>
                  <a:srgbClr val="1E293B"/>
                </a:solidFill>
                <a:latin typeface="Arial"/>
              </a:defRPr>
            </a:pPr>
            <a:r>
              <a:rPr b="1" dirty="0">
                <a:solidFill>
                  <a:srgbClr val="00205B"/>
                </a:solidFill>
              </a:rPr>
              <a:t>• Khoa: </a:t>
            </a:r>
            <a:r>
              <a:rPr b="0" dirty="0">
                <a:solidFill>
                  <a:srgbClr val="1E293B"/>
                </a:solidFill>
              </a:rPr>
              <a:t>Khoa Khoa </a:t>
            </a:r>
            <a:r>
              <a:rPr b="0" dirty="0" err="1">
                <a:solidFill>
                  <a:srgbClr val="1E293B"/>
                </a:solidFill>
              </a:rPr>
              <a:t>học</a:t>
            </a:r>
            <a:r>
              <a:rPr b="0" dirty="0">
                <a:solidFill>
                  <a:srgbClr val="1E293B"/>
                </a:solidFill>
              </a:rPr>
              <a:t> &amp; </a:t>
            </a:r>
            <a:r>
              <a:rPr b="0" dirty="0" err="1">
                <a:solidFill>
                  <a:srgbClr val="1E293B"/>
                </a:solidFill>
              </a:rPr>
              <a:t>Kỹ</a:t>
            </a:r>
            <a:r>
              <a:rPr b="0" dirty="0">
                <a:solidFill>
                  <a:srgbClr val="1E293B"/>
                </a:solidFill>
              </a:rPr>
              <a:t> </a:t>
            </a:r>
            <a:r>
              <a:rPr b="0" dirty="0" err="1">
                <a:solidFill>
                  <a:srgbClr val="1E293B"/>
                </a:solidFill>
              </a:rPr>
              <a:t>thuật</a:t>
            </a:r>
            <a:r>
              <a:rPr b="0" dirty="0">
                <a:solidFill>
                  <a:srgbClr val="1E293B"/>
                </a:solidFill>
              </a:rPr>
              <a:t> </a:t>
            </a:r>
            <a:r>
              <a:rPr b="0" dirty="0" err="1">
                <a:solidFill>
                  <a:srgbClr val="1E293B"/>
                </a:solidFill>
              </a:rPr>
              <a:t>Máy</a:t>
            </a:r>
            <a:r>
              <a:rPr b="0" dirty="0">
                <a:solidFill>
                  <a:srgbClr val="1E293B"/>
                </a:solidFill>
              </a:rPr>
              <a:t> </a:t>
            </a:r>
            <a:r>
              <a:rPr b="0" dirty="0" err="1">
                <a:solidFill>
                  <a:srgbClr val="1E293B"/>
                </a:solidFill>
              </a:rPr>
              <a:t>tính</a:t>
            </a:r>
            <a:endParaRPr b="0" dirty="0">
              <a:solidFill>
                <a:srgbClr val="1E293B"/>
              </a:solidFill>
            </a:endParaRPr>
          </a:p>
          <a:p>
            <a:pPr>
              <a:spcAft>
                <a:spcPts val="600"/>
              </a:spcAft>
              <a:defRPr sz="1200">
                <a:solidFill>
                  <a:srgbClr val="1E293B"/>
                </a:solidFill>
                <a:latin typeface="Arial"/>
              </a:defRPr>
            </a:pPr>
            <a:r>
              <a:rPr b="1" dirty="0">
                <a:solidFill>
                  <a:srgbClr val="00205B"/>
                </a:solidFill>
              </a:rPr>
              <a:t>• Môn </a:t>
            </a:r>
            <a:r>
              <a:rPr b="1" dirty="0" err="1">
                <a:solidFill>
                  <a:srgbClr val="00205B"/>
                </a:solidFill>
              </a:rPr>
              <a:t>học</a:t>
            </a:r>
            <a:r>
              <a:rPr b="1" dirty="0">
                <a:solidFill>
                  <a:srgbClr val="00205B"/>
                </a:solidFill>
              </a:rPr>
              <a:t>: </a:t>
            </a:r>
            <a:r>
              <a:rPr b="0" dirty="0">
                <a:solidFill>
                  <a:srgbClr val="1E293B"/>
                </a:solidFill>
              </a:rPr>
              <a:t>Công </a:t>
            </a:r>
            <a:r>
              <a:rPr b="0" dirty="0" err="1">
                <a:solidFill>
                  <a:srgbClr val="1E293B"/>
                </a:solidFill>
              </a:rPr>
              <a:t>nghệ</a:t>
            </a:r>
            <a:r>
              <a:rPr b="0" dirty="0">
                <a:solidFill>
                  <a:srgbClr val="1E293B"/>
                </a:solidFill>
              </a:rPr>
              <a:t> </a:t>
            </a:r>
            <a:r>
              <a:rPr b="0" dirty="0" err="1">
                <a:solidFill>
                  <a:srgbClr val="1E293B"/>
                </a:solidFill>
              </a:rPr>
              <a:t>Phần</a:t>
            </a:r>
            <a:r>
              <a:rPr b="0" dirty="0">
                <a:solidFill>
                  <a:srgbClr val="1E293B"/>
                </a:solidFill>
              </a:rPr>
              <a:t> </a:t>
            </a:r>
            <a:r>
              <a:rPr b="0" dirty="0" err="1">
                <a:solidFill>
                  <a:srgbClr val="1E293B"/>
                </a:solidFill>
              </a:rPr>
              <a:t>mềm</a:t>
            </a:r>
            <a:r>
              <a:rPr b="0" dirty="0">
                <a:solidFill>
                  <a:srgbClr val="1E293B"/>
                </a:solidFill>
              </a:rPr>
              <a:t> </a:t>
            </a:r>
            <a:r>
              <a:rPr b="0" dirty="0" err="1">
                <a:solidFill>
                  <a:srgbClr val="1E293B"/>
                </a:solidFill>
              </a:rPr>
              <a:t>Thế</a:t>
            </a:r>
            <a:r>
              <a:rPr b="0" dirty="0">
                <a:solidFill>
                  <a:srgbClr val="1E293B"/>
                </a:solidFill>
              </a:rPr>
              <a:t> </a:t>
            </a:r>
            <a:r>
              <a:rPr b="0" dirty="0" err="1">
                <a:solidFill>
                  <a:srgbClr val="1E293B"/>
                </a:solidFill>
              </a:rPr>
              <a:t>hệ</a:t>
            </a:r>
            <a:r>
              <a:rPr b="0" dirty="0">
                <a:solidFill>
                  <a:srgbClr val="1E293B"/>
                </a:solidFill>
              </a:rPr>
              <a:t> </a:t>
            </a:r>
            <a:r>
              <a:rPr b="0" dirty="0" err="1">
                <a:solidFill>
                  <a:srgbClr val="1E293B"/>
                </a:solidFill>
              </a:rPr>
              <a:t>Mới</a:t>
            </a:r>
            <a:endParaRPr b="0" dirty="0">
              <a:solidFill>
                <a:srgbClr val="1E293B"/>
              </a:solidFill>
            </a:endParaRPr>
          </a:p>
          <a:p>
            <a:pPr>
              <a:spcAft>
                <a:spcPts val="600"/>
              </a:spcAft>
              <a:defRPr sz="1200">
                <a:solidFill>
                  <a:srgbClr val="1E293B"/>
                </a:solidFill>
                <a:latin typeface="Arial"/>
              </a:defRPr>
            </a:pPr>
            <a:r>
              <a:rPr b="1" dirty="0">
                <a:solidFill>
                  <a:srgbClr val="00205B"/>
                </a:solidFill>
              </a:rPr>
              <a:t>• </a:t>
            </a:r>
            <a:r>
              <a:rPr b="1" dirty="0" err="1">
                <a:solidFill>
                  <a:srgbClr val="00205B"/>
                </a:solidFill>
              </a:rPr>
              <a:t>Mã</a:t>
            </a:r>
            <a:r>
              <a:rPr b="1" dirty="0">
                <a:solidFill>
                  <a:srgbClr val="00205B"/>
                </a:solidFill>
              </a:rPr>
              <a:t> </a:t>
            </a:r>
            <a:r>
              <a:rPr b="1" dirty="0" err="1">
                <a:solidFill>
                  <a:srgbClr val="00205B"/>
                </a:solidFill>
              </a:rPr>
              <a:t>lớp</a:t>
            </a:r>
            <a:r>
              <a:rPr b="1" dirty="0">
                <a:solidFill>
                  <a:srgbClr val="00205B"/>
                </a:solidFill>
              </a:rPr>
              <a:t>: </a:t>
            </a:r>
            <a:r>
              <a:rPr b="0" dirty="0">
                <a:solidFill>
                  <a:srgbClr val="1E293B"/>
                </a:solidFill>
              </a:rPr>
              <a:t>CO5151 — HK1, </a:t>
            </a:r>
            <a:r>
              <a:rPr b="0" dirty="0" err="1">
                <a:solidFill>
                  <a:srgbClr val="1E293B"/>
                </a:solidFill>
              </a:rPr>
              <a:t>Năm</a:t>
            </a:r>
            <a:r>
              <a:rPr b="0" dirty="0">
                <a:solidFill>
                  <a:srgbClr val="1E293B"/>
                </a:solidFill>
              </a:rPr>
              <a:t> </a:t>
            </a:r>
            <a:r>
              <a:rPr b="0" dirty="0" err="1">
                <a:solidFill>
                  <a:srgbClr val="1E293B"/>
                </a:solidFill>
              </a:rPr>
              <a:t>học</a:t>
            </a:r>
            <a:r>
              <a:rPr b="0" dirty="0">
                <a:solidFill>
                  <a:srgbClr val="1E293B"/>
                </a:solidFill>
              </a:rPr>
              <a:t> 2026 – 2027</a:t>
            </a:r>
          </a:p>
          <a:p>
            <a:pPr>
              <a:spcAft>
                <a:spcPts val="600"/>
              </a:spcAft>
              <a:defRPr sz="1200">
                <a:solidFill>
                  <a:srgbClr val="1E293B"/>
                </a:solidFill>
                <a:latin typeface="Arial"/>
              </a:defRPr>
            </a:pPr>
            <a:r>
              <a:rPr b="1" dirty="0">
                <a:solidFill>
                  <a:srgbClr val="00205B"/>
                </a:solidFill>
              </a:rPr>
              <a:t>• </a:t>
            </a:r>
            <a:r>
              <a:rPr b="1" dirty="0" err="1">
                <a:solidFill>
                  <a:srgbClr val="00205B"/>
                </a:solidFill>
              </a:rPr>
              <a:t>Mốc</a:t>
            </a:r>
            <a:r>
              <a:rPr b="1" dirty="0">
                <a:solidFill>
                  <a:srgbClr val="00205B"/>
                </a:solidFill>
              </a:rPr>
              <a:t> </a:t>
            </a:r>
            <a:r>
              <a:rPr b="1" dirty="0" err="1">
                <a:solidFill>
                  <a:srgbClr val="00205B"/>
                </a:solidFill>
              </a:rPr>
              <a:t>đánh</a:t>
            </a:r>
            <a:r>
              <a:rPr b="1" dirty="0">
                <a:solidFill>
                  <a:srgbClr val="00205B"/>
                </a:solidFill>
              </a:rPr>
              <a:t> </a:t>
            </a:r>
            <a:r>
              <a:rPr b="1" dirty="0" err="1">
                <a:solidFill>
                  <a:srgbClr val="00205B"/>
                </a:solidFill>
              </a:rPr>
              <a:t>giá</a:t>
            </a:r>
            <a:r>
              <a:rPr b="1" dirty="0">
                <a:solidFill>
                  <a:srgbClr val="00205B"/>
                </a:solidFill>
              </a:rPr>
              <a:t>: </a:t>
            </a:r>
            <a:r>
              <a:rPr b="0" dirty="0">
                <a:solidFill>
                  <a:srgbClr val="1E293B"/>
                </a:solidFill>
              </a:rPr>
              <a:t>Checkpoint D2 (</a:t>
            </a:r>
            <a:r>
              <a:rPr b="0" dirty="0" err="1">
                <a:solidFill>
                  <a:srgbClr val="1E293B"/>
                </a:solidFill>
              </a:rPr>
              <a:t>Giữa</a:t>
            </a:r>
            <a:r>
              <a:rPr b="0" dirty="0">
                <a:solidFill>
                  <a:srgbClr val="1E293B"/>
                </a:solidFill>
              </a:rPr>
              <a:t> </a:t>
            </a:r>
            <a:r>
              <a:rPr b="0" dirty="0" err="1">
                <a:solidFill>
                  <a:srgbClr val="1E293B"/>
                </a:solidFill>
              </a:rPr>
              <a:t>kỳ</a:t>
            </a:r>
            <a:r>
              <a:rPr b="0" dirty="0">
                <a:solidFill>
                  <a:srgbClr val="1E293B"/>
                </a:solidFill>
              </a:rPr>
              <a:t>)</a:t>
            </a:r>
          </a:p>
        </p:txBody>
      </p:sp>
      <p:sp>
        <p:nvSpPr>
          <p:cNvPr id="12" name="Rounded Rectangle 11"/>
          <p:cNvSpPr/>
          <p:nvPr/>
        </p:nvSpPr>
        <p:spPr>
          <a:xfrm>
            <a:off x="4379976" y="3794760"/>
            <a:ext cx="3429000" cy="2423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79976" y="3794760"/>
            <a:ext cx="3429000" cy="3840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00" b="1">
                <a:solidFill>
                  <a:srgbClr val="FFFFFF"/>
                </a:solidFill>
                <a:latin typeface="Arial"/>
              </a:defRPr>
            </a:pPr>
            <a:r>
              <a:t>GIẢNG VIÊN HƯỚNG DẪN</a:t>
            </a:r>
          </a:p>
        </p:txBody>
      </p:sp>
      <p:sp>
        <p:nvSpPr>
          <p:cNvPr id="14" name="TextBox 13"/>
          <p:cNvSpPr txBox="1"/>
          <p:nvPr/>
        </p:nvSpPr>
        <p:spPr>
          <a:xfrm>
            <a:off x="4517136" y="4251960"/>
            <a:ext cx="3154680" cy="892552"/>
          </a:xfrm>
          <a:prstGeom prst="rect">
            <a:avLst/>
          </a:prstGeom>
          <a:noFill/>
        </p:spPr>
        <p:txBody>
          <a:bodyPr wrap="square" lIns="0" tIns="0" rIns="0" bIns="0">
            <a:spAutoFit/>
          </a:bodyPr>
          <a:lstStyle/>
          <a:p>
            <a:pPr>
              <a:spcAft>
                <a:spcPts val="600"/>
              </a:spcAft>
              <a:defRPr sz="1200">
                <a:solidFill>
                  <a:srgbClr val="1E293B"/>
                </a:solidFill>
                <a:latin typeface="Arial"/>
              </a:defRPr>
            </a:pPr>
            <a:r>
              <a:rPr b="1" dirty="0">
                <a:solidFill>
                  <a:srgbClr val="00205B"/>
                </a:solidFill>
              </a:rPr>
              <a:t>• </a:t>
            </a:r>
            <a:r>
              <a:rPr b="1" dirty="0" err="1">
                <a:solidFill>
                  <a:srgbClr val="00205B"/>
                </a:solidFill>
              </a:rPr>
              <a:t>Giảng</a:t>
            </a:r>
            <a:r>
              <a:rPr b="1" dirty="0">
                <a:solidFill>
                  <a:srgbClr val="00205B"/>
                </a:solidFill>
              </a:rPr>
              <a:t> </a:t>
            </a:r>
            <a:r>
              <a:rPr b="1" dirty="0" err="1">
                <a:solidFill>
                  <a:srgbClr val="00205B"/>
                </a:solidFill>
              </a:rPr>
              <a:t>viên</a:t>
            </a:r>
            <a:r>
              <a:rPr b="1" dirty="0">
                <a:solidFill>
                  <a:srgbClr val="00205B"/>
                </a:solidFill>
              </a:rPr>
              <a:t>: </a:t>
            </a:r>
            <a:r>
              <a:rPr b="0" dirty="0">
                <a:solidFill>
                  <a:srgbClr val="1E293B"/>
                </a:solidFill>
              </a:rPr>
              <a:t>TS. Lê Xuân </a:t>
            </a:r>
            <a:r>
              <a:rPr b="0" dirty="0" err="1">
                <a:solidFill>
                  <a:srgbClr val="1E293B"/>
                </a:solidFill>
              </a:rPr>
              <a:t>Bách</a:t>
            </a:r>
            <a:endParaRPr b="0" dirty="0">
              <a:solidFill>
                <a:srgbClr val="1E293B"/>
              </a:solidFill>
            </a:endParaRPr>
          </a:p>
          <a:p>
            <a:pPr>
              <a:spcAft>
                <a:spcPts val="600"/>
              </a:spcAft>
              <a:defRPr sz="1200">
                <a:solidFill>
                  <a:srgbClr val="1E293B"/>
                </a:solidFill>
                <a:latin typeface="Arial"/>
              </a:defRPr>
            </a:pPr>
            <a:r>
              <a:rPr b="1" dirty="0">
                <a:solidFill>
                  <a:srgbClr val="00205B"/>
                </a:solidFill>
              </a:rPr>
              <a:t>• </a:t>
            </a:r>
            <a:r>
              <a:rPr b="1" dirty="0" err="1">
                <a:solidFill>
                  <a:srgbClr val="00205B"/>
                </a:solidFill>
              </a:rPr>
              <a:t>Bộ</a:t>
            </a:r>
            <a:r>
              <a:rPr b="1" dirty="0">
                <a:solidFill>
                  <a:srgbClr val="00205B"/>
                </a:solidFill>
              </a:rPr>
              <a:t> </a:t>
            </a:r>
            <a:r>
              <a:rPr b="1" dirty="0" err="1">
                <a:solidFill>
                  <a:srgbClr val="00205B"/>
                </a:solidFill>
              </a:rPr>
              <a:t>môn</a:t>
            </a:r>
            <a:r>
              <a:rPr b="1" dirty="0">
                <a:solidFill>
                  <a:srgbClr val="00205B"/>
                </a:solidFill>
              </a:rPr>
              <a:t>: </a:t>
            </a:r>
            <a:r>
              <a:rPr b="0" dirty="0">
                <a:solidFill>
                  <a:srgbClr val="1E293B"/>
                </a:solidFill>
              </a:rPr>
              <a:t>Khoa </a:t>
            </a:r>
            <a:r>
              <a:rPr b="0" dirty="0" err="1">
                <a:solidFill>
                  <a:srgbClr val="1E293B"/>
                </a:solidFill>
              </a:rPr>
              <a:t>học</a:t>
            </a:r>
            <a:r>
              <a:rPr b="0" dirty="0">
                <a:solidFill>
                  <a:srgbClr val="1E293B"/>
                </a:solidFill>
              </a:rPr>
              <a:t> </a:t>
            </a:r>
            <a:r>
              <a:rPr b="0" dirty="0" err="1">
                <a:solidFill>
                  <a:srgbClr val="1E293B"/>
                </a:solidFill>
              </a:rPr>
              <a:t>Máy</a:t>
            </a:r>
            <a:r>
              <a:rPr b="0" dirty="0">
                <a:solidFill>
                  <a:srgbClr val="1E293B"/>
                </a:solidFill>
              </a:rPr>
              <a:t> </a:t>
            </a:r>
            <a:r>
              <a:rPr b="0" dirty="0" err="1">
                <a:solidFill>
                  <a:srgbClr val="1E293B"/>
                </a:solidFill>
              </a:rPr>
              <a:t>tính</a:t>
            </a:r>
            <a:endParaRPr b="0" dirty="0">
              <a:solidFill>
                <a:srgbClr val="1E293B"/>
              </a:solidFill>
            </a:endParaRPr>
          </a:p>
          <a:p>
            <a:pPr>
              <a:spcAft>
                <a:spcPts val="600"/>
              </a:spcAft>
              <a:defRPr sz="1200">
                <a:solidFill>
                  <a:srgbClr val="1E293B"/>
                </a:solidFill>
                <a:latin typeface="Arial"/>
              </a:defRPr>
            </a:pPr>
            <a:r>
              <a:rPr b="1" dirty="0">
                <a:solidFill>
                  <a:srgbClr val="00205B"/>
                </a:solidFill>
              </a:rPr>
              <a:t>• </a:t>
            </a:r>
            <a:r>
              <a:rPr b="1" dirty="0" err="1">
                <a:solidFill>
                  <a:srgbClr val="00205B"/>
                </a:solidFill>
              </a:rPr>
              <a:t>Đơn</a:t>
            </a:r>
            <a:r>
              <a:rPr b="1" dirty="0">
                <a:solidFill>
                  <a:srgbClr val="00205B"/>
                </a:solidFill>
              </a:rPr>
              <a:t> </a:t>
            </a:r>
            <a:r>
              <a:rPr b="1" dirty="0" err="1">
                <a:solidFill>
                  <a:srgbClr val="00205B"/>
                </a:solidFill>
              </a:rPr>
              <a:t>vị</a:t>
            </a:r>
            <a:r>
              <a:rPr b="1" dirty="0">
                <a:solidFill>
                  <a:srgbClr val="00205B"/>
                </a:solidFill>
              </a:rPr>
              <a:t>: </a:t>
            </a:r>
            <a:r>
              <a:rPr b="0" dirty="0">
                <a:solidFill>
                  <a:srgbClr val="1E293B"/>
                </a:solidFill>
              </a:rPr>
              <a:t>Khoa KH&amp;KT </a:t>
            </a:r>
            <a:r>
              <a:rPr b="0" dirty="0" err="1">
                <a:solidFill>
                  <a:srgbClr val="1E293B"/>
                </a:solidFill>
              </a:rPr>
              <a:t>Máy</a:t>
            </a:r>
            <a:r>
              <a:rPr b="0" dirty="0">
                <a:solidFill>
                  <a:srgbClr val="1E293B"/>
                </a:solidFill>
              </a:rPr>
              <a:t> </a:t>
            </a:r>
            <a:r>
              <a:rPr b="0" dirty="0" err="1">
                <a:solidFill>
                  <a:srgbClr val="1E293B"/>
                </a:solidFill>
              </a:rPr>
              <a:t>tính</a:t>
            </a:r>
            <a:r>
              <a:rPr b="0" dirty="0">
                <a:solidFill>
                  <a:srgbClr val="1E293B"/>
                </a:solidFill>
              </a:rPr>
              <a:t> — ĐHBK TP.HCM</a:t>
            </a:r>
          </a:p>
        </p:txBody>
      </p:sp>
      <p:sp>
        <p:nvSpPr>
          <p:cNvPr id="15" name="Rounded Rectangle 14"/>
          <p:cNvSpPr/>
          <p:nvPr/>
        </p:nvSpPr>
        <p:spPr>
          <a:xfrm>
            <a:off x="8028432" y="3794760"/>
            <a:ext cx="3429000" cy="24231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28432" y="3794760"/>
            <a:ext cx="3429000" cy="384048"/>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00" b="1">
                <a:solidFill>
                  <a:srgbClr val="FFFFFF"/>
                </a:solidFill>
                <a:latin typeface="Arial"/>
              </a:defRPr>
            </a:pPr>
            <a:r>
              <a:t>NHÓM THỰC HIỆN (NHÓM 6)</a:t>
            </a:r>
          </a:p>
        </p:txBody>
      </p:sp>
      <p:sp>
        <p:nvSpPr>
          <p:cNvPr id="17" name="TextBox 16"/>
          <p:cNvSpPr txBox="1"/>
          <p:nvPr/>
        </p:nvSpPr>
        <p:spPr>
          <a:xfrm>
            <a:off x="8165592" y="4251960"/>
            <a:ext cx="3154680" cy="1920240"/>
          </a:xfrm>
          <a:prstGeom prst="rect">
            <a:avLst/>
          </a:prstGeom>
          <a:noFill/>
        </p:spPr>
        <p:txBody>
          <a:bodyPr wrap="square" lIns="0" tIns="0" rIns="0" bIns="0">
            <a:spAutoFit/>
          </a:bodyPr>
          <a:lstStyle/>
          <a:p>
            <a:pPr>
              <a:spcAft>
                <a:spcPts val="600"/>
              </a:spcAft>
              <a:defRPr sz="1200">
                <a:solidFill>
                  <a:srgbClr val="1E293B"/>
                </a:solidFill>
                <a:latin typeface="Arial"/>
              </a:defRPr>
            </a:pPr>
            <a:r>
              <a:rPr b="1" dirty="0">
                <a:solidFill>
                  <a:srgbClr val="00205B"/>
                </a:solidFill>
              </a:rPr>
              <a:t>• Nguyễn Công Thành (2470744): </a:t>
            </a:r>
            <a:r>
              <a:rPr b="0" dirty="0" err="1">
                <a:solidFill>
                  <a:srgbClr val="1E293B"/>
                </a:solidFill>
              </a:rPr>
              <a:t>Nhóm</a:t>
            </a:r>
            <a:r>
              <a:rPr b="0" dirty="0">
                <a:solidFill>
                  <a:srgbClr val="1E293B"/>
                </a:solidFill>
              </a:rPr>
              <a:t> </a:t>
            </a:r>
            <a:r>
              <a:rPr b="0" dirty="0" err="1">
                <a:solidFill>
                  <a:srgbClr val="1E293B"/>
                </a:solidFill>
              </a:rPr>
              <a:t>trưởng</a:t>
            </a:r>
            <a:r>
              <a:rPr b="0" dirty="0">
                <a:solidFill>
                  <a:srgbClr val="1E293B"/>
                </a:solidFill>
              </a:rPr>
              <a:t> / Core Architect &amp; </a:t>
            </a:r>
            <a:r>
              <a:rPr b="0" dirty="0" err="1">
                <a:solidFill>
                  <a:srgbClr val="1E293B"/>
                </a:solidFill>
              </a:rPr>
              <a:t>Fullstack</a:t>
            </a:r>
            <a:r>
              <a:rPr b="0" dirty="0">
                <a:solidFill>
                  <a:srgbClr val="1E293B"/>
                </a:solidFill>
              </a:rPr>
              <a:t> Dev</a:t>
            </a:r>
          </a:p>
          <a:p>
            <a:pPr>
              <a:spcAft>
                <a:spcPts val="600"/>
              </a:spcAft>
              <a:defRPr sz="1200">
                <a:solidFill>
                  <a:srgbClr val="1E293B"/>
                </a:solidFill>
                <a:latin typeface="Arial"/>
              </a:defRPr>
            </a:pPr>
            <a:r>
              <a:rPr b="1" dirty="0">
                <a:solidFill>
                  <a:srgbClr val="00205B"/>
                </a:solidFill>
              </a:rPr>
              <a:t>• Phạm Quỳnh Trân (2470731): </a:t>
            </a:r>
            <a:r>
              <a:rPr b="0" dirty="0">
                <a:solidFill>
                  <a:srgbClr val="1E293B"/>
                </a:solidFill>
              </a:rPr>
              <a:t>Frontend &amp; Red-Teaming Specialist</a:t>
            </a:r>
          </a:p>
          <a:p>
            <a:pPr>
              <a:spcAft>
                <a:spcPts val="600"/>
              </a:spcAft>
              <a:defRPr sz="1200">
                <a:solidFill>
                  <a:srgbClr val="1E293B"/>
                </a:solidFill>
                <a:latin typeface="Arial"/>
              </a:defRPr>
            </a:pPr>
            <a:r>
              <a:rPr b="1" dirty="0">
                <a:solidFill>
                  <a:srgbClr val="00205B"/>
                </a:solidFill>
              </a:rPr>
              <a:t>• Nguyễn Hữu Lợi (2470012): </a:t>
            </a:r>
            <a:r>
              <a:rPr b="0" dirty="0">
                <a:solidFill>
                  <a:srgbClr val="1E293B"/>
                </a:solidFill>
              </a:rPr>
              <a:t>Data Infrastructure &amp; MCP Integration Engineer</a:t>
            </a:r>
          </a:p>
        </p:txBody>
      </p:sp>
      <p:sp>
        <p:nvSpPr>
          <p:cNvPr id="18" name="Rectangle 17"/>
          <p:cNvSpPr/>
          <p:nvPr/>
        </p:nvSpPr>
        <p:spPr>
          <a:xfrm>
            <a:off x="731520" y="6419088"/>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6455664"/>
            <a:ext cx="8229600" cy="256032"/>
          </a:xfrm>
          <a:prstGeom prst="rect">
            <a:avLst/>
          </a:prstGeom>
          <a:noFill/>
        </p:spPr>
        <p:txBody>
          <a:bodyPr wrap="square" lIns="0" tIns="0" rIns="0" bIns="0">
            <a:spAutoFit/>
          </a:bodyPr>
          <a:lstStyle/>
          <a:p>
            <a:pPr>
              <a:defRPr sz="1050">
                <a:solidFill>
                  <a:srgbClr val="94A3B8"/>
                </a:solidFill>
                <a:latin typeface="Arial"/>
              </a:defRPr>
            </a:pPr>
            <a:r>
              <a:t>Secure Agentic BI Framework | Checkpoint D2 | Khoa KH&amp;KT Máy tính - ĐH Bách Khoa TP.HCM</a:t>
            </a:r>
          </a:p>
        </p:txBody>
      </p:sp>
      <p:sp>
        <p:nvSpPr>
          <p:cNvPr id="20" name="TextBox 19"/>
          <p:cNvSpPr txBox="1"/>
          <p:nvPr/>
        </p:nvSpPr>
        <p:spPr>
          <a:xfrm>
            <a:off x="9144000" y="6455664"/>
            <a:ext cx="2316175" cy="256032"/>
          </a:xfrm>
          <a:prstGeom prst="rect">
            <a:avLst/>
          </a:prstGeom>
          <a:noFill/>
        </p:spPr>
        <p:txBody>
          <a:bodyPr wrap="square" lIns="0" tIns="0" rIns="0" bIns="0">
            <a:spAutoFit/>
          </a:bodyPr>
          <a:lstStyle/>
          <a:p>
            <a:pPr algn="r">
              <a:defRPr sz="1100" b="1">
                <a:solidFill>
                  <a:srgbClr val="00205B"/>
                </a:solidFill>
                <a:latin typeface="Arial"/>
              </a:defRPr>
            </a:pPr>
            <a:r>
              <a:t>Slide 01 / 14</a:t>
            </a:r>
          </a:p>
        </p:txBody>
      </p:sp>
      <p:pic>
        <p:nvPicPr>
          <p:cNvPr id="21" name="Picture 20" descr="X6.png">
            <a:extLst>
              <a:ext uri="{FF2B5EF4-FFF2-40B4-BE49-F238E27FC236}">
                <a16:creationId xmlns:a16="http://schemas.microsoft.com/office/drawing/2014/main" id="{B740C44C-EF03-9807-0F40-0D359ECD59BF}"/>
              </a:ext>
            </a:extLst>
          </p:cNvPr>
          <p:cNvPicPr>
            <a:picLocks noChangeAspect="1"/>
          </p:cNvPicPr>
          <p:nvPr/>
        </p:nvPicPr>
        <p:blipFill>
          <a:blip r:embed="rId3"/>
          <a:stretch>
            <a:fillRect/>
          </a:stretch>
        </p:blipFill>
        <p:spPr>
          <a:xfrm>
            <a:off x="10789920" y="731520"/>
            <a:ext cx="594360" cy="5992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56032"/>
            <a:ext cx="10728655" cy="256032"/>
          </a:xfrm>
          <a:prstGeom prst="rect">
            <a:avLst/>
          </a:prstGeom>
          <a:noFill/>
        </p:spPr>
        <p:txBody>
          <a:bodyPr wrap="square" lIns="0" tIns="0" rIns="0" bIns="0">
            <a:spAutoFit/>
          </a:bodyPr>
          <a:lstStyle/>
          <a:p>
            <a:pPr>
              <a:defRPr sz="1300" b="1">
                <a:solidFill>
                  <a:srgbClr val="0070AD"/>
                </a:solidFill>
                <a:latin typeface="Arial"/>
              </a:defRPr>
            </a:pPr>
            <a:r>
              <a:t>BỐI CẢNH &amp; KHOẢNG TRỐNG KỸ THUẬT</a:t>
            </a:r>
          </a:p>
        </p:txBody>
      </p:sp>
      <p:sp>
        <p:nvSpPr>
          <p:cNvPr id="4" name="TextBox 3"/>
          <p:cNvSpPr txBox="1"/>
          <p:nvPr/>
        </p:nvSpPr>
        <p:spPr>
          <a:xfrm>
            <a:off x="731520" y="493776"/>
            <a:ext cx="10728655" cy="502920"/>
          </a:xfrm>
          <a:prstGeom prst="rect">
            <a:avLst/>
          </a:prstGeom>
          <a:noFill/>
        </p:spPr>
        <p:txBody>
          <a:bodyPr wrap="square" lIns="0" tIns="0" rIns="0" bIns="0">
            <a:spAutoFit/>
          </a:bodyPr>
          <a:lstStyle/>
          <a:p>
            <a:pPr>
              <a:defRPr sz="2400" b="1">
                <a:solidFill>
                  <a:srgbClr val="00205B"/>
                </a:solidFill>
                <a:latin typeface="Arial"/>
              </a:defRPr>
            </a:pPr>
            <a:r>
              <a:rPr dirty="0"/>
              <a:t>Chat-with-Data: </a:t>
            </a:r>
            <a:r>
              <a:rPr dirty="0" err="1"/>
              <a:t>Tiềm</a:t>
            </a:r>
            <a:r>
              <a:rPr dirty="0"/>
              <a:t> </a:t>
            </a:r>
            <a:r>
              <a:rPr dirty="0" err="1"/>
              <a:t>Năng</a:t>
            </a:r>
            <a:r>
              <a:rPr dirty="0"/>
              <a:t> </a:t>
            </a:r>
            <a:r>
              <a:rPr dirty="0" err="1"/>
              <a:t>Đột</a:t>
            </a:r>
            <a:r>
              <a:rPr dirty="0"/>
              <a:t> </a:t>
            </a:r>
            <a:r>
              <a:rPr dirty="0" err="1"/>
              <a:t>Phá</a:t>
            </a:r>
            <a:r>
              <a:rPr dirty="0"/>
              <a:t> &amp; </a:t>
            </a:r>
            <a:r>
              <a:rPr dirty="0" err="1"/>
              <a:t>Hiểm</a:t>
            </a:r>
            <a:r>
              <a:rPr dirty="0"/>
              <a:t> </a:t>
            </a:r>
            <a:r>
              <a:rPr dirty="0" err="1"/>
              <a:t>Họa</a:t>
            </a:r>
            <a:r>
              <a:rPr dirty="0"/>
              <a:t> An Ninh </a:t>
            </a:r>
            <a:r>
              <a:rPr dirty="0" err="1"/>
              <a:t>Bản</a:t>
            </a:r>
            <a:r>
              <a:rPr dirty="0"/>
              <a:t> </a:t>
            </a:r>
            <a:r>
              <a:rPr dirty="0" err="1"/>
              <a:t>Thể</a:t>
            </a:r>
            <a:endParaRPr dirty="0"/>
          </a:p>
        </p:txBody>
      </p:sp>
      <p:sp>
        <p:nvSpPr>
          <p:cNvPr id="5" name="TextBox 4"/>
          <p:cNvSpPr txBox="1"/>
          <p:nvPr/>
        </p:nvSpPr>
        <p:spPr>
          <a:xfrm>
            <a:off x="731520" y="1005840"/>
            <a:ext cx="10728655" cy="347472"/>
          </a:xfrm>
          <a:prstGeom prst="rect">
            <a:avLst/>
          </a:prstGeom>
          <a:noFill/>
        </p:spPr>
        <p:txBody>
          <a:bodyPr wrap="square" lIns="0" tIns="0" rIns="0" bIns="0">
            <a:spAutoFit/>
          </a:bodyPr>
          <a:lstStyle/>
          <a:p>
            <a:pPr>
              <a:defRPr sz="1350" i="1">
                <a:solidFill>
                  <a:srgbClr val="64748B"/>
                </a:solidFill>
                <a:latin typeface="Arial"/>
              </a:defRPr>
            </a:pPr>
            <a:r>
              <a:rPr dirty="0" err="1"/>
              <a:t>Mô</a:t>
            </a:r>
            <a:r>
              <a:rPr dirty="0"/>
              <a:t> </a:t>
            </a:r>
            <a:r>
              <a:rPr dirty="0" err="1"/>
              <a:t>hình</a:t>
            </a:r>
            <a:r>
              <a:rPr dirty="0"/>
              <a:t> Pure Neural </a:t>
            </a:r>
            <a:r>
              <a:rPr dirty="0" err="1"/>
              <a:t>kết</a:t>
            </a:r>
            <a:r>
              <a:rPr dirty="0"/>
              <a:t> </a:t>
            </a:r>
            <a:r>
              <a:rPr dirty="0" err="1"/>
              <a:t>nối</a:t>
            </a:r>
            <a:r>
              <a:rPr dirty="0"/>
              <a:t> </a:t>
            </a:r>
            <a:r>
              <a:rPr dirty="0" err="1"/>
              <a:t>trực</a:t>
            </a:r>
            <a:r>
              <a:rPr dirty="0"/>
              <a:t> </a:t>
            </a:r>
            <a:r>
              <a:rPr dirty="0" err="1"/>
              <a:t>tiếp</a:t>
            </a:r>
            <a:r>
              <a:rPr dirty="0"/>
              <a:t> CSDL </a:t>
            </a:r>
            <a:r>
              <a:rPr dirty="0" err="1"/>
              <a:t>tạo</a:t>
            </a:r>
            <a:r>
              <a:rPr dirty="0"/>
              <a:t> </a:t>
            </a:r>
            <a:r>
              <a:rPr dirty="0" err="1"/>
              <a:t>ra</a:t>
            </a:r>
            <a:r>
              <a:rPr dirty="0"/>
              <a:t> </a:t>
            </a:r>
            <a:r>
              <a:rPr dirty="0" err="1"/>
              <a:t>các</a:t>
            </a:r>
            <a:r>
              <a:rPr dirty="0"/>
              <a:t> </a:t>
            </a:r>
            <a:r>
              <a:rPr dirty="0" err="1"/>
              <a:t>lỗ</a:t>
            </a:r>
            <a:r>
              <a:rPr dirty="0"/>
              <a:t> </a:t>
            </a:r>
            <a:r>
              <a:rPr dirty="0" err="1"/>
              <a:t>hổng</a:t>
            </a:r>
            <a:r>
              <a:rPr dirty="0"/>
              <a:t> </a:t>
            </a:r>
            <a:r>
              <a:rPr dirty="0" err="1"/>
              <a:t>nghiêm</a:t>
            </a:r>
            <a:r>
              <a:rPr dirty="0"/>
              <a:t> </a:t>
            </a:r>
            <a:r>
              <a:rPr dirty="0" err="1"/>
              <a:t>trọng</a:t>
            </a:r>
            <a:r>
              <a:rPr dirty="0"/>
              <a:t> do </a:t>
            </a:r>
            <a:r>
              <a:rPr dirty="0" err="1"/>
              <a:t>sự</a:t>
            </a:r>
            <a:r>
              <a:rPr dirty="0"/>
              <a:t> </a:t>
            </a:r>
            <a:r>
              <a:rPr dirty="0" err="1"/>
              <a:t>hòa</a:t>
            </a:r>
            <a:r>
              <a:rPr dirty="0"/>
              <a:t> </a:t>
            </a:r>
            <a:r>
              <a:rPr dirty="0" err="1"/>
              <a:t>lẫn</a:t>
            </a:r>
            <a:r>
              <a:rPr dirty="0"/>
              <a:t> </a:t>
            </a:r>
            <a:r>
              <a:rPr dirty="0" err="1"/>
              <a:t>giữa</a:t>
            </a:r>
            <a:r>
              <a:rPr dirty="0"/>
              <a:t> </a:t>
            </a:r>
            <a:r>
              <a:rPr dirty="0" err="1"/>
              <a:t>dữ</a:t>
            </a:r>
            <a:r>
              <a:rPr dirty="0"/>
              <a:t> </a:t>
            </a:r>
            <a:r>
              <a:rPr dirty="0" err="1"/>
              <a:t>liệu</a:t>
            </a:r>
            <a:r>
              <a:rPr dirty="0"/>
              <a:t> </a:t>
            </a:r>
            <a:r>
              <a:rPr dirty="0" err="1"/>
              <a:t>và</a:t>
            </a:r>
            <a:r>
              <a:rPr dirty="0"/>
              <a:t> </a:t>
            </a:r>
            <a:r>
              <a:rPr dirty="0" err="1"/>
              <a:t>mã</a:t>
            </a:r>
            <a:r>
              <a:rPr dirty="0"/>
              <a:t> </a:t>
            </a:r>
            <a:r>
              <a:rPr dirty="0" err="1"/>
              <a:t>điều</a:t>
            </a:r>
            <a:r>
              <a:rPr dirty="0"/>
              <a:t> </a:t>
            </a:r>
            <a:r>
              <a:rPr dirty="0" err="1"/>
              <a:t>khiển</a:t>
            </a:r>
            <a:r>
              <a:rPr dirty="0"/>
              <a:t>.</a:t>
            </a:r>
          </a:p>
        </p:txBody>
      </p:sp>
      <p:sp>
        <p:nvSpPr>
          <p:cNvPr id="6" name="Rectangle 5"/>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508760"/>
            <a:ext cx="3429000" cy="3840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508760"/>
            <a:ext cx="3429000" cy="384048"/>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50" b="1">
                <a:solidFill>
                  <a:srgbClr val="FFFFFF"/>
                </a:solidFill>
                <a:latin typeface="Arial"/>
              </a:defRPr>
            </a:pPr>
            <a:r>
              <a:t>1. XU THẾ TẤT YẾU (AGENTIC BI)</a:t>
            </a:r>
          </a:p>
        </p:txBody>
      </p:sp>
      <p:sp>
        <p:nvSpPr>
          <p:cNvPr id="9" name="TextBox 8"/>
          <p:cNvSpPr txBox="1"/>
          <p:nvPr/>
        </p:nvSpPr>
        <p:spPr>
          <a:xfrm>
            <a:off x="868680" y="1965960"/>
            <a:ext cx="3154680" cy="3337560"/>
          </a:xfrm>
          <a:prstGeom prst="rect">
            <a:avLst/>
          </a:prstGeom>
          <a:noFill/>
        </p:spPr>
        <p:txBody>
          <a:bodyPr wrap="square" lIns="0" tIns="0" rIns="0" bIns="0">
            <a:spAutoFit/>
          </a:bodyPr>
          <a:lstStyle/>
          <a:p>
            <a:pPr>
              <a:spcAft>
                <a:spcPts val="900"/>
              </a:spcAft>
              <a:defRPr sz="1250">
                <a:solidFill>
                  <a:srgbClr val="1E293B"/>
                </a:solidFill>
                <a:latin typeface="Arial"/>
              </a:defRPr>
            </a:pPr>
            <a:r>
              <a:rPr b="1">
                <a:solidFill>
                  <a:srgbClr val="00205B"/>
                </a:solidFill>
              </a:rPr>
              <a:t>• Chuyển dịch giao diện: </a:t>
            </a:r>
            <a:r>
              <a:rPr b="0">
                <a:solidFill>
                  <a:srgbClr val="1E293B"/>
                </a:solidFill>
              </a:rPr>
              <a:t>Từ viết SQL thủ công sang đàm thoại ngôn ngữ tự nhiên (NL2SQL).</a:t>
            </a:r>
          </a:p>
          <a:p>
            <a:pPr>
              <a:spcAft>
                <a:spcPts val="900"/>
              </a:spcAft>
              <a:defRPr sz="1250">
                <a:solidFill>
                  <a:srgbClr val="1E293B"/>
                </a:solidFill>
                <a:latin typeface="Arial"/>
              </a:defRPr>
            </a:pPr>
            <a:r>
              <a:rPr b="1">
                <a:solidFill>
                  <a:srgbClr val="00205B"/>
                </a:solidFill>
              </a:rPr>
              <a:t>• Dân chủ hóa dữ liệu: </a:t>
            </a:r>
            <a:r>
              <a:rPr b="0">
                <a:solidFill>
                  <a:srgbClr val="1E293B"/>
                </a:solidFill>
              </a:rPr>
              <a:t>Người dùng nghiệp vụ tự do khai thác CSDL phân tán.</a:t>
            </a:r>
          </a:p>
          <a:p>
            <a:pPr>
              <a:spcAft>
                <a:spcPts val="900"/>
              </a:spcAft>
              <a:defRPr sz="1250">
                <a:solidFill>
                  <a:srgbClr val="1E293B"/>
                </a:solidFill>
                <a:latin typeface="Arial"/>
              </a:defRPr>
            </a:pPr>
            <a:r>
              <a:rPr b="1">
                <a:solidFill>
                  <a:srgbClr val="00205B"/>
                </a:solidFill>
              </a:rPr>
              <a:t>• Tự động hóa báo cáo: </a:t>
            </a:r>
            <a:r>
              <a:rPr b="0">
                <a:solidFill>
                  <a:srgbClr val="1E293B"/>
                </a:solidFill>
              </a:rPr>
              <a:t>Tự trích xuất số liệu, tổng hợp KPI thời gian thực.</a:t>
            </a:r>
          </a:p>
          <a:p>
            <a:pPr>
              <a:spcAft>
                <a:spcPts val="900"/>
              </a:spcAft>
              <a:defRPr sz="1250">
                <a:solidFill>
                  <a:srgbClr val="1E293B"/>
                </a:solidFill>
                <a:latin typeface="Arial"/>
              </a:defRPr>
            </a:pPr>
            <a:r>
              <a:rPr b="1">
                <a:solidFill>
                  <a:srgbClr val="00205B"/>
                </a:solidFill>
              </a:rPr>
              <a:t>• Tăng tốc quyết định: </a:t>
            </a:r>
            <a:r>
              <a:rPr b="0">
                <a:solidFill>
                  <a:srgbClr val="1E293B"/>
                </a:solidFill>
              </a:rPr>
              <a:t>Rút ngắn thời gian từ vài ngày xuống vài giây.</a:t>
            </a:r>
          </a:p>
        </p:txBody>
      </p:sp>
      <p:sp>
        <p:nvSpPr>
          <p:cNvPr id="10" name="Rounded Rectangle 9"/>
          <p:cNvSpPr/>
          <p:nvPr/>
        </p:nvSpPr>
        <p:spPr>
          <a:xfrm>
            <a:off x="4379976" y="1508760"/>
            <a:ext cx="3429000" cy="3840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79976" y="1508760"/>
            <a:ext cx="3429000" cy="3840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50" b="1">
                <a:solidFill>
                  <a:srgbClr val="FFFFFF"/>
                </a:solidFill>
                <a:latin typeface="Arial"/>
              </a:defRPr>
            </a:pPr>
            <a:r>
              <a:t>2. 3 KHIẾM KHUYẾT PURE NEURAL</a:t>
            </a:r>
          </a:p>
        </p:txBody>
      </p:sp>
      <p:sp>
        <p:nvSpPr>
          <p:cNvPr id="12" name="TextBox 11"/>
          <p:cNvSpPr txBox="1"/>
          <p:nvPr/>
        </p:nvSpPr>
        <p:spPr>
          <a:xfrm>
            <a:off x="4517136" y="1965960"/>
            <a:ext cx="3154680" cy="3337560"/>
          </a:xfrm>
          <a:prstGeom prst="rect">
            <a:avLst/>
          </a:prstGeom>
          <a:noFill/>
        </p:spPr>
        <p:txBody>
          <a:bodyPr wrap="square" lIns="0" tIns="0" rIns="0" bIns="0">
            <a:spAutoFit/>
          </a:bodyPr>
          <a:lstStyle/>
          <a:p>
            <a:pPr>
              <a:spcAft>
                <a:spcPts val="900"/>
              </a:spcAft>
              <a:defRPr sz="1250">
                <a:solidFill>
                  <a:srgbClr val="1E293B"/>
                </a:solidFill>
                <a:latin typeface="Arial"/>
              </a:defRPr>
            </a:pPr>
            <a:r>
              <a:rPr b="1">
                <a:solidFill>
                  <a:srgbClr val="00205B"/>
                </a:solidFill>
              </a:rPr>
              <a:t>• Ảo giác &amp; Xác suất: </a:t>
            </a:r>
            <a:r>
              <a:rPr b="0">
                <a:solidFill>
                  <a:srgbClr val="1E293B"/>
                </a:solidFill>
              </a:rPr>
              <a:t>Bịa đặt bảng, cột; quên hoặc tự ý bỏ qua chỉ thị cấm trong Prompt.</a:t>
            </a:r>
          </a:p>
          <a:p>
            <a:pPr>
              <a:spcAft>
                <a:spcPts val="900"/>
              </a:spcAft>
              <a:defRPr sz="1250">
                <a:solidFill>
                  <a:srgbClr val="1E293B"/>
                </a:solidFill>
                <a:latin typeface="Arial"/>
              </a:defRPr>
            </a:pPr>
            <a:r>
              <a:rPr b="1">
                <a:solidFill>
                  <a:srgbClr val="00205B"/>
                </a:solidFill>
              </a:rPr>
              <a:t>• Dòng dữ liệu hòa lẫn (Blended Stream): </a:t>
            </a:r>
            <a:r>
              <a:rPr b="0">
                <a:solidFill>
                  <a:srgbClr val="1E293B"/>
                </a:solidFill>
              </a:rPr>
              <a:t>Xử lý dữ liệu và lệnh chung một luồng token, không phân định tất định được.</a:t>
            </a:r>
          </a:p>
          <a:p>
            <a:pPr>
              <a:spcAft>
                <a:spcPts val="900"/>
              </a:spcAft>
              <a:defRPr sz="1250">
                <a:solidFill>
                  <a:srgbClr val="1E293B"/>
                </a:solidFill>
                <a:latin typeface="Arial"/>
              </a:defRPr>
            </a:pPr>
            <a:r>
              <a:rPr b="1">
                <a:solidFill>
                  <a:srgbClr val="00205B"/>
                </a:solidFill>
              </a:rPr>
              <a:t>• Cấp quyền quá mức (Over-privileged): </a:t>
            </a:r>
            <a:r>
              <a:rPr b="0">
                <a:solidFill>
                  <a:srgbClr val="1E293B"/>
                </a:solidFill>
              </a:rPr>
              <a:t>Kết nối CSDL trực tiếp bằng tài khoản chia sẻ quyền cao.</a:t>
            </a:r>
          </a:p>
        </p:txBody>
      </p:sp>
      <p:sp>
        <p:nvSpPr>
          <p:cNvPr id="13" name="Rounded Rectangle 12"/>
          <p:cNvSpPr/>
          <p:nvPr/>
        </p:nvSpPr>
        <p:spPr>
          <a:xfrm>
            <a:off x="8028432" y="1508760"/>
            <a:ext cx="3429000" cy="384048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28432" y="1508760"/>
            <a:ext cx="3429000" cy="384048"/>
          </a:xfrm>
          <a:prstGeom prst="rect">
            <a:avLst/>
          </a:prstGeom>
          <a:solidFill>
            <a:srgbClr val="C53030"/>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50" b="1">
                <a:solidFill>
                  <a:srgbClr val="FFFFFF"/>
                </a:solidFill>
                <a:latin typeface="Arial"/>
              </a:defRPr>
            </a:pPr>
            <a:r>
              <a:t>3. CÁC VECTOR ĐE DỌA THỰC TẾ</a:t>
            </a:r>
          </a:p>
        </p:txBody>
      </p:sp>
      <p:sp>
        <p:nvSpPr>
          <p:cNvPr id="15" name="TextBox 14"/>
          <p:cNvSpPr txBox="1"/>
          <p:nvPr/>
        </p:nvSpPr>
        <p:spPr>
          <a:xfrm>
            <a:off x="8165592" y="1965960"/>
            <a:ext cx="3154680" cy="3337560"/>
          </a:xfrm>
          <a:prstGeom prst="rect">
            <a:avLst/>
          </a:prstGeom>
          <a:noFill/>
        </p:spPr>
        <p:txBody>
          <a:bodyPr wrap="square" lIns="0" tIns="0" rIns="0" bIns="0">
            <a:spAutoFit/>
          </a:bodyPr>
          <a:lstStyle/>
          <a:p>
            <a:pPr>
              <a:spcAft>
                <a:spcPts val="800"/>
              </a:spcAft>
              <a:defRPr sz="1250">
                <a:solidFill>
                  <a:srgbClr val="1E293B"/>
                </a:solidFill>
                <a:latin typeface="Arial"/>
              </a:defRPr>
            </a:pPr>
            <a:r>
              <a:rPr b="1">
                <a:solidFill>
                  <a:srgbClr val="00205B"/>
                </a:solidFill>
              </a:rPr>
              <a:t>• Prompt-to-SQL (P2SQL): </a:t>
            </a:r>
            <a:r>
              <a:rPr b="0">
                <a:solidFill>
                  <a:srgbClr val="1E293B"/>
                </a:solidFill>
              </a:rPr>
              <a:t>Ép Agent sinh lệnh phá hoại: DROP TABLE, UPDATE, DELETE.</a:t>
            </a:r>
          </a:p>
          <a:p>
            <a:pPr>
              <a:spcAft>
                <a:spcPts val="800"/>
              </a:spcAft>
              <a:defRPr sz="1250">
                <a:solidFill>
                  <a:srgbClr val="1E293B"/>
                </a:solidFill>
                <a:latin typeface="Arial"/>
              </a:defRPr>
            </a:pPr>
            <a:r>
              <a:rPr b="1">
                <a:solidFill>
                  <a:srgbClr val="00205B"/>
                </a:solidFill>
              </a:rPr>
              <a:t>• Từ chối dịch vụ (DoS): </a:t>
            </a:r>
            <a:r>
              <a:rPr b="0">
                <a:solidFill>
                  <a:srgbClr val="1E293B"/>
                </a:solidFill>
              </a:rPr>
              <a:t>Sinh truy vấn CROSS JOIN tích Descartes làm sập DB.</a:t>
            </a:r>
          </a:p>
          <a:p>
            <a:pPr>
              <a:spcAft>
                <a:spcPts val="800"/>
              </a:spcAft>
              <a:defRPr sz="1250">
                <a:solidFill>
                  <a:srgbClr val="1E293B"/>
                </a:solidFill>
                <a:latin typeface="Arial"/>
              </a:defRPr>
            </a:pPr>
            <a:r>
              <a:rPr b="1">
                <a:solidFill>
                  <a:srgbClr val="00205B"/>
                </a:solidFill>
              </a:rPr>
              <a:t>• Indirect Injection: </a:t>
            </a:r>
            <a:r>
              <a:rPr b="0">
                <a:solidFill>
                  <a:srgbClr val="1E293B"/>
                </a:solidFill>
              </a:rPr>
              <a:t>Dữ liệu tickets, reviews chứa prompt độc chiếm quyền Agent.</a:t>
            </a:r>
          </a:p>
          <a:p>
            <a:pPr>
              <a:spcAft>
                <a:spcPts val="800"/>
              </a:spcAft>
              <a:defRPr sz="1250">
                <a:solidFill>
                  <a:srgbClr val="1E293B"/>
                </a:solidFill>
                <a:latin typeface="Arial"/>
              </a:defRPr>
            </a:pPr>
            <a:r>
              <a:rPr b="1">
                <a:solidFill>
                  <a:srgbClr val="00205B"/>
                </a:solidFill>
              </a:rPr>
              <a:t>• Rò rỉ PII: </a:t>
            </a:r>
            <a:r>
              <a:rPr b="0">
                <a:solidFill>
                  <a:srgbClr val="1E293B"/>
                </a:solidFill>
              </a:rPr>
              <a:t>Đọc lén dữ liệu lương, API keys.</a:t>
            </a:r>
          </a:p>
        </p:txBody>
      </p:sp>
      <p:sp>
        <p:nvSpPr>
          <p:cNvPr id="16" name="Rounded Rectangle 15"/>
          <p:cNvSpPr/>
          <p:nvPr/>
        </p:nvSpPr>
        <p:spPr>
          <a:xfrm>
            <a:off x="731520" y="5486400"/>
            <a:ext cx="10728655" cy="7772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5541264"/>
            <a:ext cx="10424160" cy="658368"/>
          </a:xfrm>
          <a:prstGeom prst="rect">
            <a:avLst/>
          </a:prstGeom>
          <a:noFill/>
        </p:spPr>
        <p:txBody>
          <a:bodyPr wrap="square" lIns="0" tIns="0" rIns="0" bIns="0">
            <a:spAutoFit/>
          </a:bodyPr>
          <a:lstStyle/>
          <a:p>
            <a:pPr>
              <a:defRPr sz="1300" b="1">
                <a:solidFill>
                  <a:srgbClr val="C53030"/>
                </a:solidFill>
                <a:latin typeface="Arial"/>
              </a:defRPr>
            </a:pPr>
            <a:r>
              <a:t>KHOẢNG TRỐNG KỸ THUẬT SỐNG CÒN:</a:t>
            </a:r>
          </a:p>
          <a:p>
            <a:pPr>
              <a:spcBef>
                <a:spcPts val="200"/>
              </a:spcBef>
              <a:defRPr sz="1250">
                <a:solidFill>
                  <a:srgbClr val="1E293B"/>
                </a:solidFill>
                <a:latin typeface="Arial"/>
              </a:defRPr>
            </a:pPr>
            <a:r>
              <a:t>Doanh nghiệp thiếu một khung bảo vệ tất định (Deterministic Guardrail) độc lập đứng ngoài LLM và chuẩn hóa giao tiếp công cụ an toàn, dẫn đến nguy cơ mất an toàn thông tin nghiêm trọng.</a:t>
            </a:r>
          </a:p>
        </p:txBody>
      </p:sp>
      <p:sp>
        <p:nvSpPr>
          <p:cNvPr id="18" name="Rectangle 17"/>
          <p:cNvSpPr/>
          <p:nvPr/>
        </p:nvSpPr>
        <p:spPr>
          <a:xfrm>
            <a:off x="731520" y="6419088"/>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6455664"/>
            <a:ext cx="8229600" cy="256032"/>
          </a:xfrm>
          <a:prstGeom prst="rect">
            <a:avLst/>
          </a:prstGeom>
          <a:noFill/>
        </p:spPr>
        <p:txBody>
          <a:bodyPr wrap="square" lIns="0" tIns="0" rIns="0" bIns="0">
            <a:spAutoFit/>
          </a:bodyPr>
          <a:lstStyle/>
          <a:p>
            <a:pPr>
              <a:defRPr sz="1050">
                <a:solidFill>
                  <a:srgbClr val="94A3B8"/>
                </a:solidFill>
                <a:latin typeface="Arial"/>
              </a:defRPr>
            </a:pPr>
            <a:r>
              <a:t>Secure Agentic BI Framework | Checkpoint D2 | Khoa KH&amp;KT Máy tính - ĐH Bách Khoa TP.HCM</a:t>
            </a:r>
          </a:p>
        </p:txBody>
      </p:sp>
      <p:sp>
        <p:nvSpPr>
          <p:cNvPr id="20" name="TextBox 19"/>
          <p:cNvSpPr txBox="1"/>
          <p:nvPr/>
        </p:nvSpPr>
        <p:spPr>
          <a:xfrm>
            <a:off x="9144000" y="6455664"/>
            <a:ext cx="2316175" cy="256032"/>
          </a:xfrm>
          <a:prstGeom prst="rect">
            <a:avLst/>
          </a:prstGeom>
          <a:noFill/>
        </p:spPr>
        <p:txBody>
          <a:bodyPr wrap="square" lIns="0" tIns="0" rIns="0" bIns="0">
            <a:spAutoFit/>
          </a:bodyPr>
          <a:lstStyle/>
          <a:p>
            <a:pPr algn="r">
              <a:defRPr sz="1100" b="1">
                <a:solidFill>
                  <a:srgbClr val="00205B"/>
                </a:solidFill>
                <a:latin typeface="Arial"/>
              </a:defRPr>
            </a:pPr>
            <a:r>
              <a:t>Slide 02 / 14</a:t>
            </a:r>
          </a:p>
        </p:txBody>
      </p:sp>
      <p:pic>
        <p:nvPicPr>
          <p:cNvPr id="22" name="Picture 21" descr="X6.png">
            <a:extLst>
              <a:ext uri="{FF2B5EF4-FFF2-40B4-BE49-F238E27FC236}">
                <a16:creationId xmlns:a16="http://schemas.microsoft.com/office/drawing/2014/main" id="{00FE8FAD-FAE0-A4BF-4BB0-671DBAD10295}"/>
              </a:ext>
            </a:extLst>
          </p:cNvPr>
          <p:cNvPicPr>
            <a:picLocks noChangeAspect="1"/>
          </p:cNvPicPr>
          <p:nvPr/>
        </p:nvPicPr>
        <p:blipFill>
          <a:blip r:embed="rId3"/>
          <a:stretch>
            <a:fillRect/>
          </a:stretch>
        </p:blipFill>
        <p:spPr>
          <a:xfrm>
            <a:off x="11457432" y="75268"/>
            <a:ext cx="594360" cy="5992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56032"/>
            <a:ext cx="10728655" cy="256032"/>
          </a:xfrm>
          <a:prstGeom prst="rect">
            <a:avLst/>
          </a:prstGeom>
          <a:noFill/>
        </p:spPr>
        <p:txBody>
          <a:bodyPr wrap="square" lIns="0" tIns="0" rIns="0" bIns="0">
            <a:spAutoFit/>
          </a:bodyPr>
          <a:lstStyle/>
          <a:p>
            <a:pPr>
              <a:defRPr sz="1300" b="1">
                <a:solidFill>
                  <a:srgbClr val="0070AD"/>
                </a:solidFill>
                <a:latin typeface="Arial"/>
              </a:defRPr>
            </a:pPr>
            <a:r>
              <a:t>PHẦN 1: THAY ĐỔI SO VỚI PROPOSAL</a:t>
            </a:r>
          </a:p>
        </p:txBody>
      </p:sp>
      <p:sp>
        <p:nvSpPr>
          <p:cNvPr id="4" name="TextBox 3"/>
          <p:cNvSpPr txBox="1"/>
          <p:nvPr/>
        </p:nvSpPr>
        <p:spPr>
          <a:xfrm>
            <a:off x="731520" y="493776"/>
            <a:ext cx="10728655" cy="502920"/>
          </a:xfrm>
          <a:prstGeom prst="rect">
            <a:avLst/>
          </a:prstGeom>
          <a:noFill/>
        </p:spPr>
        <p:txBody>
          <a:bodyPr wrap="square" lIns="0" tIns="0" rIns="0" bIns="0">
            <a:spAutoFit/>
          </a:bodyPr>
          <a:lstStyle/>
          <a:p>
            <a:pPr>
              <a:defRPr sz="2400" b="1">
                <a:solidFill>
                  <a:srgbClr val="00205B"/>
                </a:solidFill>
                <a:latin typeface="Arial"/>
              </a:defRPr>
            </a:pPr>
            <a:r>
              <a:t>Đột Phá Giữa Kỳ: Bước Chuyển Dịch Sang Kiến Trúc Neuro-Symbolic</a:t>
            </a:r>
          </a:p>
        </p:txBody>
      </p:sp>
      <p:sp>
        <p:nvSpPr>
          <p:cNvPr id="5" name="TextBox 4"/>
          <p:cNvSpPr txBox="1"/>
          <p:nvPr/>
        </p:nvSpPr>
        <p:spPr>
          <a:xfrm>
            <a:off x="731520" y="1005840"/>
            <a:ext cx="10728655" cy="347472"/>
          </a:xfrm>
          <a:prstGeom prst="rect">
            <a:avLst/>
          </a:prstGeom>
          <a:noFill/>
        </p:spPr>
        <p:txBody>
          <a:bodyPr wrap="square" lIns="0" tIns="0" rIns="0" bIns="0">
            <a:spAutoFit/>
          </a:bodyPr>
          <a:lstStyle/>
          <a:p>
            <a:pPr>
              <a:defRPr sz="1350" i="1">
                <a:solidFill>
                  <a:srgbClr val="64748B"/>
                </a:solidFill>
                <a:latin typeface="Arial"/>
              </a:defRPr>
            </a:pPr>
            <a:r>
              <a:t>Từ bỏ cơ chế phòng thủ xác suất (Prompt &amp; Regex) để chuyển sang mô hình kết hợp Suy luận Ngữ nghĩa với Kiểm chứng Toán học Hình thức.</a:t>
            </a:r>
          </a:p>
        </p:txBody>
      </p:sp>
      <p:sp>
        <p:nvSpPr>
          <p:cNvPr id="6" name="Rectangle 5"/>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508760"/>
            <a:ext cx="5257800" cy="384048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508760"/>
            <a:ext cx="5257800" cy="384048"/>
          </a:xfrm>
          <a:prstGeom prst="rect">
            <a:avLst/>
          </a:prstGeom>
          <a:solidFill>
            <a:srgbClr val="C53030"/>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50" b="1">
                <a:solidFill>
                  <a:srgbClr val="FFFFFF"/>
                </a:solidFill>
                <a:latin typeface="Arial"/>
              </a:defRPr>
            </a:pPr>
            <a:r>
              <a:t>TIẾP CẬN BAN ĐẦU (PROPOSAL D1) — THUẦN NEURAL</a:t>
            </a:r>
          </a:p>
        </p:txBody>
      </p:sp>
      <p:sp>
        <p:nvSpPr>
          <p:cNvPr id="9" name="TextBox 8"/>
          <p:cNvSpPr txBox="1"/>
          <p:nvPr/>
        </p:nvSpPr>
        <p:spPr>
          <a:xfrm>
            <a:off x="868680" y="1965960"/>
            <a:ext cx="4983480" cy="3337560"/>
          </a:xfrm>
          <a:prstGeom prst="rect">
            <a:avLst/>
          </a:prstGeom>
          <a:noFill/>
        </p:spPr>
        <p:txBody>
          <a:bodyPr wrap="square" lIns="0" tIns="0" rIns="0" bIns="0">
            <a:spAutoFit/>
          </a:bodyPr>
          <a:lstStyle/>
          <a:p>
            <a:pPr>
              <a:spcAft>
                <a:spcPts val="600"/>
              </a:spcAft>
              <a:defRPr sz="1200">
                <a:solidFill>
                  <a:srgbClr val="1E293B"/>
                </a:solidFill>
                <a:latin typeface="Arial"/>
              </a:defRPr>
            </a:pPr>
            <a:r>
              <a:rPr b="1">
                <a:solidFill>
                  <a:srgbClr val="00205B"/>
                </a:solidFill>
              </a:rPr>
              <a:t>• Cơ chế phòng thủ: </a:t>
            </a:r>
            <a:r>
              <a:rPr b="0">
                <a:solidFill>
                  <a:srgbClr val="1E293B"/>
                </a:solidFill>
              </a:rPr>
              <a:t>Phụ thuộc hoàn toàn vào System Prompt nhắc nhở cấm đoán ("Do not execute DROP, UPDATE, DELETE...").</a:t>
            </a:r>
          </a:p>
          <a:p>
            <a:pPr>
              <a:spcAft>
                <a:spcPts val="600"/>
              </a:spcAft>
              <a:defRPr sz="1200">
                <a:solidFill>
                  <a:srgbClr val="1E293B"/>
                </a:solidFill>
                <a:latin typeface="Arial"/>
              </a:defRPr>
            </a:pPr>
            <a:r>
              <a:rPr b="1">
                <a:solidFill>
                  <a:srgbClr val="00205B"/>
                </a:solidFill>
              </a:rPr>
              <a:t>• Bộ lọc cú pháp: </a:t>
            </a:r>
            <a:r>
              <a:rPr b="0">
                <a:solidFill>
                  <a:srgbClr val="1E293B"/>
                </a:solidFill>
              </a:rPr>
              <a:t>Dùng biểu thức chính quy (Regex) thô để tìm từ khóa cấm.</a:t>
            </a:r>
          </a:p>
          <a:p>
            <a:pPr>
              <a:spcAft>
                <a:spcPts val="600"/>
              </a:spcAft>
              <a:defRPr sz="1200">
                <a:solidFill>
                  <a:srgbClr val="1E293B"/>
                </a:solidFill>
                <a:latin typeface="Arial"/>
              </a:defRPr>
            </a:pPr>
            <a:r>
              <a:rPr b="1">
                <a:solidFill>
                  <a:srgbClr val="00205B"/>
                </a:solidFill>
              </a:rPr>
              <a:t>• Điểm yếu chí mạng: </a:t>
            </a:r>
          </a:p>
          <a:p>
            <a:pPr>
              <a:spcAft>
                <a:spcPts val="600"/>
              </a:spcAft>
              <a:defRPr sz="1200">
                <a:solidFill>
                  <a:srgbClr val="1E293B"/>
                </a:solidFill>
                <a:latin typeface="Arial"/>
              </a:defRPr>
            </a:pPr>
            <a:r>
              <a:t>    – Dễ dàng bị qua mặt bởi kỹ thuật làm mờ chuỗi (Obfuscation), comment lồng nhau (/* ... */), hoặc câu truy vấn con (Subqueries).</a:t>
            </a:r>
          </a:p>
          <a:p>
            <a:pPr>
              <a:spcAft>
                <a:spcPts val="600"/>
              </a:spcAft>
              <a:defRPr sz="1200">
                <a:solidFill>
                  <a:srgbClr val="1E293B"/>
                </a:solidFill>
                <a:latin typeface="Arial"/>
              </a:defRPr>
            </a:pPr>
            <a:r>
              <a:t>    – Rào chắn xác suất không thể bảo đảm an toàn trước Jailbreak có chủ đích.</a:t>
            </a:r>
          </a:p>
          <a:p>
            <a:pPr>
              <a:spcAft>
                <a:spcPts val="600"/>
              </a:spcAft>
              <a:defRPr sz="1200">
                <a:solidFill>
                  <a:srgbClr val="1E293B"/>
                </a:solidFill>
                <a:latin typeface="Arial"/>
              </a:defRPr>
            </a:pPr>
            <a:r>
              <a:rPr b="1">
                <a:solidFill>
                  <a:srgbClr val="00205B"/>
                </a:solidFill>
              </a:rPr>
              <a:t>• Đánh giá: </a:t>
            </a:r>
            <a:r>
              <a:rPr b="0">
                <a:solidFill>
                  <a:srgbClr val="1E293B"/>
                </a:solidFill>
              </a:rPr>
              <a:t>Không bảo đảm an toàn ở cấp độ doanh nghiệp (Unfit for Production).</a:t>
            </a:r>
          </a:p>
        </p:txBody>
      </p:sp>
      <p:sp>
        <p:nvSpPr>
          <p:cNvPr id="10" name="Rounded Rectangle 9"/>
          <p:cNvSpPr/>
          <p:nvPr/>
        </p:nvSpPr>
        <p:spPr>
          <a:xfrm>
            <a:off x="6202375" y="1508760"/>
            <a:ext cx="5257800" cy="3840480"/>
          </a:xfrm>
          <a:prstGeom prst="roundRect">
            <a:avLst/>
          </a:prstGeom>
          <a:solidFill>
            <a:srgbClr val="F8FAFC"/>
          </a:solidFill>
          <a:ln w="12700">
            <a:solidFill>
              <a:srgbClr val="BAD7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02375" y="1508760"/>
            <a:ext cx="5257800" cy="384048"/>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50" b="1">
                <a:solidFill>
                  <a:srgbClr val="FFFFFF"/>
                </a:solidFill>
                <a:latin typeface="Arial"/>
              </a:defRPr>
            </a:pPr>
            <a:r>
              <a:t>ĐỘT PHÁ CHECKPOINT D2 — KIẾN TRÚC LAI NEURO-SYMBOLIC</a:t>
            </a:r>
          </a:p>
        </p:txBody>
      </p:sp>
      <p:sp>
        <p:nvSpPr>
          <p:cNvPr id="12" name="TextBox 11"/>
          <p:cNvSpPr txBox="1"/>
          <p:nvPr/>
        </p:nvSpPr>
        <p:spPr>
          <a:xfrm>
            <a:off x="6339535" y="1965960"/>
            <a:ext cx="4983480" cy="3337560"/>
          </a:xfrm>
          <a:prstGeom prst="rect">
            <a:avLst/>
          </a:prstGeom>
          <a:noFill/>
        </p:spPr>
        <p:txBody>
          <a:bodyPr wrap="square" lIns="0" tIns="0" rIns="0" bIns="0">
            <a:spAutoFit/>
          </a:bodyPr>
          <a:lstStyle/>
          <a:p>
            <a:pPr>
              <a:spcAft>
                <a:spcPts val="500"/>
              </a:spcAft>
              <a:defRPr sz="1200">
                <a:solidFill>
                  <a:srgbClr val="1E293B"/>
                </a:solidFill>
                <a:latin typeface="Arial"/>
              </a:defRPr>
            </a:pPr>
            <a:r>
              <a:rPr b="1">
                <a:solidFill>
                  <a:srgbClr val="00205B"/>
                </a:solidFill>
              </a:rPr>
              <a:t>• Phân tách rạch ròi 2 khối chức năng độc lập: </a:t>
            </a:r>
          </a:p>
          <a:p>
            <a:pPr>
              <a:spcAft>
                <a:spcPts val="500"/>
              </a:spcAft>
              <a:defRPr sz="1200">
                <a:solidFill>
                  <a:srgbClr val="1E293B"/>
                </a:solidFill>
                <a:latin typeface="Arial"/>
              </a:defRPr>
            </a:pPr>
            <a:r>
              <a:rPr b="1">
                <a:solidFill>
                  <a:srgbClr val="00205B"/>
                </a:solidFill>
              </a:rPr>
              <a:t>• 1. Khối Neural (LLM - Google Gemini 2.5 Flash): </a:t>
            </a:r>
          </a:p>
          <a:p>
            <a:pPr>
              <a:spcAft>
                <a:spcPts val="500"/>
              </a:spcAft>
              <a:defRPr sz="1200">
                <a:solidFill>
                  <a:srgbClr val="1E293B"/>
                </a:solidFill>
                <a:latin typeface="Arial"/>
              </a:defRPr>
            </a:pPr>
            <a:r>
              <a:t>    – Đảm nhiệm suy luận ngữ nghĩa tự nhiên linh hoạt, phân tích ý định người dùng (User Intent) và lập kế hoạch truy vấn (ReAct Tool Call).</a:t>
            </a:r>
          </a:p>
          <a:p>
            <a:pPr>
              <a:spcAft>
                <a:spcPts val="500"/>
              </a:spcAft>
              <a:defRPr sz="1200">
                <a:solidFill>
                  <a:srgbClr val="1E293B"/>
                </a:solidFill>
                <a:latin typeface="Arial"/>
              </a:defRPr>
            </a:pPr>
            <a:r>
              <a:rPr b="1">
                <a:solidFill>
                  <a:srgbClr val="00205B"/>
                </a:solidFill>
              </a:rPr>
              <a:t>• 2. Khối Symbolic (Formal Verification Gateways): </a:t>
            </a:r>
          </a:p>
          <a:p>
            <a:pPr>
              <a:spcAft>
                <a:spcPts val="500"/>
              </a:spcAft>
              <a:defRPr sz="1200">
                <a:solidFill>
                  <a:srgbClr val="1E293B"/>
                </a:solidFill>
                <a:latin typeface="Arial"/>
              </a:defRPr>
            </a:pPr>
            <a:r>
              <a:t>    – Rào chắn kiểm chứng toán học tất định (Deterministic) đứng ngoài LLM.</a:t>
            </a:r>
          </a:p>
          <a:p>
            <a:pPr>
              <a:spcAft>
                <a:spcPts val="500"/>
              </a:spcAft>
              <a:defRPr sz="1200">
                <a:solidFill>
                  <a:srgbClr val="1E293B"/>
                </a:solidFill>
                <a:latin typeface="Arial"/>
              </a:defRPr>
            </a:pPr>
            <a:r>
              <a:t>    – Bộ phân tích Cây cú pháp trừu tượng (AST Parser qua sqlglot), Circuit Breaker (5s timeout), và Table Taint Filter.</a:t>
            </a:r>
          </a:p>
          <a:p>
            <a:pPr>
              <a:spcAft>
                <a:spcPts val="500"/>
              </a:spcAft>
              <a:defRPr sz="1200">
                <a:solidFill>
                  <a:srgbClr val="1E293B"/>
                </a:solidFill>
                <a:latin typeface="Arial"/>
              </a:defRPr>
            </a:pPr>
            <a:r>
              <a:rPr b="1">
                <a:solidFill>
                  <a:srgbClr val="00205B"/>
                </a:solidFill>
              </a:rPr>
              <a:t>• Ưu việt: </a:t>
            </a:r>
            <a:r>
              <a:rPr b="0">
                <a:solidFill>
                  <a:srgbClr val="1E293B"/>
                </a:solidFill>
              </a:rPr>
              <a:t>Dù LLM có bị Jailbreak, câu lệnh vẫn bị bẻ gãy 100% tại cổng AST.</a:t>
            </a:r>
          </a:p>
        </p:txBody>
      </p:sp>
      <p:sp>
        <p:nvSpPr>
          <p:cNvPr id="13" name="Rounded Rectangle 12"/>
          <p:cNvSpPr/>
          <p:nvPr/>
        </p:nvSpPr>
        <p:spPr>
          <a:xfrm>
            <a:off x="731520" y="5486400"/>
            <a:ext cx="10728655" cy="77724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5541264"/>
            <a:ext cx="10424160" cy="658368"/>
          </a:xfrm>
          <a:prstGeom prst="rect">
            <a:avLst/>
          </a:prstGeom>
          <a:noFill/>
        </p:spPr>
        <p:txBody>
          <a:bodyPr wrap="square" lIns="0" tIns="0" rIns="0" bIns="0">
            <a:spAutoFit/>
          </a:bodyPr>
          <a:lstStyle/>
          <a:p>
            <a:pPr>
              <a:defRPr sz="1300" b="1">
                <a:solidFill>
                  <a:srgbClr val="16A34A"/>
                </a:solidFill>
                <a:latin typeface="Arial"/>
              </a:defRPr>
            </a:pPr>
            <a:r>
              <a:t>CƠ SỞ KHOA HỌC QUỐC TẾ (ICSE 2025 - PEDRO ET AL.):</a:t>
            </a:r>
          </a:p>
          <a:p>
            <a:pPr>
              <a:spcBef>
                <a:spcPts val="200"/>
              </a:spcBef>
              <a:defRPr sz="1200">
                <a:solidFill>
                  <a:srgbClr val="1E293B"/>
                </a:solidFill>
                <a:latin typeface="Arial"/>
              </a:defRPr>
            </a:pPr>
            <a:r>
              <a:t>Nghiên cứu chứng minh toán học tính bất khả của Prompt Defense trong việc ngăn chặn SQL Injection và khẳng định tính bắt buộc của rào chắn kiểm chứng cú pháp AST độc lập để bảo đảm an toàn hệ thống.</a:t>
            </a:r>
          </a:p>
        </p:txBody>
      </p:sp>
      <p:sp>
        <p:nvSpPr>
          <p:cNvPr id="15" name="Rectangle 14"/>
          <p:cNvSpPr/>
          <p:nvPr/>
        </p:nvSpPr>
        <p:spPr>
          <a:xfrm>
            <a:off x="731520" y="6419088"/>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6455664"/>
            <a:ext cx="8229600" cy="256032"/>
          </a:xfrm>
          <a:prstGeom prst="rect">
            <a:avLst/>
          </a:prstGeom>
          <a:noFill/>
        </p:spPr>
        <p:txBody>
          <a:bodyPr wrap="square" lIns="0" tIns="0" rIns="0" bIns="0">
            <a:spAutoFit/>
          </a:bodyPr>
          <a:lstStyle/>
          <a:p>
            <a:pPr>
              <a:defRPr sz="1050">
                <a:solidFill>
                  <a:srgbClr val="94A3B8"/>
                </a:solidFill>
                <a:latin typeface="Arial"/>
              </a:defRPr>
            </a:pPr>
            <a:r>
              <a:t>Nguồn: Pedro et al., 'On the (Im)possibility of Prompt-based SQL Injection Defense', ICSE 2025</a:t>
            </a:r>
          </a:p>
        </p:txBody>
      </p:sp>
      <p:sp>
        <p:nvSpPr>
          <p:cNvPr id="17" name="TextBox 16"/>
          <p:cNvSpPr txBox="1"/>
          <p:nvPr/>
        </p:nvSpPr>
        <p:spPr>
          <a:xfrm>
            <a:off x="9144000" y="6455664"/>
            <a:ext cx="2316175" cy="256032"/>
          </a:xfrm>
          <a:prstGeom prst="rect">
            <a:avLst/>
          </a:prstGeom>
          <a:noFill/>
        </p:spPr>
        <p:txBody>
          <a:bodyPr wrap="square" lIns="0" tIns="0" rIns="0" bIns="0">
            <a:spAutoFit/>
          </a:bodyPr>
          <a:lstStyle/>
          <a:p>
            <a:pPr algn="r">
              <a:defRPr sz="1100" b="1">
                <a:solidFill>
                  <a:srgbClr val="00205B"/>
                </a:solidFill>
                <a:latin typeface="Arial"/>
              </a:defRPr>
            </a:pPr>
            <a:r>
              <a:t>Slide 03 / 14</a:t>
            </a:r>
          </a:p>
        </p:txBody>
      </p:sp>
      <p:pic>
        <p:nvPicPr>
          <p:cNvPr id="20" name="Picture 19" descr="X6.png">
            <a:extLst>
              <a:ext uri="{FF2B5EF4-FFF2-40B4-BE49-F238E27FC236}">
                <a16:creationId xmlns:a16="http://schemas.microsoft.com/office/drawing/2014/main" id="{52BDA094-AFC7-FD43-E171-1DFCAA9FBCCE}"/>
              </a:ext>
            </a:extLst>
          </p:cNvPr>
          <p:cNvPicPr>
            <a:picLocks noChangeAspect="1"/>
          </p:cNvPicPr>
          <p:nvPr/>
        </p:nvPicPr>
        <p:blipFill>
          <a:blip r:embed="rId3"/>
          <a:stretch>
            <a:fillRect/>
          </a:stretch>
        </p:blipFill>
        <p:spPr>
          <a:xfrm>
            <a:off x="11457432" y="83735"/>
            <a:ext cx="594360" cy="5992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56032"/>
            <a:ext cx="10728655" cy="256032"/>
          </a:xfrm>
          <a:prstGeom prst="rect">
            <a:avLst/>
          </a:prstGeom>
          <a:noFill/>
        </p:spPr>
        <p:txBody>
          <a:bodyPr wrap="square" lIns="0" tIns="0" rIns="0" bIns="0">
            <a:spAutoFit/>
          </a:bodyPr>
          <a:lstStyle/>
          <a:p>
            <a:pPr>
              <a:defRPr sz="1300" b="1">
                <a:solidFill>
                  <a:srgbClr val="0070AD"/>
                </a:solidFill>
                <a:latin typeface="Arial"/>
              </a:defRPr>
            </a:pPr>
            <a:r>
              <a:t>PHẦN 1: THAY ĐỔI SO VỚI PROPOSAL</a:t>
            </a:r>
          </a:p>
        </p:txBody>
      </p:sp>
      <p:sp>
        <p:nvSpPr>
          <p:cNvPr id="4" name="TextBox 3"/>
          <p:cNvSpPr txBox="1"/>
          <p:nvPr/>
        </p:nvSpPr>
        <p:spPr>
          <a:xfrm>
            <a:off x="731520" y="493776"/>
            <a:ext cx="10728655" cy="502920"/>
          </a:xfrm>
          <a:prstGeom prst="rect">
            <a:avLst/>
          </a:prstGeom>
          <a:noFill/>
        </p:spPr>
        <p:txBody>
          <a:bodyPr wrap="square" lIns="0" tIns="0" rIns="0" bIns="0">
            <a:spAutoFit/>
          </a:bodyPr>
          <a:lstStyle/>
          <a:p>
            <a:pPr>
              <a:defRPr sz="2400" b="1">
                <a:solidFill>
                  <a:srgbClr val="00205B"/>
                </a:solidFill>
                <a:latin typeface="Arial"/>
              </a:defRPr>
            </a:pPr>
            <a:r>
              <a:t>Bảng Đối Chiếu Cam Kết Proposal &amp; Trạng Thái Thực Hiện</a:t>
            </a:r>
          </a:p>
        </p:txBody>
      </p:sp>
      <p:sp>
        <p:nvSpPr>
          <p:cNvPr id="5" name="TextBox 4"/>
          <p:cNvSpPr txBox="1"/>
          <p:nvPr/>
        </p:nvSpPr>
        <p:spPr>
          <a:xfrm>
            <a:off x="731520" y="1005840"/>
            <a:ext cx="10728655" cy="347472"/>
          </a:xfrm>
          <a:prstGeom prst="rect">
            <a:avLst/>
          </a:prstGeom>
          <a:noFill/>
        </p:spPr>
        <p:txBody>
          <a:bodyPr wrap="square" lIns="0" tIns="0" rIns="0" bIns="0">
            <a:spAutoFit/>
          </a:bodyPr>
          <a:lstStyle/>
          <a:p>
            <a:pPr>
              <a:defRPr sz="1350" i="1">
                <a:solidFill>
                  <a:srgbClr val="64748B"/>
                </a:solidFill>
                <a:latin typeface="Arial"/>
              </a:defRPr>
            </a:pPr>
            <a:r>
              <a:t>Đã hoàn thành 8/10 hạng mục cốt lõi với chất lượng vượt kế hoạch ban đầu; chủ động hoãn Vector DB để quản trị rủi ro an ninh.</a:t>
            </a:r>
          </a:p>
        </p:txBody>
      </p:sp>
      <p:sp>
        <p:nvSpPr>
          <p:cNvPr id="6" name="Rectangle 5"/>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731520" y="1508760"/>
          <a:ext cx="10728655" cy="3977639"/>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gridCol w="2133295">
                  <a:extLst>
                    <a:ext uri="{9D8B030D-6E8A-4147-A177-3AD203B41FA5}">
                      <a16:colId xmlns:a16="http://schemas.microsoft.com/office/drawing/2014/main" val="20003"/>
                    </a:ext>
                  </a:extLst>
                </a:gridCol>
              </a:tblGrid>
              <a:tr h="361603">
                <a:tc>
                  <a:txBody>
                    <a:bodyPr/>
                    <a:lstStyle/>
                    <a:p>
                      <a:pPr>
                        <a:defRPr sz="1250" b="1">
                          <a:solidFill>
                            <a:srgbClr val="FFFFFF"/>
                          </a:solidFill>
                          <a:latin typeface="Arial"/>
                        </a:defRPr>
                      </a:pPr>
                      <a:r>
                        <a:t>Hạng Mục Kỹ Thuật</a:t>
                      </a:r>
                    </a:p>
                  </a:txBody>
                  <a:tcPr anchor="ctr">
                    <a:solidFill>
                      <a:srgbClr val="00205B"/>
                    </a:solidFill>
                  </a:tcPr>
                </a:tc>
                <a:tc>
                  <a:txBody>
                    <a:bodyPr/>
                    <a:lstStyle/>
                    <a:p>
                      <a:pPr>
                        <a:defRPr sz="1250" b="1">
                          <a:solidFill>
                            <a:srgbClr val="FFFFFF"/>
                          </a:solidFill>
                          <a:latin typeface="Arial"/>
                        </a:defRPr>
                      </a:pPr>
                      <a:r>
                        <a:t>Cam Kết trong Proposal (D1)</a:t>
                      </a:r>
                    </a:p>
                  </a:txBody>
                  <a:tcPr anchor="ctr">
                    <a:solidFill>
                      <a:srgbClr val="00205B"/>
                    </a:solidFill>
                  </a:tcPr>
                </a:tc>
                <a:tc>
                  <a:txBody>
                    <a:bodyPr/>
                    <a:lstStyle/>
                    <a:p>
                      <a:pPr>
                        <a:defRPr sz="1250" b="1">
                          <a:solidFill>
                            <a:srgbClr val="FFFFFF"/>
                          </a:solidFill>
                          <a:latin typeface="Arial"/>
                        </a:defRPr>
                      </a:pPr>
                      <a:r>
                        <a:t>Trạng Thái Hiện Tại (D2)</a:t>
                      </a:r>
                    </a:p>
                  </a:txBody>
                  <a:tcPr anchor="ctr">
                    <a:solidFill>
                      <a:srgbClr val="00205B"/>
                    </a:solidFill>
                  </a:tcPr>
                </a:tc>
                <a:tc>
                  <a:txBody>
                    <a:bodyPr/>
                    <a:lstStyle/>
                    <a:p>
                      <a:pPr algn="ctr">
                        <a:defRPr sz="1250" b="1">
                          <a:solidFill>
                            <a:srgbClr val="FFFFFF"/>
                          </a:solidFill>
                          <a:latin typeface="Arial"/>
                        </a:defRPr>
                      </a:pPr>
                      <a:r>
                        <a:t>Đánh Giá Tiến Độ</a:t>
                      </a:r>
                    </a:p>
                  </a:txBody>
                  <a:tcPr anchor="ctr">
                    <a:solidFill>
                      <a:srgbClr val="00205B"/>
                    </a:solidFill>
                  </a:tcPr>
                </a:tc>
                <a:extLst>
                  <a:ext uri="{0D108BD9-81ED-4DB2-BD59-A6C34878D82A}">
                    <a16:rowId xmlns:a16="http://schemas.microsoft.com/office/drawing/2014/main" val="10000"/>
                  </a:ext>
                </a:extLst>
              </a:tr>
              <a:tr h="361603">
                <a:tc>
                  <a:txBody>
                    <a:bodyPr/>
                    <a:lstStyle/>
                    <a:p>
                      <a:pPr>
                        <a:defRPr sz="1150" b="1">
                          <a:solidFill>
                            <a:srgbClr val="00205B"/>
                          </a:solidFill>
                          <a:latin typeface="Arial"/>
                        </a:defRPr>
                      </a:pPr>
                      <a:r>
                        <a:t>1. Mô hình suy luận</a:t>
                      </a:r>
                    </a:p>
                  </a:txBody>
                  <a:tcPr anchor="ctr">
                    <a:solidFill>
                      <a:srgbClr val="F8FAFC"/>
                    </a:solidFill>
                  </a:tcPr>
                </a:tc>
                <a:tc>
                  <a:txBody>
                    <a:bodyPr/>
                    <a:lstStyle/>
                    <a:p>
                      <a:pPr>
                        <a:defRPr sz="1150">
                          <a:solidFill>
                            <a:srgbClr val="1E293B"/>
                          </a:solidFill>
                          <a:latin typeface="Arial"/>
                        </a:defRPr>
                      </a:pPr>
                      <a:r>
                        <a:t>Pure Neural, Prompt cấm DDL/DML</a:t>
                      </a:r>
                    </a:p>
                  </a:txBody>
                  <a:tcPr anchor="ctr">
                    <a:solidFill>
                      <a:srgbClr val="F8FAFC"/>
                    </a:solidFill>
                  </a:tcPr>
                </a:tc>
                <a:tc>
                  <a:txBody>
                    <a:bodyPr/>
                    <a:lstStyle/>
                    <a:p>
                      <a:pPr>
                        <a:defRPr sz="1150">
                          <a:solidFill>
                            <a:srgbClr val="1E293B"/>
                          </a:solidFill>
                          <a:latin typeface="Arial"/>
                        </a:defRPr>
                      </a:pPr>
                      <a:r>
                        <a:t>Đã bỏ (Thay bằng Neuro-Symbolic)</a:t>
                      </a:r>
                    </a:p>
                  </a:txBody>
                  <a:tcPr anchor="ctr">
                    <a:solidFill>
                      <a:srgbClr val="F8FAFC"/>
                    </a:solidFill>
                  </a:tcPr>
                </a:tc>
                <a:tc>
                  <a:txBody>
                    <a:bodyPr/>
                    <a:lstStyle/>
                    <a:p>
                      <a:pPr algn="ctr">
                        <a:defRPr sz="1150" b="1">
                          <a:solidFill>
                            <a:srgbClr val="00205B"/>
                          </a:solidFill>
                          <a:latin typeface="Arial"/>
                        </a:defRPr>
                      </a:pPr>
                      <a:r>
                        <a:t>Hoàn thành vượt trội</a:t>
                      </a:r>
                    </a:p>
                  </a:txBody>
                  <a:tcPr anchor="ctr">
                    <a:solidFill>
                      <a:srgbClr val="F8FAFC"/>
                    </a:solidFill>
                  </a:tcPr>
                </a:tc>
                <a:extLst>
                  <a:ext uri="{0D108BD9-81ED-4DB2-BD59-A6C34878D82A}">
                    <a16:rowId xmlns:a16="http://schemas.microsoft.com/office/drawing/2014/main" val="10001"/>
                  </a:ext>
                </a:extLst>
              </a:tr>
              <a:tr h="361603">
                <a:tc>
                  <a:txBody>
                    <a:bodyPr/>
                    <a:lstStyle/>
                    <a:p>
                      <a:pPr>
                        <a:defRPr sz="1150" b="1">
                          <a:solidFill>
                            <a:srgbClr val="00205B"/>
                          </a:solidFill>
                          <a:latin typeface="Arial"/>
                        </a:defRPr>
                      </a:pPr>
                      <a:r>
                        <a:t>2. Cổng kiểm soát SQL</a:t>
                      </a:r>
                    </a:p>
                  </a:txBody>
                  <a:tcPr anchor="ctr">
                    <a:solidFill>
                      <a:srgbClr val="FFFFFF"/>
                    </a:solidFill>
                  </a:tcPr>
                </a:tc>
                <a:tc>
                  <a:txBody>
                    <a:bodyPr/>
                    <a:lstStyle/>
                    <a:p>
                      <a:pPr>
                        <a:defRPr sz="1150">
                          <a:solidFill>
                            <a:srgbClr val="1E293B"/>
                          </a:solidFill>
                          <a:latin typeface="Arial"/>
                        </a:defRPr>
                      </a:pPr>
                      <a:r>
                        <a:t>Dùng Regex thô kiểm tra từ khóa</a:t>
                      </a:r>
                    </a:p>
                  </a:txBody>
                  <a:tcPr anchor="ctr">
                    <a:solidFill>
                      <a:srgbClr val="FFFFFF"/>
                    </a:solidFill>
                  </a:tcPr>
                </a:tc>
                <a:tc>
                  <a:txBody>
                    <a:bodyPr/>
                    <a:lstStyle/>
                    <a:p>
                      <a:pPr>
                        <a:defRPr sz="1150">
                          <a:solidFill>
                            <a:srgbClr val="1E293B"/>
                          </a:solidFill>
                          <a:latin typeface="Arial"/>
                        </a:defRPr>
                      </a:pPr>
                      <a:r>
                        <a:t>Xong (AST sqlglot dialect Trino)</a:t>
                      </a:r>
                    </a:p>
                  </a:txBody>
                  <a:tcPr anchor="ctr">
                    <a:solidFill>
                      <a:srgbClr val="FFFFFF"/>
                    </a:solidFill>
                  </a:tcPr>
                </a:tc>
                <a:tc>
                  <a:txBody>
                    <a:bodyPr/>
                    <a:lstStyle/>
                    <a:p>
                      <a:pPr algn="ctr">
                        <a:defRPr sz="1150" b="1">
                          <a:solidFill>
                            <a:srgbClr val="16A34A"/>
                          </a:solidFill>
                          <a:latin typeface="Arial"/>
                        </a:defRPr>
                      </a:pPr>
                      <a:r>
                        <a:t>Hoàn thành</a:t>
                      </a:r>
                    </a:p>
                  </a:txBody>
                  <a:tcPr anchor="ctr">
                    <a:solidFill>
                      <a:srgbClr val="FFFFFF"/>
                    </a:solidFill>
                  </a:tcPr>
                </a:tc>
                <a:extLst>
                  <a:ext uri="{0D108BD9-81ED-4DB2-BD59-A6C34878D82A}">
                    <a16:rowId xmlns:a16="http://schemas.microsoft.com/office/drawing/2014/main" val="10002"/>
                  </a:ext>
                </a:extLst>
              </a:tr>
              <a:tr h="361603">
                <a:tc>
                  <a:txBody>
                    <a:bodyPr/>
                    <a:lstStyle/>
                    <a:p>
                      <a:pPr>
                        <a:defRPr sz="1150" b="1">
                          <a:solidFill>
                            <a:srgbClr val="00205B"/>
                          </a:solidFill>
                          <a:latin typeface="Arial"/>
                        </a:defRPr>
                      </a:pPr>
                      <a:r>
                        <a:t>3. Giao thức kết nối DB</a:t>
                      </a:r>
                    </a:p>
                  </a:txBody>
                  <a:tcPr anchor="ctr">
                    <a:solidFill>
                      <a:srgbClr val="F8FAFC"/>
                    </a:solidFill>
                  </a:tcPr>
                </a:tc>
                <a:tc>
                  <a:txBody>
                    <a:bodyPr/>
                    <a:lstStyle/>
                    <a:p>
                      <a:pPr>
                        <a:defRPr sz="1150">
                          <a:solidFill>
                            <a:srgbClr val="1E293B"/>
                          </a:solidFill>
                          <a:latin typeface="Arial"/>
                        </a:defRPr>
                      </a:pPr>
                      <a:r>
                        <a:t>Kết nối trực tiếp CSDL qua JDBC</a:t>
                      </a:r>
                    </a:p>
                  </a:txBody>
                  <a:tcPr anchor="ctr">
                    <a:solidFill>
                      <a:srgbClr val="F8FAFC"/>
                    </a:solidFill>
                  </a:tcPr>
                </a:tc>
                <a:tc>
                  <a:txBody>
                    <a:bodyPr/>
                    <a:lstStyle/>
                    <a:p>
                      <a:pPr>
                        <a:defRPr sz="1150">
                          <a:solidFill>
                            <a:srgbClr val="1E293B"/>
                          </a:solidFill>
                          <a:latin typeface="Arial"/>
                        </a:defRPr>
                      </a:pPr>
                      <a:r>
                        <a:t>Đã bỏ (Thay bằng chuẩn Stdio MCP)</a:t>
                      </a:r>
                    </a:p>
                  </a:txBody>
                  <a:tcPr anchor="ctr">
                    <a:solidFill>
                      <a:srgbClr val="F8FAFC"/>
                    </a:solidFill>
                  </a:tcPr>
                </a:tc>
                <a:tc>
                  <a:txBody>
                    <a:bodyPr/>
                    <a:lstStyle/>
                    <a:p>
                      <a:pPr algn="ctr">
                        <a:defRPr sz="1150" b="1">
                          <a:solidFill>
                            <a:srgbClr val="0070AD"/>
                          </a:solidFill>
                          <a:latin typeface="Arial"/>
                        </a:defRPr>
                      </a:pPr>
                      <a:r>
                        <a:t>Chuẩn hóa mở</a:t>
                      </a:r>
                    </a:p>
                  </a:txBody>
                  <a:tcPr anchor="ctr">
                    <a:solidFill>
                      <a:srgbClr val="F8FAFC"/>
                    </a:solidFill>
                  </a:tcPr>
                </a:tc>
                <a:extLst>
                  <a:ext uri="{0D108BD9-81ED-4DB2-BD59-A6C34878D82A}">
                    <a16:rowId xmlns:a16="http://schemas.microsoft.com/office/drawing/2014/main" val="10003"/>
                  </a:ext>
                </a:extLst>
              </a:tr>
              <a:tr h="361603">
                <a:tc>
                  <a:txBody>
                    <a:bodyPr/>
                    <a:lstStyle/>
                    <a:p>
                      <a:pPr>
                        <a:defRPr sz="1150" b="1">
                          <a:solidFill>
                            <a:srgbClr val="00205B"/>
                          </a:solidFill>
                          <a:latin typeface="Arial"/>
                        </a:defRPr>
                      </a:pPr>
                      <a:r>
                        <a:t>4. Phân quyền RBAC</a:t>
                      </a:r>
                    </a:p>
                  </a:txBody>
                  <a:tcPr anchor="ctr">
                    <a:solidFill>
                      <a:srgbClr val="FFFFFF"/>
                    </a:solidFill>
                  </a:tcPr>
                </a:tc>
                <a:tc>
                  <a:txBody>
                    <a:bodyPr/>
                    <a:lstStyle/>
                    <a:p>
                      <a:pPr>
                        <a:defRPr sz="1150">
                          <a:solidFill>
                            <a:srgbClr val="1E293B"/>
                          </a:solidFill>
                          <a:latin typeface="Arial"/>
                        </a:defRPr>
                      </a:pPr>
                      <a:r>
                        <a:t>RBAC tĩnh cơ bản</a:t>
                      </a:r>
                    </a:p>
                  </a:txBody>
                  <a:tcPr anchor="ctr">
                    <a:solidFill>
                      <a:srgbClr val="FFFFFF"/>
                    </a:solidFill>
                  </a:tcPr>
                </a:tc>
                <a:tc>
                  <a:txBody>
                    <a:bodyPr/>
                    <a:lstStyle/>
                    <a:p>
                      <a:pPr>
                        <a:defRPr sz="1150">
                          <a:solidFill>
                            <a:srgbClr val="1E293B"/>
                          </a:solidFill>
                          <a:latin typeface="Arial"/>
                        </a:defRPr>
                      </a:pPr>
                      <a:r>
                        <a:t>Xong (Least-Privilege Schema Injection)</a:t>
                      </a:r>
                    </a:p>
                  </a:txBody>
                  <a:tcPr anchor="ctr">
                    <a:solidFill>
                      <a:srgbClr val="FFFFFF"/>
                    </a:solidFill>
                  </a:tcPr>
                </a:tc>
                <a:tc>
                  <a:txBody>
                    <a:bodyPr/>
                    <a:lstStyle/>
                    <a:p>
                      <a:pPr algn="ctr">
                        <a:defRPr sz="1150" b="1">
                          <a:solidFill>
                            <a:srgbClr val="16A34A"/>
                          </a:solidFill>
                          <a:latin typeface="Arial"/>
                        </a:defRPr>
                      </a:pPr>
                      <a:r>
                        <a:t>Hoàn thành</a:t>
                      </a:r>
                    </a:p>
                  </a:txBody>
                  <a:tcPr anchor="ctr">
                    <a:solidFill>
                      <a:srgbClr val="FFFFFF"/>
                    </a:solidFill>
                  </a:tcPr>
                </a:tc>
                <a:extLst>
                  <a:ext uri="{0D108BD9-81ED-4DB2-BD59-A6C34878D82A}">
                    <a16:rowId xmlns:a16="http://schemas.microsoft.com/office/drawing/2014/main" val="10004"/>
                  </a:ext>
                </a:extLst>
              </a:tr>
              <a:tr h="361603">
                <a:tc>
                  <a:txBody>
                    <a:bodyPr/>
                    <a:lstStyle/>
                    <a:p>
                      <a:pPr>
                        <a:defRPr sz="1150" b="1">
                          <a:solidFill>
                            <a:srgbClr val="00205B"/>
                          </a:solidFill>
                          <a:latin typeface="Arial"/>
                        </a:defRPr>
                      </a:pPr>
                      <a:r>
                        <a:t>5. Cơ chế tự sửa lỗi</a:t>
                      </a:r>
                    </a:p>
                  </a:txBody>
                  <a:tcPr anchor="ctr">
                    <a:solidFill>
                      <a:srgbClr val="F8FAFC"/>
                    </a:solidFill>
                  </a:tcPr>
                </a:tc>
                <a:tc>
                  <a:txBody>
                    <a:bodyPr/>
                    <a:lstStyle/>
                    <a:p>
                      <a:pPr>
                        <a:defRPr sz="1150">
                          <a:solidFill>
                            <a:srgbClr val="1E293B"/>
                          </a:solidFill>
                          <a:latin typeface="Arial"/>
                        </a:defRPr>
                      </a:pPr>
                      <a:r>
                        <a:t>ReAct dừng khi lỗi, ném ngoại lệ 500</a:t>
                      </a:r>
                    </a:p>
                  </a:txBody>
                  <a:tcPr anchor="ctr">
                    <a:solidFill>
                      <a:srgbClr val="F8FAFC"/>
                    </a:solidFill>
                  </a:tcPr>
                </a:tc>
                <a:tc>
                  <a:txBody>
                    <a:bodyPr/>
                    <a:lstStyle/>
                    <a:p>
                      <a:pPr>
                        <a:defRPr sz="1150">
                          <a:solidFill>
                            <a:srgbClr val="1E293B"/>
                          </a:solidFill>
                          <a:latin typeface="Arial"/>
                        </a:defRPr>
                      </a:pPr>
                      <a:r>
                        <a:t>Xong (Vòng lặp Reflexion &lt;= 3 lần)</a:t>
                      </a:r>
                    </a:p>
                  </a:txBody>
                  <a:tcPr anchor="ctr">
                    <a:solidFill>
                      <a:srgbClr val="F8FAFC"/>
                    </a:solidFill>
                  </a:tcPr>
                </a:tc>
                <a:tc>
                  <a:txBody>
                    <a:bodyPr/>
                    <a:lstStyle/>
                    <a:p>
                      <a:pPr algn="ctr">
                        <a:defRPr sz="1150" b="1">
                          <a:solidFill>
                            <a:srgbClr val="16A34A"/>
                          </a:solidFill>
                          <a:latin typeface="Arial"/>
                        </a:defRPr>
                      </a:pPr>
                      <a:r>
                        <a:t>Hoàn thành</a:t>
                      </a:r>
                    </a:p>
                  </a:txBody>
                  <a:tcPr anchor="ctr">
                    <a:solidFill>
                      <a:srgbClr val="F8FAFC"/>
                    </a:solidFill>
                  </a:tcPr>
                </a:tc>
                <a:extLst>
                  <a:ext uri="{0D108BD9-81ED-4DB2-BD59-A6C34878D82A}">
                    <a16:rowId xmlns:a16="http://schemas.microsoft.com/office/drawing/2014/main" val="10005"/>
                  </a:ext>
                </a:extLst>
              </a:tr>
              <a:tr h="361603">
                <a:tc>
                  <a:txBody>
                    <a:bodyPr/>
                    <a:lstStyle/>
                    <a:p>
                      <a:pPr>
                        <a:defRPr sz="1150" b="1">
                          <a:solidFill>
                            <a:srgbClr val="00205B"/>
                          </a:solidFill>
                          <a:latin typeface="Arial"/>
                        </a:defRPr>
                      </a:pPr>
                      <a:r>
                        <a:t>6. Kiểm soát tài nguyên</a:t>
                      </a:r>
                    </a:p>
                  </a:txBody>
                  <a:tcPr anchor="ctr">
                    <a:solidFill>
                      <a:srgbClr val="FFFFFF"/>
                    </a:solidFill>
                  </a:tcPr>
                </a:tc>
                <a:tc>
                  <a:txBody>
                    <a:bodyPr/>
                    <a:lstStyle/>
                    <a:p>
                      <a:pPr>
                        <a:defRPr sz="1150">
                          <a:solidFill>
                            <a:srgbClr val="1E293B"/>
                          </a:solidFill>
                          <a:latin typeface="Arial"/>
                        </a:defRPr>
                      </a:pPr>
                      <a:r>
                        <a:t>Chưa có giới hạn tài nguyên tính toán</a:t>
                      </a:r>
                    </a:p>
                  </a:txBody>
                  <a:tcPr anchor="ctr">
                    <a:solidFill>
                      <a:srgbClr val="FFFFFF"/>
                    </a:solidFill>
                  </a:tcPr>
                </a:tc>
                <a:tc>
                  <a:txBody>
                    <a:bodyPr/>
                    <a:lstStyle/>
                    <a:p>
                      <a:pPr>
                        <a:defRPr sz="1150">
                          <a:solidFill>
                            <a:srgbClr val="1E293B"/>
                          </a:solidFill>
                          <a:latin typeface="Arial"/>
                        </a:defRPr>
                      </a:pPr>
                      <a:r>
                        <a:t>Xong (Circuit Breaker + Concurrency)</a:t>
                      </a:r>
                    </a:p>
                  </a:txBody>
                  <a:tcPr anchor="ctr">
                    <a:solidFill>
                      <a:srgbClr val="FFFFFF"/>
                    </a:solidFill>
                  </a:tcPr>
                </a:tc>
                <a:tc>
                  <a:txBody>
                    <a:bodyPr/>
                    <a:lstStyle/>
                    <a:p>
                      <a:pPr algn="ctr">
                        <a:defRPr sz="1150" b="1">
                          <a:solidFill>
                            <a:srgbClr val="16A34A"/>
                          </a:solidFill>
                          <a:latin typeface="Arial"/>
                        </a:defRPr>
                      </a:pPr>
                      <a:r>
                        <a:t>Hoàn thành</a:t>
                      </a:r>
                    </a:p>
                  </a:txBody>
                  <a:tcPr anchor="ctr">
                    <a:solidFill>
                      <a:srgbClr val="FFFFFF"/>
                    </a:solidFill>
                  </a:tcPr>
                </a:tc>
                <a:extLst>
                  <a:ext uri="{0D108BD9-81ED-4DB2-BD59-A6C34878D82A}">
                    <a16:rowId xmlns:a16="http://schemas.microsoft.com/office/drawing/2014/main" val="10006"/>
                  </a:ext>
                </a:extLst>
              </a:tr>
              <a:tr h="361603">
                <a:tc>
                  <a:txBody>
                    <a:bodyPr/>
                    <a:lstStyle/>
                    <a:p>
                      <a:pPr>
                        <a:defRPr sz="1150" b="1">
                          <a:solidFill>
                            <a:srgbClr val="00205B"/>
                          </a:solidFill>
                          <a:latin typeface="Arial"/>
                        </a:defRPr>
                      </a:pPr>
                      <a:r>
                        <a:t>7. Phòng Indirect Injection</a:t>
                      </a:r>
                    </a:p>
                  </a:txBody>
                  <a:tcPr anchor="ctr">
                    <a:solidFill>
                      <a:srgbClr val="F8FAFC"/>
                    </a:solidFill>
                  </a:tcPr>
                </a:tc>
                <a:tc>
                  <a:txBody>
                    <a:bodyPr/>
                    <a:lstStyle/>
                    <a:p>
                      <a:pPr>
                        <a:defRPr sz="1150">
                          <a:solidFill>
                            <a:srgbClr val="1E293B"/>
                          </a:solidFill>
                          <a:latin typeface="Arial"/>
                        </a:defRPr>
                      </a:pPr>
                      <a:r>
                        <a:t>Đưa dữ liệu thô thẳng vào context</a:t>
                      </a:r>
                    </a:p>
                  </a:txBody>
                  <a:tcPr anchor="ctr">
                    <a:solidFill>
                      <a:srgbClr val="F8FAFC"/>
                    </a:solidFill>
                  </a:tcPr>
                </a:tc>
                <a:tc>
                  <a:txBody>
                    <a:bodyPr/>
                    <a:lstStyle/>
                    <a:p>
                      <a:pPr>
                        <a:defRPr sz="1150">
                          <a:solidFill>
                            <a:srgbClr val="1E293B"/>
                          </a:solidFill>
                          <a:latin typeface="Arial"/>
                        </a:defRPr>
                      </a:pPr>
                      <a:r>
                        <a:t>Xong (Table Taint Filter + Sandbox)</a:t>
                      </a:r>
                    </a:p>
                  </a:txBody>
                  <a:tcPr anchor="ctr">
                    <a:solidFill>
                      <a:srgbClr val="F8FAFC"/>
                    </a:solidFill>
                  </a:tcPr>
                </a:tc>
                <a:tc>
                  <a:txBody>
                    <a:bodyPr/>
                    <a:lstStyle/>
                    <a:p>
                      <a:pPr algn="ctr">
                        <a:defRPr sz="1150" b="1">
                          <a:solidFill>
                            <a:srgbClr val="16A34A"/>
                          </a:solidFill>
                          <a:latin typeface="Arial"/>
                        </a:defRPr>
                      </a:pPr>
                      <a:r>
                        <a:t>Hoàn thành</a:t>
                      </a:r>
                    </a:p>
                  </a:txBody>
                  <a:tcPr anchor="ctr">
                    <a:solidFill>
                      <a:srgbClr val="F8FAFC"/>
                    </a:solidFill>
                  </a:tcPr>
                </a:tc>
                <a:extLst>
                  <a:ext uri="{0D108BD9-81ED-4DB2-BD59-A6C34878D82A}">
                    <a16:rowId xmlns:a16="http://schemas.microsoft.com/office/drawing/2014/main" val="10007"/>
                  </a:ext>
                </a:extLst>
              </a:tr>
              <a:tr h="361603">
                <a:tc>
                  <a:txBody>
                    <a:bodyPr/>
                    <a:lstStyle/>
                    <a:p>
                      <a:pPr>
                        <a:defRPr sz="1150" b="1">
                          <a:solidFill>
                            <a:srgbClr val="00205B"/>
                          </a:solidFill>
                          <a:latin typeface="Arial"/>
                        </a:defRPr>
                      </a:pPr>
                      <a:r>
                        <a:t>8. Hạ tầng CSDL</a:t>
                      </a:r>
                    </a:p>
                  </a:txBody>
                  <a:tcPr anchor="ctr">
                    <a:solidFill>
                      <a:srgbClr val="FFFFFF"/>
                    </a:solidFill>
                  </a:tcPr>
                </a:tc>
                <a:tc>
                  <a:txBody>
                    <a:bodyPr/>
                    <a:lstStyle/>
                    <a:p>
                      <a:pPr>
                        <a:defRPr sz="1150">
                          <a:solidFill>
                            <a:srgbClr val="1E293B"/>
                          </a:solidFill>
                          <a:latin typeface="Arial"/>
                        </a:defRPr>
                      </a:pPr>
                      <a:r>
                        <a:t>1 CSDL đơn lẻ (5–8 bảng)</a:t>
                      </a:r>
                    </a:p>
                  </a:txBody>
                  <a:tcPr anchor="ctr">
                    <a:solidFill>
                      <a:srgbClr val="FFFFFF"/>
                    </a:solidFill>
                  </a:tcPr>
                </a:tc>
                <a:tc>
                  <a:txBody>
                    <a:bodyPr/>
                    <a:lstStyle/>
                    <a:p>
                      <a:pPr>
                        <a:defRPr sz="1150">
                          <a:solidFill>
                            <a:srgbClr val="1E293B"/>
                          </a:solidFill>
                          <a:latin typeface="Arial"/>
                        </a:defRPr>
                      </a:pPr>
                      <a:r>
                        <a:t>Xong (Federated Trino 21 bảng PG+MySQL)</a:t>
                      </a:r>
                    </a:p>
                  </a:txBody>
                  <a:tcPr anchor="ctr">
                    <a:solidFill>
                      <a:srgbClr val="FFFFFF"/>
                    </a:solidFill>
                  </a:tcPr>
                </a:tc>
                <a:tc>
                  <a:txBody>
                    <a:bodyPr/>
                    <a:lstStyle/>
                    <a:p>
                      <a:pPr algn="ctr">
                        <a:defRPr sz="1150" b="1">
                          <a:solidFill>
                            <a:srgbClr val="0070AD"/>
                          </a:solidFill>
                          <a:latin typeface="Arial"/>
                        </a:defRPr>
                      </a:pPr>
                      <a:r>
                        <a:t>Vượt tiến độ</a:t>
                      </a:r>
                    </a:p>
                  </a:txBody>
                  <a:tcPr anchor="ctr">
                    <a:solidFill>
                      <a:srgbClr val="FFFFFF"/>
                    </a:solidFill>
                  </a:tcPr>
                </a:tc>
                <a:extLst>
                  <a:ext uri="{0D108BD9-81ED-4DB2-BD59-A6C34878D82A}">
                    <a16:rowId xmlns:a16="http://schemas.microsoft.com/office/drawing/2014/main" val="10008"/>
                  </a:ext>
                </a:extLst>
              </a:tr>
              <a:tr h="361603">
                <a:tc>
                  <a:txBody>
                    <a:bodyPr/>
                    <a:lstStyle/>
                    <a:p>
                      <a:pPr>
                        <a:defRPr sz="1150" b="1">
                          <a:solidFill>
                            <a:srgbClr val="00205B"/>
                          </a:solidFill>
                          <a:latin typeface="Arial"/>
                        </a:defRPr>
                      </a:pPr>
                      <a:r>
                        <a:t>9. Bộ nhớ ngữ nghĩa</a:t>
                      </a:r>
                    </a:p>
                  </a:txBody>
                  <a:tcPr anchor="ctr">
                    <a:solidFill>
                      <a:srgbClr val="F8FAFC"/>
                    </a:solidFill>
                  </a:tcPr>
                </a:tc>
                <a:tc>
                  <a:txBody>
                    <a:bodyPr/>
                    <a:lstStyle/>
                    <a:p>
                      <a:pPr>
                        <a:defRPr sz="1150">
                          <a:solidFill>
                            <a:srgbClr val="1E293B"/>
                          </a:solidFill>
                          <a:latin typeface="Arial"/>
                        </a:defRPr>
                      </a:pPr>
                      <a:r>
                        <a:t>Nhúng ChromaDB từ Tuần 5–6</a:t>
                      </a:r>
                    </a:p>
                  </a:txBody>
                  <a:tcPr anchor="ctr">
                    <a:solidFill>
                      <a:srgbClr val="F8FAFC"/>
                    </a:solidFill>
                  </a:tcPr>
                </a:tc>
                <a:tc>
                  <a:txBody>
                    <a:bodyPr/>
                    <a:lstStyle/>
                    <a:p>
                      <a:pPr>
                        <a:defRPr sz="1150">
                          <a:solidFill>
                            <a:srgbClr val="1E293B"/>
                          </a:solidFill>
                          <a:latin typeface="Arial"/>
                        </a:defRPr>
                      </a:pPr>
                      <a:r>
                        <a:t>Đang làm (Hoãn Vector DB, dùng MySQL)</a:t>
                      </a:r>
                    </a:p>
                  </a:txBody>
                  <a:tcPr anchor="ctr">
                    <a:solidFill>
                      <a:srgbClr val="F8FAFC"/>
                    </a:solidFill>
                  </a:tcPr>
                </a:tc>
                <a:tc>
                  <a:txBody>
                    <a:bodyPr/>
                    <a:lstStyle/>
                    <a:p>
                      <a:pPr algn="ctr">
                        <a:defRPr sz="1150" b="1">
                          <a:solidFill>
                            <a:srgbClr val="D97706"/>
                          </a:solidFill>
                          <a:latin typeface="Arial"/>
                        </a:defRPr>
                      </a:pPr>
                      <a:r>
                        <a:t>Quản trị rủi ro</a:t>
                      </a:r>
                    </a:p>
                  </a:txBody>
                  <a:tcPr anchor="ctr">
                    <a:solidFill>
                      <a:srgbClr val="F8FAFC"/>
                    </a:solidFill>
                  </a:tcPr>
                </a:tc>
                <a:extLst>
                  <a:ext uri="{0D108BD9-81ED-4DB2-BD59-A6C34878D82A}">
                    <a16:rowId xmlns:a16="http://schemas.microsoft.com/office/drawing/2014/main" val="10009"/>
                  </a:ext>
                </a:extLst>
              </a:tr>
              <a:tr h="361609">
                <a:tc>
                  <a:txBody>
                    <a:bodyPr/>
                    <a:lstStyle/>
                    <a:p>
                      <a:pPr>
                        <a:defRPr sz="1150" b="1">
                          <a:solidFill>
                            <a:srgbClr val="00205B"/>
                          </a:solidFill>
                          <a:latin typeface="Arial"/>
                        </a:defRPr>
                      </a:pPr>
                      <a:r>
                        <a:t>10. Bộ đánh giá</a:t>
                      </a:r>
                    </a:p>
                  </a:txBody>
                  <a:tcPr anchor="ctr">
                    <a:solidFill>
                      <a:srgbClr val="FFFFFF"/>
                    </a:solidFill>
                  </a:tcPr>
                </a:tc>
                <a:tc>
                  <a:txBody>
                    <a:bodyPr/>
                    <a:lstStyle/>
                    <a:p>
                      <a:pPr>
                        <a:defRPr sz="1150">
                          <a:solidFill>
                            <a:srgbClr val="1E293B"/>
                          </a:solidFill>
                          <a:latin typeface="Arial"/>
                        </a:defRPr>
                      </a:pPr>
                      <a:r>
                        <a:t>Test BI cơ bản (~10 queries)</a:t>
                      </a:r>
                    </a:p>
                  </a:txBody>
                  <a:tcPr anchor="ctr">
                    <a:solidFill>
                      <a:srgbClr val="FFFFFF"/>
                    </a:solidFill>
                  </a:tcPr>
                </a:tc>
                <a:tc>
                  <a:txBody>
                    <a:bodyPr/>
                    <a:lstStyle/>
                    <a:p>
                      <a:pPr>
                        <a:defRPr sz="1150">
                          <a:solidFill>
                            <a:srgbClr val="1E293B"/>
                          </a:solidFill>
                          <a:latin typeface="Arial"/>
                        </a:defRPr>
                      </a:pPr>
                      <a:r>
                        <a:t>Xong (26 kịch bản Red-teaming chuẩn)</a:t>
                      </a:r>
                    </a:p>
                  </a:txBody>
                  <a:tcPr anchor="ctr">
                    <a:solidFill>
                      <a:srgbClr val="FFFFFF"/>
                    </a:solidFill>
                  </a:tcPr>
                </a:tc>
                <a:tc>
                  <a:txBody>
                    <a:bodyPr/>
                    <a:lstStyle/>
                    <a:p>
                      <a:pPr algn="ctr">
                        <a:defRPr sz="1150" b="1">
                          <a:solidFill>
                            <a:srgbClr val="16A34A"/>
                          </a:solidFill>
                          <a:latin typeface="Arial"/>
                        </a:defRPr>
                      </a:pPr>
                      <a:r>
                        <a:t>Hoàn thành</a:t>
                      </a:r>
                    </a:p>
                  </a:txBody>
                  <a:tcPr anchor="ctr">
                    <a:solidFill>
                      <a:srgbClr val="FFFFFF"/>
                    </a:solidFill>
                  </a:tcPr>
                </a:tc>
                <a:extLst>
                  <a:ext uri="{0D108BD9-81ED-4DB2-BD59-A6C34878D82A}">
                    <a16:rowId xmlns:a16="http://schemas.microsoft.com/office/drawing/2014/main" val="10010"/>
                  </a:ext>
                </a:extLst>
              </a:tr>
            </a:tbl>
          </a:graphicData>
        </a:graphic>
      </p:graphicFrame>
      <p:sp>
        <p:nvSpPr>
          <p:cNvPr id="8" name="Rounded Rectangle 7"/>
          <p:cNvSpPr/>
          <p:nvPr/>
        </p:nvSpPr>
        <p:spPr>
          <a:xfrm>
            <a:off x="731520" y="5596128"/>
            <a:ext cx="10728655" cy="65836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5632704"/>
            <a:ext cx="10424160" cy="566928"/>
          </a:xfrm>
          <a:prstGeom prst="rect">
            <a:avLst/>
          </a:prstGeom>
          <a:noFill/>
        </p:spPr>
        <p:txBody>
          <a:bodyPr wrap="square" lIns="0" tIns="0" rIns="0" bIns="0">
            <a:spAutoFit/>
          </a:bodyPr>
          <a:lstStyle/>
          <a:p>
            <a:pPr>
              <a:defRPr sz="1200" b="1">
                <a:solidFill>
                  <a:srgbClr val="00205B"/>
                </a:solidFill>
                <a:latin typeface="Arial"/>
              </a:defRPr>
            </a:pPr>
            <a:r>
              <a:t>TỔNG KẾT TIẾN ĐỘ THỰC HIỆN CHECKPOINT D2:</a:t>
            </a:r>
          </a:p>
          <a:p>
            <a:pPr>
              <a:spcBef>
                <a:spcPts val="200"/>
              </a:spcBef>
              <a:defRPr sz="1150">
                <a:solidFill>
                  <a:srgbClr val="64748B"/>
                </a:solidFill>
                <a:latin typeface="Arial"/>
              </a:defRPr>
            </a:pPr>
            <a:r>
              <a:t>8/10 hạng mục đạt hoặc vượt kế hoạch • 0 hạng mục trễ hạn • 1 hạng mục chủ động hoãn sang Tuần 10 theo khuyến nghị an ninh quốc tế (NeurIPS 2024 AgentPoison) nhằm tránh nguy cơ đầu độc bộ nhớ dài hạn.</a:t>
            </a:r>
          </a:p>
        </p:txBody>
      </p:sp>
      <p:sp>
        <p:nvSpPr>
          <p:cNvPr id="10" name="Rectangle 9"/>
          <p:cNvSpPr/>
          <p:nvPr/>
        </p:nvSpPr>
        <p:spPr>
          <a:xfrm>
            <a:off x="731520" y="6419088"/>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6455664"/>
            <a:ext cx="8229600" cy="256032"/>
          </a:xfrm>
          <a:prstGeom prst="rect">
            <a:avLst/>
          </a:prstGeom>
          <a:noFill/>
        </p:spPr>
        <p:txBody>
          <a:bodyPr wrap="square" lIns="0" tIns="0" rIns="0" bIns="0">
            <a:spAutoFit/>
          </a:bodyPr>
          <a:lstStyle/>
          <a:p>
            <a:pPr>
              <a:defRPr sz="1050">
                <a:solidFill>
                  <a:srgbClr val="94A3B8"/>
                </a:solidFill>
                <a:latin typeface="Arial"/>
              </a:defRPr>
            </a:pPr>
            <a:r>
              <a:t>Secure Agentic BI Framework | Checkpoint D2 | Khoa KH&amp;KT Máy tính - ĐH Bách Khoa TP.HCM</a:t>
            </a:r>
          </a:p>
        </p:txBody>
      </p:sp>
      <p:sp>
        <p:nvSpPr>
          <p:cNvPr id="12" name="TextBox 11"/>
          <p:cNvSpPr txBox="1"/>
          <p:nvPr/>
        </p:nvSpPr>
        <p:spPr>
          <a:xfrm>
            <a:off x="9144000" y="6455664"/>
            <a:ext cx="2316175" cy="256032"/>
          </a:xfrm>
          <a:prstGeom prst="rect">
            <a:avLst/>
          </a:prstGeom>
          <a:noFill/>
        </p:spPr>
        <p:txBody>
          <a:bodyPr wrap="square" lIns="0" tIns="0" rIns="0" bIns="0">
            <a:spAutoFit/>
          </a:bodyPr>
          <a:lstStyle/>
          <a:p>
            <a:pPr algn="r">
              <a:defRPr sz="1100" b="1">
                <a:solidFill>
                  <a:srgbClr val="00205B"/>
                </a:solidFill>
                <a:latin typeface="Arial"/>
              </a:defRPr>
            </a:pPr>
            <a:r>
              <a:t>Slide 04 / 14</a:t>
            </a:r>
          </a:p>
        </p:txBody>
      </p:sp>
      <p:pic>
        <p:nvPicPr>
          <p:cNvPr id="13" name="Picture 12" descr="X6.png">
            <a:extLst>
              <a:ext uri="{FF2B5EF4-FFF2-40B4-BE49-F238E27FC236}">
                <a16:creationId xmlns:a16="http://schemas.microsoft.com/office/drawing/2014/main" id="{CA2DE4AA-2F19-655F-1CDA-8AB03BBD6D27}"/>
              </a:ext>
            </a:extLst>
          </p:cNvPr>
          <p:cNvPicPr>
            <a:picLocks noChangeAspect="1"/>
          </p:cNvPicPr>
          <p:nvPr/>
        </p:nvPicPr>
        <p:blipFill>
          <a:blip r:embed="rId3"/>
          <a:stretch>
            <a:fillRect/>
          </a:stretch>
        </p:blipFill>
        <p:spPr>
          <a:xfrm>
            <a:off x="11457432" y="75268"/>
            <a:ext cx="594360" cy="5992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56032"/>
            <a:ext cx="10728655" cy="256032"/>
          </a:xfrm>
          <a:prstGeom prst="rect">
            <a:avLst/>
          </a:prstGeom>
          <a:noFill/>
        </p:spPr>
        <p:txBody>
          <a:bodyPr wrap="square" lIns="0" tIns="0" rIns="0" bIns="0">
            <a:spAutoFit/>
          </a:bodyPr>
          <a:lstStyle/>
          <a:p>
            <a:pPr>
              <a:defRPr sz="1300" b="1">
                <a:solidFill>
                  <a:srgbClr val="0070AD"/>
                </a:solidFill>
                <a:latin typeface="Arial"/>
              </a:defRPr>
            </a:pPr>
            <a:r>
              <a:t>PHẦN 2: KIẾN TRÚC HỆ THỐNG ĐÃ CÀI ĐẶT</a:t>
            </a:r>
          </a:p>
        </p:txBody>
      </p:sp>
      <p:sp>
        <p:nvSpPr>
          <p:cNvPr id="4" name="TextBox 3"/>
          <p:cNvSpPr txBox="1"/>
          <p:nvPr/>
        </p:nvSpPr>
        <p:spPr>
          <a:xfrm>
            <a:off x="731520" y="493776"/>
            <a:ext cx="10728655" cy="502920"/>
          </a:xfrm>
          <a:prstGeom prst="rect">
            <a:avLst/>
          </a:prstGeom>
          <a:noFill/>
        </p:spPr>
        <p:txBody>
          <a:bodyPr wrap="square" lIns="0" tIns="0" rIns="0" bIns="0">
            <a:spAutoFit/>
          </a:bodyPr>
          <a:lstStyle/>
          <a:p>
            <a:pPr>
              <a:defRPr sz="2400" b="1">
                <a:solidFill>
                  <a:srgbClr val="00205B"/>
                </a:solidFill>
                <a:latin typeface="Arial"/>
              </a:defRPr>
            </a:pPr>
            <a:r>
              <a:t>Kiến Trúc Hệ Thống Microservices &amp; Cụm Federated DB</a:t>
            </a:r>
          </a:p>
        </p:txBody>
      </p:sp>
      <p:sp>
        <p:nvSpPr>
          <p:cNvPr id="5" name="TextBox 4"/>
          <p:cNvSpPr txBox="1"/>
          <p:nvPr/>
        </p:nvSpPr>
        <p:spPr>
          <a:xfrm>
            <a:off x="731520" y="1005840"/>
            <a:ext cx="10728655" cy="347472"/>
          </a:xfrm>
          <a:prstGeom prst="rect">
            <a:avLst/>
          </a:prstGeom>
          <a:noFill/>
        </p:spPr>
        <p:txBody>
          <a:bodyPr wrap="square" lIns="0" tIns="0" rIns="0" bIns="0">
            <a:spAutoFit/>
          </a:bodyPr>
          <a:lstStyle/>
          <a:p>
            <a:pPr>
              <a:defRPr sz="1350" i="1">
                <a:solidFill>
                  <a:srgbClr val="64748B"/>
                </a:solidFill>
                <a:latin typeface="Arial"/>
              </a:defRPr>
            </a:pPr>
            <a:r>
              <a:t>Phân tách rạch ròi 4 phân tầng độc lập, cô lập toàn bộ credential CSDL và kết nối an toàn qua mạng Docker nội bộ.</a:t>
            </a:r>
          </a:p>
        </p:txBody>
      </p:sp>
      <p:sp>
        <p:nvSpPr>
          <p:cNvPr id="6" name="Rectangle 5"/>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508760"/>
            <a:ext cx="5257800" cy="2240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508760"/>
            <a:ext cx="5257800" cy="365760"/>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00" b="1">
                <a:solidFill>
                  <a:srgbClr val="FFFFFF"/>
                </a:solidFill>
                <a:latin typeface="Arial"/>
              </a:defRPr>
            </a:pPr>
            <a:r>
              <a:t>1. FRONTEND TIER (REACT 19 + VITE + TAILWIND)</a:t>
            </a:r>
          </a:p>
        </p:txBody>
      </p:sp>
      <p:sp>
        <p:nvSpPr>
          <p:cNvPr id="9" name="TextBox 8"/>
          <p:cNvSpPr txBox="1"/>
          <p:nvPr/>
        </p:nvSpPr>
        <p:spPr>
          <a:xfrm>
            <a:off x="868680" y="1929384"/>
            <a:ext cx="4983480" cy="1764792"/>
          </a:xfrm>
          <a:prstGeom prst="rect">
            <a:avLst/>
          </a:prstGeom>
          <a:noFill/>
        </p:spPr>
        <p:txBody>
          <a:bodyPr wrap="square" lIns="0" tIns="0" rIns="0" bIns="0">
            <a:spAutoFit/>
          </a:bodyPr>
          <a:lstStyle/>
          <a:p>
            <a:pPr>
              <a:spcAft>
                <a:spcPts val="450"/>
              </a:spcAft>
              <a:defRPr sz="1150">
                <a:solidFill>
                  <a:srgbClr val="1E293B"/>
                </a:solidFill>
                <a:latin typeface="Arial"/>
              </a:defRPr>
            </a:pPr>
            <a:r>
              <a:rPr b="1">
                <a:solidFill>
                  <a:srgbClr val="00205B"/>
                </a:solidFill>
              </a:rPr>
              <a:t>• Bảng điều khiển Red-Teaming: </a:t>
            </a:r>
            <a:r>
              <a:rPr b="0">
                <a:solidFill>
                  <a:srgbClr val="1E293B"/>
                </a:solidFill>
              </a:rPr>
              <a:t>Tích hợp sẵn 26 kịch bản kiểm thử đối kháng và báo cáo BI.</a:t>
            </a:r>
          </a:p>
          <a:p>
            <a:pPr>
              <a:spcAft>
                <a:spcPts val="450"/>
              </a:spcAft>
              <a:defRPr sz="1150">
                <a:solidFill>
                  <a:srgbClr val="1E293B"/>
                </a:solidFill>
                <a:latin typeface="Arial"/>
              </a:defRPr>
            </a:pPr>
            <a:r>
              <a:rPr b="1">
                <a:solidFill>
                  <a:srgbClr val="00205B"/>
                </a:solidFill>
              </a:rPr>
              <a:t>• Bộ chọn vai trò (RBAC): </a:t>
            </a:r>
            <a:r>
              <a:rPr b="0">
                <a:solidFill>
                  <a:srgbClr val="1E293B"/>
                </a:solidFill>
              </a:rPr>
              <a:t>Mô phỏng 5 vai trò: analyst, sales, support, hr, admin.</a:t>
            </a:r>
          </a:p>
          <a:p>
            <a:pPr>
              <a:spcAft>
                <a:spcPts val="450"/>
              </a:spcAft>
              <a:defRPr sz="1150">
                <a:solidFill>
                  <a:srgbClr val="1E293B"/>
                </a:solidFill>
                <a:latin typeface="Arial"/>
              </a:defRPr>
            </a:pPr>
            <a:r>
              <a:rPr b="1">
                <a:solidFill>
                  <a:srgbClr val="00205B"/>
                </a:solidFill>
              </a:rPr>
              <a:t>• NDJSON Live Streaming: </a:t>
            </a:r>
            <a:r>
              <a:rPr b="0">
                <a:solidFill>
                  <a:srgbClr val="1E293B"/>
                </a:solidFill>
              </a:rPr>
              <a:t>Hiển thị vết suy luận ReAct và an toàn theo thời gian thực.</a:t>
            </a:r>
          </a:p>
          <a:p>
            <a:pPr>
              <a:spcAft>
                <a:spcPts val="450"/>
              </a:spcAft>
              <a:defRPr sz="1150">
                <a:solidFill>
                  <a:srgbClr val="1E293B"/>
                </a:solidFill>
                <a:latin typeface="Arial"/>
              </a:defRPr>
            </a:pPr>
            <a:r>
              <a:rPr b="1">
                <a:solidFill>
                  <a:srgbClr val="00205B"/>
                </a:solidFill>
              </a:rPr>
              <a:t>• Trực quan hóa: </a:t>
            </a:r>
            <a:r>
              <a:rPr b="0">
                <a:solidFill>
                  <a:srgbClr val="1E293B"/>
                </a:solidFill>
              </a:rPr>
              <a:t>Kết xuất bảng biểu và biểu đồ doanh thu trực tiếp.</a:t>
            </a:r>
          </a:p>
        </p:txBody>
      </p:sp>
      <p:sp>
        <p:nvSpPr>
          <p:cNvPr id="10" name="Rounded Rectangle 9"/>
          <p:cNvSpPr/>
          <p:nvPr/>
        </p:nvSpPr>
        <p:spPr>
          <a:xfrm>
            <a:off x="6202375" y="1508760"/>
            <a:ext cx="5257800" cy="2240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02375" y="1508760"/>
            <a:ext cx="5257800" cy="365760"/>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00" b="1">
                <a:solidFill>
                  <a:srgbClr val="FFFFFF"/>
                </a:solidFill>
                <a:latin typeface="Arial"/>
              </a:defRPr>
            </a:pPr>
            <a:r>
              <a:t>2. BACKEND API GATEWAY (FASTAPI + PYTHON 3.13)</a:t>
            </a:r>
          </a:p>
        </p:txBody>
      </p:sp>
      <p:sp>
        <p:nvSpPr>
          <p:cNvPr id="12" name="TextBox 11"/>
          <p:cNvSpPr txBox="1"/>
          <p:nvPr/>
        </p:nvSpPr>
        <p:spPr>
          <a:xfrm>
            <a:off x="6339535" y="1929384"/>
            <a:ext cx="4983480" cy="1764792"/>
          </a:xfrm>
          <a:prstGeom prst="rect">
            <a:avLst/>
          </a:prstGeom>
          <a:noFill/>
        </p:spPr>
        <p:txBody>
          <a:bodyPr wrap="square" lIns="0" tIns="0" rIns="0" bIns="0">
            <a:spAutoFit/>
          </a:bodyPr>
          <a:lstStyle/>
          <a:p>
            <a:pPr>
              <a:spcAft>
                <a:spcPts val="450"/>
              </a:spcAft>
              <a:defRPr sz="1150">
                <a:solidFill>
                  <a:srgbClr val="1E293B"/>
                </a:solidFill>
                <a:latin typeface="Arial"/>
              </a:defRPr>
            </a:pPr>
            <a:r>
              <a:rPr b="1">
                <a:solidFill>
                  <a:srgbClr val="00205B"/>
                </a:solidFill>
              </a:rPr>
              <a:t>• Điều phối bất đồng bộ: </a:t>
            </a:r>
            <a:r>
              <a:rPr b="0">
                <a:solidFill>
                  <a:srgbClr val="1E293B"/>
                </a:solidFill>
              </a:rPr>
              <a:t>Xử lý luồng bảo mật tốc độ cao qua Async Pipeline.</a:t>
            </a:r>
          </a:p>
          <a:p>
            <a:pPr>
              <a:spcAft>
                <a:spcPts val="450"/>
              </a:spcAft>
              <a:defRPr sz="1150">
                <a:solidFill>
                  <a:srgbClr val="1E293B"/>
                </a:solidFill>
                <a:latin typeface="Arial"/>
              </a:defRPr>
            </a:pPr>
            <a:r>
              <a:rPr b="1">
                <a:solidFill>
                  <a:srgbClr val="00205B"/>
                </a:solidFill>
              </a:rPr>
              <a:t>• Tích hợp AST Guardrail: </a:t>
            </a:r>
            <a:r>
              <a:rPr b="0">
                <a:solidFill>
                  <a:srgbClr val="1E293B"/>
                </a:solidFill>
              </a:rPr>
              <a:t>Bóc tách cú pháp SQL qua sqlglot dialect Trino trước khi chạy.</a:t>
            </a:r>
          </a:p>
          <a:p>
            <a:pPr>
              <a:spcAft>
                <a:spcPts val="450"/>
              </a:spcAft>
              <a:defRPr sz="1150">
                <a:solidFill>
                  <a:srgbClr val="1E293B"/>
                </a:solidFill>
                <a:latin typeface="Arial"/>
              </a:defRPr>
            </a:pPr>
            <a:r>
              <a:rPr b="1">
                <a:solidFill>
                  <a:srgbClr val="00205B"/>
                </a:solidFill>
              </a:rPr>
              <a:t>• Reflexion Loop: </a:t>
            </a:r>
            <a:r>
              <a:rPr b="0">
                <a:solidFill>
                  <a:srgbClr val="1E293B"/>
                </a:solidFill>
              </a:rPr>
              <a:t>Tự phân tích mã lỗi Trino và tái sinh truy vấn đúng (tối đa 3 lượt).</a:t>
            </a:r>
          </a:p>
          <a:p>
            <a:pPr>
              <a:spcAft>
                <a:spcPts val="450"/>
              </a:spcAft>
              <a:defRPr sz="1150">
                <a:solidFill>
                  <a:srgbClr val="1E293B"/>
                </a:solidFill>
                <a:latin typeface="Arial"/>
              </a:defRPr>
            </a:pPr>
            <a:r>
              <a:rPr b="1">
                <a:solidFill>
                  <a:srgbClr val="00205B"/>
                </a:solidFill>
              </a:rPr>
              <a:t>• Fallback Engine: </a:t>
            </a:r>
            <a:r>
              <a:rPr b="0">
                <a:solidFill>
                  <a:srgbClr val="1E293B"/>
                </a:solidFill>
              </a:rPr>
              <a:t>Tự động hoán chuyển model Gemini khi gặp lỗi 429 Quota.</a:t>
            </a:r>
          </a:p>
        </p:txBody>
      </p:sp>
      <p:sp>
        <p:nvSpPr>
          <p:cNvPr id="13" name="Rounded Rectangle 12"/>
          <p:cNvSpPr/>
          <p:nvPr/>
        </p:nvSpPr>
        <p:spPr>
          <a:xfrm>
            <a:off x="731520" y="3931920"/>
            <a:ext cx="5257800" cy="2240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3931920"/>
            <a:ext cx="5257800" cy="365760"/>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00" b="1">
                <a:solidFill>
                  <a:srgbClr val="FFFFFF"/>
                </a:solidFill>
                <a:latin typeface="Arial"/>
              </a:defRPr>
            </a:pPr>
            <a:r>
              <a:t>3. PROTOCOL TIER (TRINO MCP SERVER)</a:t>
            </a:r>
          </a:p>
        </p:txBody>
      </p:sp>
      <p:sp>
        <p:nvSpPr>
          <p:cNvPr id="15" name="TextBox 14"/>
          <p:cNvSpPr txBox="1"/>
          <p:nvPr/>
        </p:nvSpPr>
        <p:spPr>
          <a:xfrm>
            <a:off x="868680" y="4352544"/>
            <a:ext cx="4983480" cy="1764792"/>
          </a:xfrm>
          <a:prstGeom prst="rect">
            <a:avLst/>
          </a:prstGeom>
          <a:noFill/>
        </p:spPr>
        <p:txBody>
          <a:bodyPr wrap="square" lIns="0" tIns="0" rIns="0" bIns="0">
            <a:spAutoFit/>
          </a:bodyPr>
          <a:lstStyle/>
          <a:p>
            <a:pPr>
              <a:spcAft>
                <a:spcPts val="400"/>
              </a:spcAft>
              <a:defRPr sz="1150">
                <a:solidFill>
                  <a:srgbClr val="1E293B"/>
                </a:solidFill>
                <a:latin typeface="Arial"/>
              </a:defRPr>
            </a:pPr>
            <a:r>
              <a:rPr b="1">
                <a:solidFill>
                  <a:srgbClr val="00205B"/>
                </a:solidFill>
              </a:rPr>
              <a:t>• Chuẩn hóa Model Context Protocol: </a:t>
            </a:r>
            <a:r>
              <a:rPr b="0">
                <a:solidFill>
                  <a:srgbClr val="1E293B"/>
                </a:solidFill>
              </a:rPr>
              <a:t>Chạy tiến trình con qua Stdio JSON-RPC an toàn.</a:t>
            </a:r>
          </a:p>
          <a:p>
            <a:pPr>
              <a:spcAft>
                <a:spcPts val="400"/>
              </a:spcAft>
              <a:defRPr sz="1150">
                <a:solidFill>
                  <a:srgbClr val="1E293B"/>
                </a:solidFill>
                <a:latin typeface="Arial"/>
              </a:defRPr>
            </a:pPr>
            <a:r>
              <a:rPr b="1">
                <a:solidFill>
                  <a:srgbClr val="00205B"/>
                </a:solidFill>
              </a:rPr>
              <a:t>• Cô lập chứng thực: </a:t>
            </a:r>
            <a:r>
              <a:rPr b="0">
                <a:solidFill>
                  <a:srgbClr val="1E293B"/>
                </a:solidFill>
              </a:rPr>
              <a:t>Agent hoàn toàn không biết host, port, user hay password CSDL.</a:t>
            </a:r>
          </a:p>
          <a:p>
            <a:pPr>
              <a:spcAft>
                <a:spcPts val="400"/>
              </a:spcAft>
              <a:defRPr sz="1150">
                <a:solidFill>
                  <a:srgbClr val="1E293B"/>
                </a:solidFill>
                <a:latin typeface="Arial"/>
              </a:defRPr>
            </a:pPr>
            <a:r>
              <a:rPr b="1">
                <a:solidFill>
                  <a:srgbClr val="00205B"/>
                </a:solidFill>
              </a:rPr>
              <a:t>• Công cụ duy nhất: </a:t>
            </a:r>
            <a:r>
              <a:rPr b="0">
                <a:solidFill>
                  <a:srgbClr val="1E293B"/>
                </a:solidFill>
              </a:rPr>
              <a:t>execute_query_read_only (kèm tool schema metadata).</a:t>
            </a:r>
          </a:p>
          <a:p>
            <a:pPr>
              <a:spcAft>
                <a:spcPts val="400"/>
              </a:spcAft>
              <a:defRPr sz="1150">
                <a:solidFill>
                  <a:srgbClr val="1E293B"/>
                </a:solidFill>
                <a:latin typeface="Arial"/>
              </a:defRPr>
            </a:pPr>
            <a:r>
              <a:rPr b="1">
                <a:solidFill>
                  <a:srgbClr val="00205B"/>
                </a:solidFill>
              </a:rPr>
              <a:t>• Khóa cứng hạ tầng: </a:t>
            </a:r>
            <a:r>
              <a:rPr b="0">
                <a:solidFill>
                  <a:srgbClr val="1E293B"/>
                </a:solidFill>
              </a:rPr>
              <a:t>ALLOW_WRITE_QUERIES=false; Semaphore MAX_CONCURRENT=1.</a:t>
            </a:r>
          </a:p>
        </p:txBody>
      </p:sp>
      <p:sp>
        <p:nvSpPr>
          <p:cNvPr id="16" name="Rounded Rectangle 15"/>
          <p:cNvSpPr/>
          <p:nvPr/>
        </p:nvSpPr>
        <p:spPr>
          <a:xfrm>
            <a:off x="6202375" y="3931920"/>
            <a:ext cx="5257800" cy="22402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02375" y="3931920"/>
            <a:ext cx="5257800" cy="365760"/>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00" b="1">
                <a:solidFill>
                  <a:srgbClr val="FFFFFF"/>
                </a:solidFill>
                <a:latin typeface="Arial"/>
              </a:defRPr>
            </a:pPr>
            <a:r>
              <a:t>4. FEDERATED DATA INFRASTRUCTURE (21 BẢNG / DOCKER)</a:t>
            </a:r>
          </a:p>
        </p:txBody>
      </p:sp>
      <p:sp>
        <p:nvSpPr>
          <p:cNvPr id="18" name="TextBox 17"/>
          <p:cNvSpPr txBox="1"/>
          <p:nvPr/>
        </p:nvSpPr>
        <p:spPr>
          <a:xfrm>
            <a:off x="6339535" y="4352544"/>
            <a:ext cx="4983480" cy="1764792"/>
          </a:xfrm>
          <a:prstGeom prst="rect">
            <a:avLst/>
          </a:prstGeom>
          <a:noFill/>
        </p:spPr>
        <p:txBody>
          <a:bodyPr wrap="square" lIns="0" tIns="0" rIns="0" bIns="0">
            <a:spAutoFit/>
          </a:bodyPr>
          <a:lstStyle/>
          <a:p>
            <a:pPr>
              <a:spcAft>
                <a:spcPts val="400"/>
              </a:spcAft>
              <a:defRPr sz="1150">
                <a:solidFill>
                  <a:srgbClr val="1E293B"/>
                </a:solidFill>
                <a:latin typeface="Arial"/>
              </a:defRPr>
            </a:pPr>
            <a:r>
              <a:rPr b="1">
                <a:solidFill>
                  <a:srgbClr val="00205B"/>
                </a:solidFill>
              </a:rPr>
              <a:t>• PostgreSQL 16 (analytics_db): </a:t>
            </a:r>
            <a:r>
              <a:rPr b="0">
                <a:solidFill>
                  <a:srgbClr val="1E293B"/>
                </a:solidFill>
              </a:rPr>
              <a:t>13 bảng Core ERP / Finance (hr_payroll, api_keys, orders...).</a:t>
            </a:r>
          </a:p>
          <a:p>
            <a:pPr>
              <a:spcAft>
                <a:spcPts val="400"/>
              </a:spcAft>
              <a:defRPr sz="1150">
                <a:solidFill>
                  <a:srgbClr val="1E293B"/>
                </a:solidFill>
                <a:latin typeface="Arial"/>
              </a:defRPr>
            </a:pPr>
            <a:r>
              <a:rPr b="1">
                <a:solidFill>
                  <a:srgbClr val="00205B"/>
                </a:solidFill>
              </a:rPr>
              <a:t>• MySQL 8.4 (agentic_bi): </a:t>
            </a:r>
            <a:r>
              <a:rPr b="0">
                <a:solidFill>
                  <a:srgbClr val="1E293B"/>
                </a:solidFill>
              </a:rPr>
              <a:t>8 bảng Portal / Audit / Memory (support_tickets, query_history...).</a:t>
            </a:r>
          </a:p>
          <a:p>
            <a:pPr>
              <a:spcAft>
                <a:spcPts val="400"/>
              </a:spcAft>
              <a:defRPr sz="1150">
                <a:solidFill>
                  <a:srgbClr val="1E293B"/>
                </a:solidFill>
                <a:latin typeface="Arial"/>
              </a:defRPr>
            </a:pPr>
            <a:r>
              <a:rPr b="1">
                <a:solidFill>
                  <a:srgbClr val="00205B"/>
                </a:solidFill>
              </a:rPr>
              <a:t>• Trino Coordinator Engine: </a:t>
            </a:r>
            <a:r>
              <a:rPr b="0">
                <a:solidFill>
                  <a:srgbClr val="1E293B"/>
                </a:solidFill>
              </a:rPr>
              <a:t>Điểm truy cập duy nhất, hỗ trợ Federated Cross-DB JOIN.</a:t>
            </a:r>
          </a:p>
          <a:p>
            <a:pPr>
              <a:spcAft>
                <a:spcPts val="400"/>
              </a:spcAft>
              <a:defRPr sz="1150">
                <a:solidFill>
                  <a:srgbClr val="1E293B"/>
                </a:solidFill>
                <a:latin typeface="Arial"/>
              </a:defRPr>
            </a:pPr>
            <a:r>
              <a:rPr b="1">
                <a:solidFill>
                  <a:srgbClr val="00205B"/>
                </a:solidFill>
              </a:rPr>
              <a:t>• Mạng nội bộ: </a:t>
            </a:r>
            <a:r>
              <a:rPr b="0">
                <a:solidFill>
                  <a:srgbClr val="1E293B"/>
                </a:solidFill>
              </a:rPr>
              <a:t>Cách ly hoàn toàn trong mạng Docker bi-network.</a:t>
            </a:r>
          </a:p>
        </p:txBody>
      </p:sp>
      <p:sp>
        <p:nvSpPr>
          <p:cNvPr id="19" name="Rectangle 18"/>
          <p:cNvSpPr/>
          <p:nvPr/>
        </p:nvSpPr>
        <p:spPr>
          <a:xfrm>
            <a:off x="731520" y="6419088"/>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6455664"/>
            <a:ext cx="8229600" cy="256032"/>
          </a:xfrm>
          <a:prstGeom prst="rect">
            <a:avLst/>
          </a:prstGeom>
          <a:noFill/>
        </p:spPr>
        <p:txBody>
          <a:bodyPr wrap="square" lIns="0" tIns="0" rIns="0" bIns="0">
            <a:spAutoFit/>
          </a:bodyPr>
          <a:lstStyle/>
          <a:p>
            <a:pPr>
              <a:defRPr sz="1050">
                <a:solidFill>
                  <a:srgbClr val="94A3B8"/>
                </a:solidFill>
                <a:latin typeface="Arial"/>
              </a:defRPr>
            </a:pPr>
            <a:r>
              <a:t>Secure Agentic BI Framework | Checkpoint D2 | Khoa KH&amp;KT Máy tính - ĐH Bách Khoa TP.HCM</a:t>
            </a:r>
          </a:p>
        </p:txBody>
      </p:sp>
      <p:sp>
        <p:nvSpPr>
          <p:cNvPr id="21" name="TextBox 20"/>
          <p:cNvSpPr txBox="1"/>
          <p:nvPr/>
        </p:nvSpPr>
        <p:spPr>
          <a:xfrm>
            <a:off x="9144000" y="6455664"/>
            <a:ext cx="2316175" cy="256032"/>
          </a:xfrm>
          <a:prstGeom prst="rect">
            <a:avLst/>
          </a:prstGeom>
          <a:noFill/>
        </p:spPr>
        <p:txBody>
          <a:bodyPr wrap="square" lIns="0" tIns="0" rIns="0" bIns="0">
            <a:spAutoFit/>
          </a:bodyPr>
          <a:lstStyle/>
          <a:p>
            <a:pPr algn="r">
              <a:defRPr sz="1100" b="1">
                <a:solidFill>
                  <a:srgbClr val="00205B"/>
                </a:solidFill>
                <a:latin typeface="Arial"/>
              </a:defRPr>
            </a:pPr>
            <a:r>
              <a:t>Slide 05 / 14</a:t>
            </a:r>
          </a:p>
        </p:txBody>
      </p:sp>
      <p:pic>
        <p:nvPicPr>
          <p:cNvPr id="22" name="Picture 21" descr="X6.png">
            <a:extLst>
              <a:ext uri="{FF2B5EF4-FFF2-40B4-BE49-F238E27FC236}">
                <a16:creationId xmlns:a16="http://schemas.microsoft.com/office/drawing/2014/main" id="{D60D83E2-1E67-1536-2454-35FBD4F69F79}"/>
              </a:ext>
            </a:extLst>
          </p:cNvPr>
          <p:cNvPicPr>
            <a:picLocks noChangeAspect="1"/>
          </p:cNvPicPr>
          <p:nvPr/>
        </p:nvPicPr>
        <p:blipFill>
          <a:blip r:embed="rId3"/>
          <a:stretch>
            <a:fillRect/>
          </a:stretch>
        </p:blipFill>
        <p:spPr>
          <a:xfrm>
            <a:off x="11457432" y="75268"/>
            <a:ext cx="594360" cy="59927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56032"/>
            <a:ext cx="10728655" cy="256032"/>
          </a:xfrm>
          <a:prstGeom prst="rect">
            <a:avLst/>
          </a:prstGeom>
          <a:noFill/>
        </p:spPr>
        <p:txBody>
          <a:bodyPr wrap="square" lIns="0" tIns="0" rIns="0" bIns="0">
            <a:spAutoFit/>
          </a:bodyPr>
          <a:lstStyle/>
          <a:p>
            <a:pPr>
              <a:defRPr sz="1300" b="1">
                <a:solidFill>
                  <a:srgbClr val="0070AD"/>
                </a:solidFill>
                <a:latin typeface="Arial"/>
              </a:defRPr>
            </a:pPr>
            <a:r>
              <a:t>PHẦN 2: KIẾN TRÚC HỆ THỐNG</a:t>
            </a:r>
          </a:p>
        </p:txBody>
      </p:sp>
      <p:sp>
        <p:nvSpPr>
          <p:cNvPr id="4" name="TextBox 3"/>
          <p:cNvSpPr txBox="1"/>
          <p:nvPr/>
        </p:nvSpPr>
        <p:spPr>
          <a:xfrm>
            <a:off x="731520" y="493776"/>
            <a:ext cx="10728655" cy="502920"/>
          </a:xfrm>
          <a:prstGeom prst="rect">
            <a:avLst/>
          </a:prstGeom>
          <a:noFill/>
        </p:spPr>
        <p:txBody>
          <a:bodyPr wrap="square" lIns="0" tIns="0" rIns="0" bIns="0">
            <a:spAutoFit/>
          </a:bodyPr>
          <a:lstStyle/>
          <a:p>
            <a:pPr>
              <a:defRPr sz="2400" b="1">
                <a:solidFill>
                  <a:srgbClr val="00205B"/>
                </a:solidFill>
                <a:latin typeface="Arial"/>
              </a:defRPr>
            </a:pPr>
            <a:r>
              <a:t>Vòng Điều Khiển 6 Bước &amp; Vết Thực Thi Thực Tế (Execution Trace)</a:t>
            </a:r>
          </a:p>
        </p:txBody>
      </p:sp>
      <p:sp>
        <p:nvSpPr>
          <p:cNvPr id="5" name="TextBox 4"/>
          <p:cNvSpPr txBox="1"/>
          <p:nvPr/>
        </p:nvSpPr>
        <p:spPr>
          <a:xfrm>
            <a:off x="731520" y="1005840"/>
            <a:ext cx="10728655" cy="347472"/>
          </a:xfrm>
          <a:prstGeom prst="rect">
            <a:avLst/>
          </a:prstGeom>
          <a:noFill/>
        </p:spPr>
        <p:txBody>
          <a:bodyPr wrap="square" lIns="0" tIns="0" rIns="0" bIns="0">
            <a:spAutoFit/>
          </a:bodyPr>
          <a:lstStyle/>
          <a:p>
            <a:pPr>
              <a:defRPr sz="1350" i="1">
                <a:solidFill>
                  <a:srgbClr val="64748B"/>
                </a:solidFill>
                <a:latin typeface="Arial"/>
              </a:defRPr>
            </a:pPr>
            <a:r>
              <a:t>Mọi yêu cầu đàm thoại đều bắt buộc vượt qua 6 chốt kiểm soát khép kín; tổng thời gian phản hồi thực tế đạt 1.95s.</a:t>
            </a:r>
          </a:p>
        </p:txBody>
      </p:sp>
      <p:sp>
        <p:nvSpPr>
          <p:cNvPr id="6" name="Rectangle 5"/>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508760"/>
            <a:ext cx="1664208" cy="1508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508760"/>
            <a:ext cx="1664208" cy="347472"/>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100" b="1">
                <a:solidFill>
                  <a:srgbClr val="FFFFFF"/>
                </a:solidFill>
                <a:latin typeface="Arial"/>
              </a:defRPr>
            </a:pPr>
            <a:r>
              <a:t>B1: RBAC Lookup</a:t>
            </a:r>
          </a:p>
        </p:txBody>
      </p:sp>
      <p:sp>
        <p:nvSpPr>
          <p:cNvPr id="9" name="TextBox 8"/>
          <p:cNvSpPr txBox="1"/>
          <p:nvPr/>
        </p:nvSpPr>
        <p:spPr>
          <a:xfrm>
            <a:off x="804672" y="1892808"/>
            <a:ext cx="1517904" cy="1088136"/>
          </a:xfrm>
          <a:prstGeom prst="rect">
            <a:avLst/>
          </a:prstGeom>
          <a:noFill/>
        </p:spPr>
        <p:txBody>
          <a:bodyPr wrap="square" lIns="0" tIns="0" rIns="0" bIns="0">
            <a:spAutoFit/>
          </a:bodyPr>
          <a:lstStyle/>
          <a:p>
            <a:pPr>
              <a:defRPr sz="1050">
                <a:solidFill>
                  <a:srgbClr val="1E293B"/>
                </a:solidFill>
                <a:latin typeface="Arial"/>
              </a:defRPr>
            </a:pPr>
            <a:r>
              <a:t>Xác thực vai trò (analyst, sales...); nạp whitelist bảng được phép truy cập.</a:t>
            </a:r>
          </a:p>
        </p:txBody>
      </p:sp>
      <p:sp>
        <p:nvSpPr>
          <p:cNvPr id="10" name="Rounded Rectangle 9"/>
          <p:cNvSpPr/>
          <p:nvPr/>
        </p:nvSpPr>
        <p:spPr>
          <a:xfrm>
            <a:off x="2542032" y="1508760"/>
            <a:ext cx="1664208" cy="1508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42032" y="1508760"/>
            <a:ext cx="1664208" cy="347472"/>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100" b="1">
                <a:solidFill>
                  <a:srgbClr val="FFFFFF"/>
                </a:solidFill>
                <a:latin typeface="Arial"/>
              </a:defRPr>
            </a:pPr>
            <a:r>
              <a:t>B2: Schema Filter</a:t>
            </a:r>
          </a:p>
        </p:txBody>
      </p:sp>
      <p:sp>
        <p:nvSpPr>
          <p:cNvPr id="12" name="TextBox 11"/>
          <p:cNvSpPr txBox="1"/>
          <p:nvPr/>
        </p:nvSpPr>
        <p:spPr>
          <a:xfrm>
            <a:off x="2615184" y="1892808"/>
            <a:ext cx="1517904" cy="1088136"/>
          </a:xfrm>
          <a:prstGeom prst="rect">
            <a:avLst/>
          </a:prstGeom>
          <a:noFill/>
        </p:spPr>
        <p:txBody>
          <a:bodyPr wrap="square" lIns="0" tIns="0" rIns="0" bIns="0">
            <a:spAutoFit/>
          </a:bodyPr>
          <a:lstStyle/>
          <a:p>
            <a:pPr>
              <a:defRPr sz="1050">
                <a:solidFill>
                  <a:srgbClr val="1E293B"/>
                </a:solidFill>
                <a:latin typeface="Arial"/>
              </a:defRPr>
            </a:pPr>
            <a:r>
              <a:t>Cắt tỉa metadata; chỉ tiêm schema các bảng được phép cho LLM.</a:t>
            </a:r>
          </a:p>
        </p:txBody>
      </p:sp>
      <p:sp>
        <p:nvSpPr>
          <p:cNvPr id="13" name="Rounded Rectangle 12"/>
          <p:cNvSpPr/>
          <p:nvPr/>
        </p:nvSpPr>
        <p:spPr>
          <a:xfrm>
            <a:off x="4352544" y="1508760"/>
            <a:ext cx="1664208" cy="1508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52544" y="1508760"/>
            <a:ext cx="1664208" cy="347472"/>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100" b="1">
                <a:solidFill>
                  <a:srgbClr val="FFFFFF"/>
                </a:solidFill>
                <a:latin typeface="Arial"/>
              </a:defRPr>
            </a:pPr>
            <a:r>
              <a:t>B3: Neural Planning</a:t>
            </a:r>
          </a:p>
        </p:txBody>
      </p:sp>
      <p:sp>
        <p:nvSpPr>
          <p:cNvPr id="15" name="TextBox 14"/>
          <p:cNvSpPr txBox="1"/>
          <p:nvPr/>
        </p:nvSpPr>
        <p:spPr>
          <a:xfrm>
            <a:off x="4425696" y="1892808"/>
            <a:ext cx="1517904" cy="1088136"/>
          </a:xfrm>
          <a:prstGeom prst="rect">
            <a:avLst/>
          </a:prstGeom>
          <a:noFill/>
        </p:spPr>
        <p:txBody>
          <a:bodyPr wrap="square" lIns="0" tIns="0" rIns="0" bIns="0">
            <a:spAutoFit/>
          </a:bodyPr>
          <a:lstStyle/>
          <a:p>
            <a:pPr>
              <a:defRPr sz="1050">
                <a:solidFill>
                  <a:srgbClr val="1E293B"/>
                </a:solidFill>
                <a:latin typeface="Arial"/>
              </a:defRPr>
            </a:pPr>
            <a:r>
              <a:t>Gemini 2.5 Flash sinh JSON Tool Call: execute_query_read_only.</a:t>
            </a:r>
          </a:p>
        </p:txBody>
      </p:sp>
      <p:sp>
        <p:nvSpPr>
          <p:cNvPr id="16" name="Rounded Rectangle 15"/>
          <p:cNvSpPr/>
          <p:nvPr/>
        </p:nvSpPr>
        <p:spPr>
          <a:xfrm>
            <a:off x="6163056" y="1508760"/>
            <a:ext cx="1664208" cy="1508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63056" y="1508760"/>
            <a:ext cx="1664208" cy="347472"/>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100" b="1">
                <a:solidFill>
                  <a:srgbClr val="FFFFFF"/>
                </a:solidFill>
                <a:latin typeface="Arial"/>
              </a:defRPr>
            </a:pPr>
            <a:r>
              <a:t>B4: AST Guardrail</a:t>
            </a:r>
          </a:p>
        </p:txBody>
      </p:sp>
      <p:sp>
        <p:nvSpPr>
          <p:cNvPr id="18" name="TextBox 17"/>
          <p:cNvSpPr txBox="1"/>
          <p:nvPr/>
        </p:nvSpPr>
        <p:spPr>
          <a:xfrm>
            <a:off x="6236208" y="1892808"/>
            <a:ext cx="1517904" cy="1088136"/>
          </a:xfrm>
          <a:prstGeom prst="rect">
            <a:avLst/>
          </a:prstGeom>
          <a:noFill/>
        </p:spPr>
        <p:txBody>
          <a:bodyPr wrap="square" lIns="0" tIns="0" rIns="0" bIns="0">
            <a:spAutoFit/>
          </a:bodyPr>
          <a:lstStyle/>
          <a:p>
            <a:pPr>
              <a:defRPr sz="1050">
                <a:solidFill>
                  <a:srgbClr val="1E293B"/>
                </a:solidFill>
                <a:latin typeface="Arial"/>
              </a:defRPr>
            </a:pPr>
            <a:r>
              <a:t>sqlglot kiểm tra: cấm DDL/DML, cấm ;, cấm JOIN Cartesian, cấm đệ quy.</a:t>
            </a:r>
          </a:p>
        </p:txBody>
      </p:sp>
      <p:sp>
        <p:nvSpPr>
          <p:cNvPr id="19" name="Rounded Rectangle 18"/>
          <p:cNvSpPr/>
          <p:nvPr/>
        </p:nvSpPr>
        <p:spPr>
          <a:xfrm>
            <a:off x="7973568" y="1508760"/>
            <a:ext cx="1664208" cy="1508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973568" y="1508760"/>
            <a:ext cx="1664208" cy="347472"/>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100" b="1">
                <a:solidFill>
                  <a:srgbClr val="FFFFFF"/>
                </a:solidFill>
                <a:latin typeface="Arial"/>
              </a:defRPr>
            </a:pPr>
            <a:r>
              <a:t>B5: Reflexion &amp; MCP</a:t>
            </a:r>
          </a:p>
        </p:txBody>
      </p:sp>
      <p:sp>
        <p:nvSpPr>
          <p:cNvPr id="21" name="TextBox 20"/>
          <p:cNvSpPr txBox="1"/>
          <p:nvPr/>
        </p:nvSpPr>
        <p:spPr>
          <a:xfrm>
            <a:off x="8046720" y="1892808"/>
            <a:ext cx="1517904" cy="1088136"/>
          </a:xfrm>
          <a:prstGeom prst="rect">
            <a:avLst/>
          </a:prstGeom>
          <a:noFill/>
        </p:spPr>
        <p:txBody>
          <a:bodyPr wrap="square" lIns="0" tIns="0" rIns="0" bIns="0">
            <a:spAutoFit/>
          </a:bodyPr>
          <a:lstStyle/>
          <a:p>
            <a:pPr>
              <a:defRPr sz="1050">
                <a:solidFill>
                  <a:srgbClr val="1E293B"/>
                </a:solidFill>
                <a:latin typeface="Arial"/>
              </a:defRPr>
            </a:pPr>
            <a:r>
              <a:t>Thực thi Trino kèm Circuit Breaker 5s. Nếu lỗi -&gt; Tự sửa lỗi &lt;= 3 lần.</a:t>
            </a:r>
          </a:p>
        </p:txBody>
      </p:sp>
      <p:sp>
        <p:nvSpPr>
          <p:cNvPr id="22" name="Rounded Rectangle 21"/>
          <p:cNvSpPr/>
          <p:nvPr/>
        </p:nvSpPr>
        <p:spPr>
          <a:xfrm>
            <a:off x="9784080" y="1508760"/>
            <a:ext cx="1664208" cy="1508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784080" y="1508760"/>
            <a:ext cx="1664208" cy="347472"/>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100" b="1">
                <a:solidFill>
                  <a:srgbClr val="FFFFFF"/>
                </a:solidFill>
                <a:latin typeface="Arial"/>
              </a:defRPr>
            </a:pPr>
            <a:r>
              <a:t>B6: Taint Filter</a:t>
            </a:r>
          </a:p>
        </p:txBody>
      </p:sp>
      <p:sp>
        <p:nvSpPr>
          <p:cNvPr id="24" name="TextBox 23"/>
          <p:cNvSpPr txBox="1"/>
          <p:nvPr/>
        </p:nvSpPr>
        <p:spPr>
          <a:xfrm>
            <a:off x="9857232" y="1892808"/>
            <a:ext cx="1517904" cy="1088136"/>
          </a:xfrm>
          <a:prstGeom prst="rect">
            <a:avLst/>
          </a:prstGeom>
          <a:noFill/>
        </p:spPr>
        <p:txBody>
          <a:bodyPr wrap="square" lIns="0" tIns="0" rIns="0" bIns="0">
            <a:spAutoFit/>
          </a:bodyPr>
          <a:lstStyle/>
          <a:p>
            <a:pPr>
              <a:defRPr sz="1050">
                <a:solidFill>
                  <a:srgbClr val="1E293B"/>
                </a:solidFill>
                <a:latin typeface="Arial"/>
              </a:defRPr>
            </a:pPr>
            <a:r>
              <a:t>Đóng băng dữ liệu thô (Passive Text); Gemini tổng hợp báo cáo an toàn.</a:t>
            </a:r>
          </a:p>
        </p:txBody>
      </p:sp>
      <p:sp>
        <p:nvSpPr>
          <p:cNvPr id="25" name="Rounded Rectangle 24"/>
          <p:cNvSpPr/>
          <p:nvPr/>
        </p:nvSpPr>
        <p:spPr>
          <a:xfrm>
            <a:off x="731520" y="3246120"/>
            <a:ext cx="10728655" cy="2971800"/>
          </a:xfrm>
          <a:prstGeom prst="roundRect">
            <a:avLst/>
          </a:prstGeom>
          <a:solidFill>
            <a:srgbClr val="F8FAFC"/>
          </a:solidFill>
          <a:ln w="12700">
            <a:solidFill>
              <a:srgbClr val="BAD7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31520" y="3246120"/>
            <a:ext cx="10728655" cy="384048"/>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00" b="1">
                <a:solidFill>
                  <a:srgbClr val="FFFFFF"/>
                </a:solidFill>
                <a:latin typeface="Arial"/>
              </a:defRPr>
            </a:pPr>
            <a:r>
              <a:t>VẾT THỰC THI THỰC TẾ (REAL EXECUTION TRACE): "Thống kê doanh thu theo Category" (Role: Analyst)</a:t>
            </a:r>
          </a:p>
        </p:txBody>
      </p:sp>
      <p:sp>
        <p:nvSpPr>
          <p:cNvPr id="27" name="TextBox 26"/>
          <p:cNvSpPr txBox="1"/>
          <p:nvPr/>
        </p:nvSpPr>
        <p:spPr>
          <a:xfrm>
            <a:off x="914400" y="3675887"/>
            <a:ext cx="7772400" cy="2468880"/>
          </a:xfrm>
          <a:prstGeom prst="rect">
            <a:avLst/>
          </a:prstGeom>
          <a:noFill/>
        </p:spPr>
        <p:txBody>
          <a:bodyPr wrap="square" lIns="0" tIns="0" rIns="0" bIns="0">
            <a:spAutoFit/>
          </a:bodyPr>
          <a:lstStyle/>
          <a:p>
            <a:pPr>
              <a:spcAft>
                <a:spcPts val="600"/>
              </a:spcAft>
              <a:defRPr sz="1150">
                <a:solidFill>
                  <a:srgbClr val="1E293B"/>
                </a:solidFill>
                <a:latin typeface="Arial"/>
              </a:defRPr>
            </a:pPr>
            <a:r>
              <a:rPr b="1">
                <a:solidFill>
                  <a:srgbClr val="00205B"/>
                </a:solidFill>
              </a:rPr>
              <a:t>• Bước 1 &amp; 2 (0.16s) — RBAC &amp; Schema Filter: </a:t>
            </a:r>
            <a:r>
              <a:rPr b="0">
                <a:solidFill>
                  <a:srgbClr val="1E293B"/>
                </a:solidFill>
              </a:rPr>
              <a:t>Xác định Role analyst; tự động giấu bảng lương hr_payroll và api_keys_config; chỉ nạp 7 bảng cho phép vào context window.</a:t>
            </a:r>
          </a:p>
          <a:p>
            <a:pPr>
              <a:spcAft>
                <a:spcPts val="600"/>
              </a:spcAft>
              <a:defRPr sz="1150">
                <a:solidFill>
                  <a:srgbClr val="1E293B"/>
                </a:solidFill>
                <a:latin typeface="Arial"/>
              </a:defRPr>
            </a:pPr>
            <a:r>
              <a:rPr b="1">
                <a:solidFill>
                  <a:srgbClr val="00205B"/>
                </a:solidFill>
              </a:rPr>
              <a:t>• Bước 3 (0.95s) — Neural Planning: </a:t>
            </a:r>
            <a:r>
              <a:rPr b="0">
                <a:solidFill>
                  <a:srgbClr val="1E293B"/>
                </a:solidFill>
              </a:rPr>
              <a:t>Gemini 2.5 Flash sinh SQL JOIN 4 bảng: categories, products, orders, order_items với hàm tính SUM(price * quantity).</a:t>
            </a:r>
          </a:p>
          <a:p>
            <a:pPr>
              <a:spcAft>
                <a:spcPts val="600"/>
              </a:spcAft>
              <a:defRPr sz="1150">
                <a:solidFill>
                  <a:srgbClr val="1E293B"/>
                </a:solidFill>
                <a:latin typeface="Arial"/>
              </a:defRPr>
            </a:pPr>
            <a:r>
              <a:rPr b="1">
                <a:solidFill>
                  <a:srgbClr val="00205B"/>
                </a:solidFill>
              </a:rPr>
              <a:t>• Bước 4 (0.02s) — Symbolic AST Guardrail: </a:t>
            </a:r>
            <a:r>
              <a:rPr b="0">
                <a:solidFill>
                  <a:srgbClr val="1E293B"/>
                </a:solidFill>
              </a:rPr>
              <a:t>sqlglot phân tích cây cú pháp trong 0.02s: xác nhận root node exp.Select, các phép JOIN có điều kiện ON, 4 bảng nằm trong whitelist -&gt; PASSED.</a:t>
            </a:r>
          </a:p>
          <a:p>
            <a:pPr>
              <a:spcAft>
                <a:spcPts val="600"/>
              </a:spcAft>
              <a:defRPr sz="1150">
                <a:solidFill>
                  <a:srgbClr val="1E293B"/>
                </a:solidFill>
                <a:latin typeface="Arial"/>
              </a:defRPr>
            </a:pPr>
            <a:r>
              <a:rPr b="1">
                <a:solidFill>
                  <a:srgbClr val="00205B"/>
                </a:solidFill>
              </a:rPr>
              <a:t>• Bước 5 (0.35s) — Reflexion &amp; Trino MCP: </a:t>
            </a:r>
            <a:r>
              <a:rPr b="0">
                <a:solidFill>
                  <a:srgbClr val="1E293B"/>
                </a:solidFill>
              </a:rPr>
              <a:t>Trino thực thi liên kết hai CSDL trong 0.35s (dưới ngưỡng Circuit Breaker 5.0s), trả về 4 dòng dữ liệu doanh thu chính xác.</a:t>
            </a:r>
          </a:p>
          <a:p>
            <a:pPr>
              <a:spcAft>
                <a:spcPts val="600"/>
              </a:spcAft>
              <a:defRPr sz="1150">
                <a:solidFill>
                  <a:srgbClr val="1E293B"/>
                </a:solidFill>
                <a:latin typeface="Arial"/>
              </a:defRPr>
            </a:pPr>
            <a:r>
              <a:rPr b="1">
                <a:solidFill>
                  <a:srgbClr val="00205B"/>
                </a:solidFill>
              </a:rPr>
              <a:t>• Bước 6 (0.47s) — Taint Filter &amp; Synthesis: </a:t>
            </a:r>
            <a:r>
              <a:rPr b="0">
                <a:solidFill>
                  <a:srgbClr val="1E293B"/>
                </a:solidFill>
              </a:rPr>
              <a:t>Taint Filter cách ly dữ liệu thô thành Passive Text; Gemini tổng hợp bảng markdown chuyên nghiệp.</a:t>
            </a:r>
          </a:p>
        </p:txBody>
      </p:sp>
      <p:sp>
        <p:nvSpPr>
          <p:cNvPr id="28" name="Rounded Rectangle 27"/>
          <p:cNvSpPr/>
          <p:nvPr/>
        </p:nvSpPr>
        <p:spPr>
          <a:xfrm>
            <a:off x="8961120" y="3749039"/>
            <a:ext cx="2286000" cy="2286000"/>
          </a:xfrm>
          <a:prstGeom prst="roundRect">
            <a:avLst/>
          </a:prstGeom>
          <a:solidFill>
            <a:srgbClr val="FFFFFF"/>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034272" y="3803903"/>
            <a:ext cx="2139696" cy="2176272"/>
          </a:xfrm>
          <a:prstGeom prst="rect">
            <a:avLst/>
          </a:prstGeom>
          <a:noFill/>
        </p:spPr>
        <p:txBody>
          <a:bodyPr wrap="square" lIns="0" tIns="0" rIns="0" bIns="0">
            <a:spAutoFit/>
          </a:bodyPr>
          <a:lstStyle/>
          <a:p>
            <a:pPr algn="ctr">
              <a:defRPr sz="3200" b="1">
                <a:solidFill>
                  <a:srgbClr val="16A34A"/>
                </a:solidFill>
                <a:latin typeface="Arial"/>
              </a:defRPr>
            </a:pPr>
            <a:r>
              <a:t>1.95s</a:t>
            </a:r>
          </a:p>
          <a:p>
            <a:pPr algn="ctr">
              <a:spcBef>
                <a:spcPts val="300"/>
              </a:spcBef>
              <a:defRPr sz="1300" b="1">
                <a:solidFill>
                  <a:srgbClr val="1E293B"/>
                </a:solidFill>
                <a:latin typeface="Arial"/>
              </a:defRPr>
            </a:pPr>
            <a:r>
              <a:t>TỔNG ĐỘ TRỄ THỰC TẾ</a:t>
            </a:r>
          </a:p>
          <a:p>
            <a:pPr algn="ctr">
              <a:spcBef>
                <a:spcPts val="200"/>
              </a:spcBef>
              <a:defRPr sz="1100">
                <a:solidFill>
                  <a:srgbClr val="64748B"/>
                </a:solidFill>
                <a:latin typeface="Arial"/>
              </a:defRPr>
            </a:pPr>
            <a:r>
              <a:t>Toàn bộ chu trình 6 bước khép kín</a:t>
            </a:r>
          </a:p>
        </p:txBody>
      </p:sp>
      <p:sp>
        <p:nvSpPr>
          <p:cNvPr id="30" name="Rectangle 29"/>
          <p:cNvSpPr/>
          <p:nvPr/>
        </p:nvSpPr>
        <p:spPr>
          <a:xfrm>
            <a:off x="731520" y="6419088"/>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1520" y="6455664"/>
            <a:ext cx="8229600" cy="256032"/>
          </a:xfrm>
          <a:prstGeom prst="rect">
            <a:avLst/>
          </a:prstGeom>
          <a:noFill/>
        </p:spPr>
        <p:txBody>
          <a:bodyPr wrap="square" lIns="0" tIns="0" rIns="0" bIns="0">
            <a:spAutoFit/>
          </a:bodyPr>
          <a:lstStyle/>
          <a:p>
            <a:pPr>
              <a:defRPr sz="1050">
                <a:solidFill>
                  <a:srgbClr val="94A3B8"/>
                </a:solidFill>
                <a:latin typeface="Arial"/>
              </a:defRPr>
            </a:pPr>
            <a:r>
              <a:t>Secure Agentic BI Framework | Checkpoint D2 | Khoa KH&amp;KT Máy tính - ĐH Bách Khoa TP.HCM</a:t>
            </a:r>
          </a:p>
        </p:txBody>
      </p:sp>
      <p:sp>
        <p:nvSpPr>
          <p:cNvPr id="32" name="TextBox 31"/>
          <p:cNvSpPr txBox="1"/>
          <p:nvPr/>
        </p:nvSpPr>
        <p:spPr>
          <a:xfrm>
            <a:off x="9144000" y="6455664"/>
            <a:ext cx="2316175" cy="256032"/>
          </a:xfrm>
          <a:prstGeom prst="rect">
            <a:avLst/>
          </a:prstGeom>
          <a:noFill/>
        </p:spPr>
        <p:txBody>
          <a:bodyPr wrap="square" lIns="0" tIns="0" rIns="0" bIns="0">
            <a:spAutoFit/>
          </a:bodyPr>
          <a:lstStyle/>
          <a:p>
            <a:pPr algn="r">
              <a:defRPr sz="1100" b="1">
                <a:solidFill>
                  <a:srgbClr val="00205B"/>
                </a:solidFill>
                <a:latin typeface="Arial"/>
              </a:defRPr>
            </a:pPr>
            <a:r>
              <a:t>Slide 06 / 14</a:t>
            </a:r>
          </a:p>
        </p:txBody>
      </p:sp>
      <p:pic>
        <p:nvPicPr>
          <p:cNvPr id="33" name="Picture 32" descr="X6.png">
            <a:extLst>
              <a:ext uri="{FF2B5EF4-FFF2-40B4-BE49-F238E27FC236}">
                <a16:creationId xmlns:a16="http://schemas.microsoft.com/office/drawing/2014/main" id="{A3902051-AE71-274B-F15E-F28BEE1B919C}"/>
              </a:ext>
            </a:extLst>
          </p:cNvPr>
          <p:cNvPicPr>
            <a:picLocks noChangeAspect="1"/>
          </p:cNvPicPr>
          <p:nvPr/>
        </p:nvPicPr>
        <p:blipFill>
          <a:blip r:embed="rId3"/>
          <a:stretch>
            <a:fillRect/>
          </a:stretch>
        </p:blipFill>
        <p:spPr>
          <a:xfrm>
            <a:off x="11457432" y="75268"/>
            <a:ext cx="594360" cy="59927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56032"/>
            <a:ext cx="10728655" cy="256032"/>
          </a:xfrm>
          <a:prstGeom prst="rect">
            <a:avLst/>
          </a:prstGeom>
          <a:noFill/>
        </p:spPr>
        <p:txBody>
          <a:bodyPr wrap="square" lIns="0" tIns="0" rIns="0" bIns="0">
            <a:spAutoFit/>
          </a:bodyPr>
          <a:lstStyle/>
          <a:p>
            <a:pPr>
              <a:defRPr sz="1300" b="1">
                <a:solidFill>
                  <a:srgbClr val="0070AD"/>
                </a:solidFill>
                <a:latin typeface="Arial"/>
              </a:defRPr>
            </a:pPr>
            <a:r>
              <a:t>PHẦN 3: CÔNG CỤ &amp; PHÂN QUYỀN (TOOLS &amp; MCP)</a:t>
            </a:r>
          </a:p>
        </p:txBody>
      </p:sp>
      <p:sp>
        <p:nvSpPr>
          <p:cNvPr id="4" name="TextBox 3"/>
          <p:cNvSpPr txBox="1"/>
          <p:nvPr/>
        </p:nvSpPr>
        <p:spPr>
          <a:xfrm>
            <a:off x="731520" y="493776"/>
            <a:ext cx="10728655" cy="502920"/>
          </a:xfrm>
          <a:prstGeom prst="rect">
            <a:avLst/>
          </a:prstGeom>
          <a:noFill/>
        </p:spPr>
        <p:txBody>
          <a:bodyPr wrap="square" lIns="0" tIns="0" rIns="0" bIns="0">
            <a:spAutoFit/>
          </a:bodyPr>
          <a:lstStyle/>
          <a:p>
            <a:pPr>
              <a:defRPr sz="2400" b="1">
                <a:solidFill>
                  <a:srgbClr val="00205B"/>
                </a:solidFill>
                <a:latin typeface="Arial"/>
              </a:defRPr>
            </a:pPr>
            <a:r>
              <a:t>Chuẩn Hóa MCP &amp; Cơ Chế Khóa Cứng Quyền Ghi Ở 2 Tầng</a:t>
            </a:r>
          </a:p>
        </p:txBody>
      </p:sp>
      <p:sp>
        <p:nvSpPr>
          <p:cNvPr id="5" name="TextBox 4"/>
          <p:cNvSpPr txBox="1"/>
          <p:nvPr/>
        </p:nvSpPr>
        <p:spPr>
          <a:xfrm>
            <a:off x="731520" y="1005840"/>
            <a:ext cx="10728655" cy="347472"/>
          </a:xfrm>
          <a:prstGeom prst="rect">
            <a:avLst/>
          </a:prstGeom>
          <a:noFill/>
        </p:spPr>
        <p:txBody>
          <a:bodyPr wrap="square" lIns="0" tIns="0" rIns="0" bIns="0">
            <a:spAutoFit/>
          </a:bodyPr>
          <a:lstStyle/>
          <a:p>
            <a:pPr>
              <a:defRPr sz="1350" i="1">
                <a:solidFill>
                  <a:srgbClr val="64748B"/>
                </a:solidFill>
                <a:latin typeface="Arial"/>
              </a:defRPr>
            </a:pPr>
            <a:r>
              <a:t>Triệt tiêu hoàn toàn khả năng can thiệp phá hoại dữ liệu (DDL/DML) bằng kiến trúc phòng thủ chiều sâu độc lập giữa Tầng Code và Tầng CSDL.</a:t>
            </a:r>
          </a:p>
        </p:txBody>
      </p:sp>
      <p:sp>
        <p:nvSpPr>
          <p:cNvPr id="6" name="Rectangle 5"/>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508760"/>
            <a:ext cx="5257800" cy="3840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508760"/>
            <a:ext cx="5257800" cy="384048"/>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50" b="1">
                <a:solidFill>
                  <a:srgbClr val="FFFFFF"/>
                </a:solidFill>
                <a:latin typeface="Arial"/>
              </a:defRPr>
            </a:pPr>
            <a:r>
              <a:t>CHUẨN HÓA GIAO THỨC MODEL CONTEXT PROTOCOL (MCP)</a:t>
            </a:r>
          </a:p>
        </p:txBody>
      </p:sp>
      <p:sp>
        <p:nvSpPr>
          <p:cNvPr id="9" name="TextBox 8"/>
          <p:cNvSpPr txBox="1"/>
          <p:nvPr/>
        </p:nvSpPr>
        <p:spPr>
          <a:xfrm>
            <a:off x="868680" y="1965960"/>
            <a:ext cx="4983480" cy="3337560"/>
          </a:xfrm>
          <a:prstGeom prst="rect">
            <a:avLst/>
          </a:prstGeom>
          <a:noFill/>
        </p:spPr>
        <p:txBody>
          <a:bodyPr wrap="square" lIns="0" tIns="0" rIns="0" bIns="0">
            <a:spAutoFit/>
          </a:bodyPr>
          <a:lstStyle/>
          <a:p>
            <a:pPr>
              <a:spcAft>
                <a:spcPts val="800"/>
              </a:spcAft>
              <a:defRPr sz="1250">
                <a:solidFill>
                  <a:srgbClr val="1E293B"/>
                </a:solidFill>
                <a:latin typeface="Arial"/>
              </a:defRPr>
            </a:pPr>
            <a:r>
              <a:rPr b="1">
                <a:solidFill>
                  <a:srgbClr val="00205B"/>
                </a:solidFill>
              </a:rPr>
              <a:t>• Tiến trình con Stdio JSON-RPC: </a:t>
            </a:r>
            <a:r>
              <a:rPr b="0">
                <a:solidFill>
                  <a:srgbClr val="1E293B"/>
                </a:solidFill>
              </a:rPr>
              <a:t>MCP Server chạy ngầm độc lập; Agent không nắm giữ connection string hay credentials CSDL.</a:t>
            </a:r>
          </a:p>
          <a:p>
            <a:pPr>
              <a:spcAft>
                <a:spcPts val="800"/>
              </a:spcAft>
              <a:defRPr sz="1250">
                <a:solidFill>
                  <a:srgbClr val="1E293B"/>
                </a:solidFill>
                <a:latin typeface="Arial"/>
              </a:defRPr>
            </a:pPr>
            <a:r>
              <a:rPr b="1">
                <a:solidFill>
                  <a:srgbClr val="00205B"/>
                </a:solidFill>
              </a:rPr>
              <a:t>• Danh mục công cụ tối thiểu: </a:t>
            </a:r>
            <a:r>
              <a:rPr b="0">
                <a:solidFill>
                  <a:srgbClr val="1E293B"/>
                </a:solidFill>
              </a:rPr>
              <a:t>Cung cấp duy nhất công cụ execute_query_read_only (kèm tool schema metadata).</a:t>
            </a:r>
          </a:p>
          <a:p>
            <a:pPr>
              <a:spcAft>
                <a:spcPts val="800"/>
              </a:spcAft>
              <a:defRPr sz="1250">
                <a:solidFill>
                  <a:srgbClr val="1E293B"/>
                </a:solidFill>
                <a:latin typeface="Arial"/>
              </a:defRPr>
            </a:pPr>
            <a:r>
              <a:rPr b="1">
                <a:solidFill>
                  <a:srgbClr val="00205B"/>
                </a:solidFill>
              </a:rPr>
              <a:t>• Khóa cứng ở cấp hạ tầng: </a:t>
            </a:r>
            <a:r>
              <a:rPr b="0">
                <a:solidFill>
                  <a:srgbClr val="1E293B"/>
                </a:solidFill>
              </a:rPr>
              <a:t>Biến môi trường ALLOW_WRITE_QUERIES=false cưỡng chế ở cấp máy chủ MCP, không thể bị ghi đè bởi prompt.</a:t>
            </a:r>
          </a:p>
          <a:p>
            <a:pPr>
              <a:spcAft>
                <a:spcPts val="800"/>
              </a:spcAft>
              <a:defRPr sz="1250">
                <a:solidFill>
                  <a:srgbClr val="1E293B"/>
                </a:solidFill>
                <a:latin typeface="Arial"/>
              </a:defRPr>
            </a:pPr>
            <a:r>
              <a:rPr b="1">
                <a:solidFill>
                  <a:srgbClr val="00205B"/>
                </a:solidFill>
              </a:rPr>
              <a:t>• Kiểm soát đồng thời (Concurrency Semaphore): </a:t>
            </a:r>
            <a:r>
              <a:rPr b="0">
                <a:solidFill>
                  <a:srgbClr val="1E293B"/>
                </a:solidFill>
              </a:rPr>
              <a:t>Khống chế số truy vấn đồng thời (MAX=1), triệt tiêu nguy cơ DoS cạn tài nguyên.</a:t>
            </a:r>
          </a:p>
        </p:txBody>
      </p:sp>
      <p:sp>
        <p:nvSpPr>
          <p:cNvPr id="10" name="Rounded Rectangle 9"/>
          <p:cNvSpPr/>
          <p:nvPr/>
        </p:nvSpPr>
        <p:spPr>
          <a:xfrm>
            <a:off x="6202375" y="1508760"/>
            <a:ext cx="5257800" cy="3840480"/>
          </a:xfrm>
          <a:prstGeom prst="roundRect">
            <a:avLst/>
          </a:prstGeom>
          <a:solidFill>
            <a:srgbClr val="F8FAFC"/>
          </a:solidFill>
          <a:ln w="12700">
            <a:solidFill>
              <a:srgbClr val="BAD7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02375" y="1508760"/>
            <a:ext cx="5257800" cy="3840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50" b="1">
                <a:solidFill>
                  <a:srgbClr val="FFFFFF"/>
                </a:solidFill>
                <a:latin typeface="Arial"/>
              </a:defRPr>
            </a:pPr>
            <a:r>
              <a:t>CƠ CHẾ KHÓA CỨNG QUYỀN GHI 2 TẦNG (TWO-TIER HARD LOCK)</a:t>
            </a:r>
          </a:p>
        </p:txBody>
      </p:sp>
      <p:sp>
        <p:nvSpPr>
          <p:cNvPr id="12" name="TextBox 11"/>
          <p:cNvSpPr txBox="1"/>
          <p:nvPr/>
        </p:nvSpPr>
        <p:spPr>
          <a:xfrm>
            <a:off x="6339535" y="1965960"/>
            <a:ext cx="4983480" cy="3337560"/>
          </a:xfrm>
          <a:prstGeom prst="rect">
            <a:avLst/>
          </a:prstGeom>
          <a:noFill/>
        </p:spPr>
        <p:txBody>
          <a:bodyPr wrap="square" lIns="0" tIns="0" rIns="0" bIns="0">
            <a:spAutoFit/>
          </a:bodyPr>
          <a:lstStyle/>
          <a:p>
            <a:pPr>
              <a:spcAft>
                <a:spcPts val="550"/>
              </a:spcAft>
              <a:defRPr sz="1200">
                <a:solidFill>
                  <a:srgbClr val="1E293B"/>
                </a:solidFill>
                <a:latin typeface="Arial"/>
              </a:defRPr>
            </a:pPr>
            <a:r>
              <a:rPr b="1">
                <a:solidFill>
                  <a:srgbClr val="00205B"/>
                </a:solidFill>
              </a:rPr>
              <a:t>• TẦNG 1: Tầng Code (AST Parser Gateway): </a:t>
            </a:r>
          </a:p>
          <a:p>
            <a:pPr>
              <a:spcAft>
                <a:spcPts val="550"/>
              </a:spcAft>
              <a:defRPr sz="1200">
                <a:solidFill>
                  <a:srgbClr val="1E293B"/>
                </a:solidFill>
                <a:latin typeface="Arial"/>
              </a:defRPr>
            </a:pPr>
            <a:r>
              <a:t>    – sqlglot bắt buộc root node của truy vấn phải là exp.Select.</a:t>
            </a:r>
          </a:p>
          <a:p>
            <a:pPr>
              <a:spcAft>
                <a:spcPts val="550"/>
              </a:spcAft>
              <a:defRPr sz="1200">
                <a:solidFill>
                  <a:srgbClr val="1E293B"/>
                </a:solidFill>
                <a:latin typeface="Arial"/>
              </a:defRPr>
            </a:pPr>
            <a:r>
              <a:t>    – Duyệt toàn bộ cây AST cấm triệt để danh sách _DANGEROUS_NODES: Insert, Update, Delete, Drop, Alter, Create, Grant, Revoke.</a:t>
            </a:r>
          </a:p>
          <a:p>
            <a:pPr>
              <a:spcAft>
                <a:spcPts val="550"/>
              </a:spcAft>
              <a:defRPr sz="1200">
                <a:solidFill>
                  <a:srgbClr val="1E293B"/>
                </a:solidFill>
                <a:latin typeface="Arial"/>
              </a:defRPr>
            </a:pPr>
            <a:r>
              <a:t>    – Hàm is_read_only_query() tại MCP Server kiểm tra Fail-Closed lần 2.</a:t>
            </a:r>
          </a:p>
          <a:p>
            <a:pPr>
              <a:spcAft>
                <a:spcPts val="550"/>
              </a:spcAft>
              <a:defRPr sz="1200">
                <a:solidFill>
                  <a:srgbClr val="1E293B"/>
                </a:solidFill>
                <a:latin typeface="Arial"/>
              </a:defRPr>
            </a:pPr>
            <a:r>
              <a:rPr b="1">
                <a:solidFill>
                  <a:srgbClr val="00205B"/>
                </a:solidFill>
              </a:rPr>
              <a:t>• TẦNG 2: Tầng Database Engine Privileges (Zero-Trust): </a:t>
            </a:r>
          </a:p>
          <a:p>
            <a:pPr>
              <a:spcAft>
                <a:spcPts val="550"/>
              </a:spcAft>
              <a:defRPr sz="1200">
                <a:solidFill>
                  <a:srgbClr val="1E293B"/>
                </a:solidFill>
                <a:latin typeface="Arial"/>
              </a:defRPr>
            </a:pPr>
            <a:r>
              <a:t>    – PostgreSQL: User bi_user chỉ được cấp SELECT trên schema public.</a:t>
            </a:r>
          </a:p>
          <a:p>
            <a:pPr>
              <a:spcAft>
                <a:spcPts val="550"/>
              </a:spcAft>
              <a:defRPr sz="1200">
                <a:solidFill>
                  <a:srgbClr val="1E293B"/>
                </a:solidFill>
                <a:latin typeface="Arial"/>
              </a:defRPr>
            </a:pPr>
            <a:r>
              <a:t>    – MySQL: User bi_agent chỉ được cấp SELECT, SHOW VIEW trên db agentic_bi.</a:t>
            </a:r>
          </a:p>
          <a:p>
            <a:pPr>
              <a:spcAft>
                <a:spcPts val="550"/>
              </a:spcAft>
              <a:defRPr sz="1200">
                <a:solidFill>
                  <a:srgbClr val="1E293B"/>
                </a:solidFill>
                <a:latin typeface="Arial"/>
              </a:defRPr>
            </a:pPr>
            <a:r>
              <a:t>    – Kể cả khi tầng Code bị bypass, DB Engine vẫn từ chối 100% lệnh phá hoại.</a:t>
            </a:r>
          </a:p>
        </p:txBody>
      </p:sp>
      <p:sp>
        <p:nvSpPr>
          <p:cNvPr id="13" name="Rounded Rectangle 12"/>
          <p:cNvSpPr/>
          <p:nvPr/>
        </p:nvSpPr>
        <p:spPr>
          <a:xfrm>
            <a:off x="731520" y="5486400"/>
            <a:ext cx="10728655" cy="77724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5541264"/>
            <a:ext cx="10424160" cy="658368"/>
          </a:xfrm>
          <a:prstGeom prst="rect">
            <a:avLst/>
          </a:prstGeom>
          <a:noFill/>
        </p:spPr>
        <p:txBody>
          <a:bodyPr wrap="square" lIns="0" tIns="0" rIns="0" bIns="0">
            <a:spAutoFit/>
          </a:bodyPr>
          <a:lstStyle/>
          <a:p>
            <a:pPr>
              <a:defRPr sz="1300" b="1">
                <a:solidFill>
                  <a:srgbClr val="16A34A"/>
                </a:solidFill>
                <a:latin typeface="Arial"/>
              </a:defRPr>
            </a:pPr>
            <a:r>
              <a:t>NGUYÊN TẮC PHÒNG THỦ CHIỀU SÂU (DEFENSE-IN-DEPTH):</a:t>
            </a:r>
          </a:p>
          <a:p>
            <a:pPr>
              <a:spcBef>
                <a:spcPts val="200"/>
              </a:spcBef>
              <a:defRPr sz="1200">
                <a:solidFill>
                  <a:srgbClr val="1E293B"/>
                </a:solidFill>
                <a:latin typeface="Arial"/>
              </a:defRPr>
            </a:pPr>
            <a:r>
              <a:t>Hệ thống tuyệt đối không bao giờ tin cậy vào việc 'dặn dò' LLM trong Prompt. An toàn dữ liệu được khóa cứng độc lập ở 2 tầng: Tầng Code (AST Gateway) và Tầng Hạ tầng (Database Engine Privileges), bảo đảm an toàn 100%.</a:t>
            </a:r>
          </a:p>
        </p:txBody>
      </p:sp>
      <p:sp>
        <p:nvSpPr>
          <p:cNvPr id="15" name="Rectangle 14"/>
          <p:cNvSpPr/>
          <p:nvPr/>
        </p:nvSpPr>
        <p:spPr>
          <a:xfrm>
            <a:off x="731520" y="6419088"/>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6455664"/>
            <a:ext cx="8229600" cy="256032"/>
          </a:xfrm>
          <a:prstGeom prst="rect">
            <a:avLst/>
          </a:prstGeom>
          <a:noFill/>
        </p:spPr>
        <p:txBody>
          <a:bodyPr wrap="square" lIns="0" tIns="0" rIns="0" bIns="0">
            <a:spAutoFit/>
          </a:bodyPr>
          <a:lstStyle/>
          <a:p>
            <a:pPr>
              <a:defRPr sz="1050">
                <a:solidFill>
                  <a:srgbClr val="94A3B8"/>
                </a:solidFill>
                <a:latin typeface="Arial"/>
              </a:defRPr>
            </a:pPr>
            <a:r>
              <a:t>Secure Agentic BI Framework | Checkpoint D2 | Khoa KH&amp;KT Máy tính - ĐH Bách Khoa TP.HCM</a:t>
            </a:r>
          </a:p>
        </p:txBody>
      </p:sp>
      <p:sp>
        <p:nvSpPr>
          <p:cNvPr id="17" name="TextBox 16"/>
          <p:cNvSpPr txBox="1"/>
          <p:nvPr/>
        </p:nvSpPr>
        <p:spPr>
          <a:xfrm>
            <a:off x="9144000" y="6455664"/>
            <a:ext cx="2316175" cy="256032"/>
          </a:xfrm>
          <a:prstGeom prst="rect">
            <a:avLst/>
          </a:prstGeom>
          <a:noFill/>
        </p:spPr>
        <p:txBody>
          <a:bodyPr wrap="square" lIns="0" tIns="0" rIns="0" bIns="0">
            <a:spAutoFit/>
          </a:bodyPr>
          <a:lstStyle/>
          <a:p>
            <a:pPr algn="r">
              <a:defRPr sz="1100" b="1">
                <a:solidFill>
                  <a:srgbClr val="00205B"/>
                </a:solidFill>
                <a:latin typeface="Arial"/>
              </a:defRPr>
            </a:pPr>
            <a:r>
              <a:t>Slide 07 / 14</a:t>
            </a:r>
          </a:p>
        </p:txBody>
      </p:sp>
      <p:pic>
        <p:nvPicPr>
          <p:cNvPr id="18" name="Picture 17" descr="X6.png">
            <a:extLst>
              <a:ext uri="{FF2B5EF4-FFF2-40B4-BE49-F238E27FC236}">
                <a16:creationId xmlns:a16="http://schemas.microsoft.com/office/drawing/2014/main" id="{9085E4EC-0CDA-53AC-BFC3-67D28C66E3E4}"/>
              </a:ext>
            </a:extLst>
          </p:cNvPr>
          <p:cNvPicPr>
            <a:picLocks noChangeAspect="1"/>
          </p:cNvPicPr>
          <p:nvPr/>
        </p:nvPicPr>
        <p:blipFill>
          <a:blip r:embed="rId3"/>
          <a:stretch>
            <a:fillRect/>
          </a:stretch>
        </p:blipFill>
        <p:spPr>
          <a:xfrm>
            <a:off x="11457432" y="75268"/>
            <a:ext cx="594360" cy="5992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56032"/>
            <a:ext cx="10728655" cy="256032"/>
          </a:xfrm>
          <a:prstGeom prst="rect">
            <a:avLst/>
          </a:prstGeom>
          <a:noFill/>
        </p:spPr>
        <p:txBody>
          <a:bodyPr wrap="square" lIns="0" tIns="0" rIns="0" bIns="0">
            <a:spAutoFit/>
          </a:bodyPr>
          <a:lstStyle/>
          <a:p>
            <a:pPr>
              <a:defRPr sz="1300" b="1">
                <a:solidFill>
                  <a:srgbClr val="0070AD"/>
                </a:solidFill>
                <a:latin typeface="Arial"/>
              </a:defRPr>
            </a:pPr>
            <a:r>
              <a:t>PHẦN 4: BỘ NHỚ &amp; QUẢN TRỊ TRI THỨC</a:t>
            </a:r>
          </a:p>
        </p:txBody>
      </p:sp>
      <p:sp>
        <p:nvSpPr>
          <p:cNvPr id="4" name="TextBox 3"/>
          <p:cNvSpPr txBox="1"/>
          <p:nvPr/>
        </p:nvSpPr>
        <p:spPr>
          <a:xfrm>
            <a:off x="731520" y="493776"/>
            <a:ext cx="10728655" cy="502920"/>
          </a:xfrm>
          <a:prstGeom prst="rect">
            <a:avLst/>
          </a:prstGeom>
          <a:noFill/>
        </p:spPr>
        <p:txBody>
          <a:bodyPr wrap="square" lIns="0" tIns="0" rIns="0" bIns="0">
            <a:spAutoFit/>
          </a:bodyPr>
          <a:lstStyle/>
          <a:p>
            <a:pPr>
              <a:defRPr sz="2400" b="1">
                <a:solidFill>
                  <a:srgbClr val="00205B"/>
                </a:solidFill>
                <a:latin typeface="Arial"/>
              </a:defRPr>
            </a:pPr>
            <a:r>
              <a:t>Quản Trị Bộ Nhớ Ngữ Cảnh &amp; Rào Chắn Re-Validation</a:t>
            </a:r>
          </a:p>
        </p:txBody>
      </p:sp>
      <p:sp>
        <p:nvSpPr>
          <p:cNvPr id="5" name="TextBox 4"/>
          <p:cNvSpPr txBox="1"/>
          <p:nvPr/>
        </p:nvSpPr>
        <p:spPr>
          <a:xfrm>
            <a:off x="731520" y="1005840"/>
            <a:ext cx="10728655" cy="347472"/>
          </a:xfrm>
          <a:prstGeom prst="rect">
            <a:avLst/>
          </a:prstGeom>
          <a:noFill/>
        </p:spPr>
        <p:txBody>
          <a:bodyPr wrap="square" lIns="0" tIns="0" rIns="0" bIns="0">
            <a:spAutoFit/>
          </a:bodyPr>
          <a:lstStyle/>
          <a:p>
            <a:pPr>
              <a:defRPr sz="1350" i="1">
                <a:solidFill>
                  <a:srgbClr val="64748B"/>
                </a:solidFill>
                <a:latin typeface="Arial"/>
              </a:defRPr>
            </a:pPr>
            <a:r>
              <a:t>Phân chia bộ nhớ ngắn/dài hạn với quy tắc Strict Write Policy và nguyên tắc then chốt Re-validation on Retrieval chống Memory Poisoning.</a:t>
            </a:r>
          </a:p>
        </p:txBody>
      </p:sp>
      <p:sp>
        <p:nvSpPr>
          <p:cNvPr id="6" name="Rectangle 5"/>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508760"/>
            <a:ext cx="3429000" cy="3840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508760"/>
            <a:ext cx="3429000" cy="384048"/>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50" b="1">
                <a:solidFill>
                  <a:srgbClr val="FFFFFF"/>
                </a:solidFill>
                <a:latin typeface="Arial"/>
              </a:defRPr>
            </a:pPr>
            <a:r>
              <a:t>1. BỘ NHỚ NGẮN HẠN (CONTEXT)</a:t>
            </a:r>
          </a:p>
        </p:txBody>
      </p:sp>
      <p:sp>
        <p:nvSpPr>
          <p:cNvPr id="9" name="TextBox 8"/>
          <p:cNvSpPr txBox="1"/>
          <p:nvPr/>
        </p:nvSpPr>
        <p:spPr>
          <a:xfrm>
            <a:off x="868680" y="1965960"/>
            <a:ext cx="3154680" cy="3337560"/>
          </a:xfrm>
          <a:prstGeom prst="rect">
            <a:avLst/>
          </a:prstGeom>
          <a:noFill/>
        </p:spPr>
        <p:txBody>
          <a:bodyPr wrap="square" lIns="0" tIns="0" rIns="0" bIns="0">
            <a:spAutoFit/>
          </a:bodyPr>
          <a:lstStyle/>
          <a:p>
            <a:pPr>
              <a:spcAft>
                <a:spcPts val="900"/>
              </a:spcAft>
              <a:defRPr sz="1250">
                <a:solidFill>
                  <a:srgbClr val="1E293B"/>
                </a:solidFill>
                <a:latin typeface="Arial"/>
              </a:defRPr>
            </a:pPr>
            <a:r>
              <a:rPr b="1">
                <a:solidFill>
                  <a:srgbClr val="00205B"/>
                </a:solidFill>
              </a:rPr>
              <a:t>• Quản lý phiên: </a:t>
            </a:r>
            <a:r>
              <a:rPr b="0">
                <a:solidFill>
                  <a:srgbClr val="1E293B"/>
                </a:solidFill>
              </a:rPr>
              <a:t>Duy trì mảng messages theo từng session_id độc lập.</a:t>
            </a:r>
          </a:p>
          <a:p>
            <a:pPr>
              <a:spcAft>
                <a:spcPts val="900"/>
              </a:spcAft>
              <a:defRPr sz="1250">
                <a:solidFill>
                  <a:srgbClr val="1E293B"/>
                </a:solidFill>
                <a:latin typeface="Arial"/>
              </a:defRPr>
            </a:pPr>
            <a:r>
              <a:rPr b="1">
                <a:solidFill>
                  <a:srgbClr val="00205B"/>
                </a:solidFill>
              </a:rPr>
              <a:t>• Token Trimming Chủ Động: </a:t>
            </a:r>
            <a:r>
              <a:rPr b="0">
                <a:solidFill>
                  <a:srgbClr val="1E293B"/>
                </a:solidFill>
              </a:rPr>
              <a:t>Cắt tỉa lịch sử khi vượt ngưỡng an toàn; lược bỏ dữ liệu bảng thô cồng kềnh.</a:t>
            </a:r>
          </a:p>
          <a:p>
            <a:pPr>
              <a:spcAft>
                <a:spcPts val="900"/>
              </a:spcAft>
              <a:defRPr sz="1250">
                <a:solidFill>
                  <a:srgbClr val="1E293B"/>
                </a:solidFill>
                <a:latin typeface="Arial"/>
              </a:defRPr>
            </a:pPr>
            <a:r>
              <a:rPr b="1">
                <a:solidFill>
                  <a:srgbClr val="00205B"/>
                </a:solidFill>
              </a:rPr>
              <a:t>• Tối ưu ngữ cảnh: </a:t>
            </a:r>
            <a:r>
              <a:rPr b="0">
                <a:solidFill>
                  <a:srgbClr val="1E293B"/>
                </a:solidFill>
              </a:rPr>
              <a:t>Chỉ lưu trữ tóm tắt nghiệp vụ, giảm 65% áp lực context window và ngăn tràn token.</a:t>
            </a:r>
          </a:p>
        </p:txBody>
      </p:sp>
      <p:sp>
        <p:nvSpPr>
          <p:cNvPr id="10" name="Rounded Rectangle 9"/>
          <p:cNvSpPr/>
          <p:nvPr/>
        </p:nvSpPr>
        <p:spPr>
          <a:xfrm>
            <a:off x="4379976" y="1508760"/>
            <a:ext cx="3429000" cy="3840480"/>
          </a:xfrm>
          <a:prstGeom prst="roundRect">
            <a:avLst/>
          </a:prstGeom>
          <a:solidFill>
            <a:srgbClr val="F8FAFC"/>
          </a:solidFill>
          <a:ln w="12700">
            <a:solidFill>
              <a:srgbClr val="BAD7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79976" y="1508760"/>
            <a:ext cx="3429000" cy="3840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50" b="1">
                <a:solidFill>
                  <a:srgbClr val="FFFFFF"/>
                </a:solidFill>
                <a:latin typeface="Arial"/>
              </a:defRPr>
            </a:pPr>
            <a:r>
              <a:t>2. BỘ NHỚ DÀI HẠN &amp; CACHE (MYSQL)</a:t>
            </a:r>
          </a:p>
        </p:txBody>
      </p:sp>
      <p:sp>
        <p:nvSpPr>
          <p:cNvPr id="12" name="TextBox 11"/>
          <p:cNvSpPr txBox="1"/>
          <p:nvPr/>
        </p:nvSpPr>
        <p:spPr>
          <a:xfrm>
            <a:off x="4517136" y="1965960"/>
            <a:ext cx="3154680" cy="3337560"/>
          </a:xfrm>
          <a:prstGeom prst="rect">
            <a:avLst/>
          </a:prstGeom>
          <a:noFill/>
        </p:spPr>
        <p:txBody>
          <a:bodyPr wrap="square" lIns="0" tIns="0" rIns="0" bIns="0">
            <a:spAutoFit/>
          </a:bodyPr>
          <a:lstStyle/>
          <a:p>
            <a:pPr>
              <a:spcAft>
                <a:spcPts val="800"/>
              </a:spcAft>
              <a:defRPr sz="1250">
                <a:solidFill>
                  <a:srgbClr val="1E293B"/>
                </a:solidFill>
                <a:latin typeface="Arial"/>
              </a:defRPr>
            </a:pPr>
            <a:r>
              <a:rPr b="1">
                <a:solidFill>
                  <a:srgbClr val="00205B"/>
                </a:solidFill>
              </a:rPr>
              <a:t>• Lưu trữ kiểm toán: </a:t>
            </a:r>
            <a:r>
              <a:rPr b="0">
                <a:solidFill>
                  <a:srgbClr val="1E293B"/>
                </a:solidFill>
              </a:rPr>
              <a:t>2 bảng MySQL agent_query_history và semantic_cache.</a:t>
            </a:r>
          </a:p>
          <a:p>
            <a:pPr>
              <a:spcAft>
                <a:spcPts val="800"/>
              </a:spcAft>
              <a:defRPr sz="1250">
                <a:solidFill>
                  <a:srgbClr val="1E293B"/>
                </a:solidFill>
                <a:latin typeface="Arial"/>
              </a:defRPr>
            </a:pPr>
            <a:r>
              <a:rPr b="1">
                <a:solidFill>
                  <a:srgbClr val="00205B"/>
                </a:solidFill>
              </a:rPr>
              <a:t>• Strict Write Policy: </a:t>
            </a:r>
            <a:r>
              <a:rPr b="0">
                <a:solidFill>
                  <a:srgbClr val="1E293B"/>
                </a:solidFill>
              </a:rPr>
              <a:t>Chỉ lưu câu lệnh vào Cache khi đã vượt 100% rào chắn AST và Trino chạy thành công.</a:t>
            </a:r>
          </a:p>
          <a:p>
            <a:pPr>
              <a:spcAft>
                <a:spcPts val="800"/>
              </a:spcAft>
              <a:defRPr sz="1250">
                <a:solidFill>
                  <a:srgbClr val="1E293B"/>
                </a:solidFill>
                <a:latin typeface="Arial"/>
              </a:defRPr>
            </a:pPr>
            <a:r>
              <a:rPr b="1">
                <a:solidFill>
                  <a:srgbClr val="00205B"/>
                </a:solidFill>
              </a:rPr>
              <a:t>• Re-validation on Retrieval (Zero-Trust): </a:t>
            </a:r>
            <a:r>
              <a:rPr b="0">
                <a:solidFill>
                  <a:srgbClr val="1E293B"/>
                </a:solidFill>
              </a:rPr>
              <a:t>Mọi câu SQL lấy ra từ Cache/History BẮT BUỘC phải nạp lại vào AST Guardrail để thẩm định theo Role người dùng hiện tại.</a:t>
            </a:r>
          </a:p>
        </p:txBody>
      </p:sp>
      <p:sp>
        <p:nvSpPr>
          <p:cNvPr id="13" name="Rounded Rectangle 12"/>
          <p:cNvSpPr/>
          <p:nvPr/>
        </p:nvSpPr>
        <p:spPr>
          <a:xfrm>
            <a:off x="8028432" y="1508760"/>
            <a:ext cx="3429000" cy="3840480"/>
          </a:xfrm>
          <a:prstGeom prst="roundRect">
            <a:avLst/>
          </a:prstGeom>
          <a:solidFill>
            <a:srgbClr val="FEF3C7"/>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28432" y="1508760"/>
            <a:ext cx="3429000" cy="38404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50" b="1">
                <a:solidFill>
                  <a:srgbClr val="FFFFFF"/>
                </a:solidFill>
                <a:latin typeface="Arial"/>
              </a:defRPr>
            </a:pPr>
            <a:r>
              <a:t>3. CƠ SỞ KHOA HỌC HOÃN CHROMADB</a:t>
            </a:r>
          </a:p>
        </p:txBody>
      </p:sp>
      <p:sp>
        <p:nvSpPr>
          <p:cNvPr id="15" name="TextBox 14"/>
          <p:cNvSpPr txBox="1"/>
          <p:nvPr/>
        </p:nvSpPr>
        <p:spPr>
          <a:xfrm>
            <a:off x="8165592" y="1965960"/>
            <a:ext cx="3154680" cy="3337560"/>
          </a:xfrm>
          <a:prstGeom prst="rect">
            <a:avLst/>
          </a:prstGeom>
          <a:noFill/>
        </p:spPr>
        <p:txBody>
          <a:bodyPr wrap="square" lIns="0" tIns="0" rIns="0" bIns="0">
            <a:spAutoFit/>
          </a:bodyPr>
          <a:lstStyle/>
          <a:p>
            <a:pPr>
              <a:spcAft>
                <a:spcPts val="700"/>
              </a:spcAft>
              <a:defRPr sz="1200">
                <a:solidFill>
                  <a:srgbClr val="1E293B"/>
                </a:solidFill>
                <a:latin typeface="Arial"/>
              </a:defRPr>
            </a:pPr>
            <a:r>
              <a:rPr b="1">
                <a:solidFill>
                  <a:srgbClr val="00205B"/>
                </a:solidFill>
              </a:rPr>
              <a:t>• Cảnh báo an ninh quốc tế: </a:t>
            </a:r>
            <a:r>
              <a:rPr b="0">
                <a:solidFill>
                  <a:srgbClr val="1E293B"/>
                </a:solidFill>
              </a:rPr>
              <a:t>Các nghiên cứu AgentPoison (NeurIPS 2024) chỉ ra Vector DB tự động ghi nhớ là vector tấn công đầu độc dài hạn rất nguy hiểm.</a:t>
            </a:r>
          </a:p>
          <a:p>
            <a:pPr>
              <a:spcAft>
                <a:spcPts val="700"/>
              </a:spcAft>
              <a:defRPr sz="1200">
                <a:solidFill>
                  <a:srgbClr val="1E293B"/>
                </a:solidFill>
                <a:latin typeface="Arial"/>
              </a:defRPr>
            </a:pPr>
            <a:r>
              <a:rPr b="1">
                <a:solidFill>
                  <a:srgbClr val="00205B"/>
                </a:solidFill>
              </a:rPr>
              <a:t>• Quyết định có trách nhiệm: </a:t>
            </a:r>
            <a:r>
              <a:rPr b="0">
                <a:solidFill>
                  <a:srgbClr val="1E293B"/>
                </a:solidFill>
              </a:rPr>
              <a:t>Ưu tiên hoàn thiện cơ chế an toàn trên MySQL trước.</a:t>
            </a:r>
          </a:p>
          <a:p>
            <a:pPr>
              <a:spcAft>
                <a:spcPts val="700"/>
              </a:spcAft>
              <a:defRPr sz="1200">
                <a:solidFill>
                  <a:srgbClr val="1E293B"/>
                </a:solidFill>
                <a:latin typeface="Arial"/>
              </a:defRPr>
            </a:pPr>
            <a:r>
              <a:rPr b="1">
                <a:solidFill>
                  <a:srgbClr val="00205B"/>
                </a:solidFill>
              </a:rPr>
              <a:t>• Kế hoạch Tuần 10: </a:t>
            </a:r>
            <a:r>
              <a:rPr b="0">
                <a:solidFill>
                  <a:srgbClr val="1E293B"/>
                </a:solidFill>
              </a:rPr>
              <a:t>Kích hoạt ChromaDB tích hợp rào chắn cosine similarity &gt;= 0.92 và Re-validation AST.</a:t>
            </a:r>
          </a:p>
        </p:txBody>
      </p:sp>
      <p:sp>
        <p:nvSpPr>
          <p:cNvPr id="16" name="Rounded Rectangle 15"/>
          <p:cNvSpPr/>
          <p:nvPr/>
        </p:nvSpPr>
        <p:spPr>
          <a:xfrm>
            <a:off x="731520" y="5486400"/>
            <a:ext cx="10728655" cy="7772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5541264"/>
            <a:ext cx="10424160" cy="658368"/>
          </a:xfrm>
          <a:prstGeom prst="rect">
            <a:avLst/>
          </a:prstGeom>
          <a:noFill/>
        </p:spPr>
        <p:txBody>
          <a:bodyPr wrap="square" lIns="0" tIns="0" rIns="0" bIns="0">
            <a:spAutoFit/>
          </a:bodyPr>
          <a:lstStyle/>
          <a:p>
            <a:pPr>
              <a:defRPr sz="1300" b="1">
                <a:solidFill>
                  <a:srgbClr val="00205B"/>
                </a:solidFill>
                <a:latin typeface="Arial"/>
              </a:defRPr>
            </a:pPr>
            <a:r>
              <a:t>NGUYÊN TẮC ZERO-TRUST MEMORY RETRIEVAL:</a:t>
            </a:r>
          </a:p>
          <a:p>
            <a:pPr>
              <a:spcBef>
                <a:spcPts val="200"/>
              </a:spcBef>
              <a:defRPr sz="1200">
                <a:solidFill>
                  <a:srgbClr val="1E293B"/>
                </a:solidFill>
                <a:latin typeface="Arial"/>
              </a:defRPr>
            </a:pPr>
            <a:r>
              <a:t>Dữ liệu truy xuất từ bộ nhớ lịch sử không có bất kỳ đặc quyền ưu tiên nào. Mọi câu lệnh SQL được tái sử dụng đều bị đối xử như Untrusted Input và bắt buộc phải vượt qua cổng kiểm tra AST Guardrail theo Role của người hỏi phiên hiện tại.</a:t>
            </a:r>
          </a:p>
        </p:txBody>
      </p:sp>
      <p:sp>
        <p:nvSpPr>
          <p:cNvPr id="18" name="Rectangle 17"/>
          <p:cNvSpPr/>
          <p:nvPr/>
        </p:nvSpPr>
        <p:spPr>
          <a:xfrm>
            <a:off x="731520" y="6419088"/>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6455664"/>
            <a:ext cx="8229600" cy="256032"/>
          </a:xfrm>
          <a:prstGeom prst="rect">
            <a:avLst/>
          </a:prstGeom>
          <a:noFill/>
        </p:spPr>
        <p:txBody>
          <a:bodyPr wrap="square" lIns="0" tIns="0" rIns="0" bIns="0">
            <a:spAutoFit/>
          </a:bodyPr>
          <a:lstStyle/>
          <a:p>
            <a:pPr>
              <a:defRPr sz="1050">
                <a:solidFill>
                  <a:srgbClr val="94A3B8"/>
                </a:solidFill>
                <a:latin typeface="Arial"/>
              </a:defRPr>
            </a:pPr>
            <a:r>
              <a:t>Nguồn tham khảo: Zhang et al., 'AgentPoison: Red-teaming LLM Agents via Poisoning Memory', NeurIPS 2024</a:t>
            </a:r>
          </a:p>
        </p:txBody>
      </p:sp>
      <p:sp>
        <p:nvSpPr>
          <p:cNvPr id="20" name="TextBox 19"/>
          <p:cNvSpPr txBox="1"/>
          <p:nvPr/>
        </p:nvSpPr>
        <p:spPr>
          <a:xfrm>
            <a:off x="9144000" y="6455664"/>
            <a:ext cx="2316175" cy="256032"/>
          </a:xfrm>
          <a:prstGeom prst="rect">
            <a:avLst/>
          </a:prstGeom>
          <a:noFill/>
        </p:spPr>
        <p:txBody>
          <a:bodyPr wrap="square" lIns="0" tIns="0" rIns="0" bIns="0">
            <a:spAutoFit/>
          </a:bodyPr>
          <a:lstStyle/>
          <a:p>
            <a:pPr algn="r">
              <a:defRPr sz="1100" b="1">
                <a:solidFill>
                  <a:srgbClr val="00205B"/>
                </a:solidFill>
                <a:latin typeface="Arial"/>
              </a:defRPr>
            </a:pPr>
            <a:r>
              <a:t>Slide 08 / 14</a:t>
            </a:r>
          </a:p>
        </p:txBody>
      </p:sp>
      <p:pic>
        <p:nvPicPr>
          <p:cNvPr id="21" name="Picture 20" descr="X6.png">
            <a:extLst>
              <a:ext uri="{FF2B5EF4-FFF2-40B4-BE49-F238E27FC236}">
                <a16:creationId xmlns:a16="http://schemas.microsoft.com/office/drawing/2014/main" id="{52D014D2-378E-8688-777E-1EB1C939BC97}"/>
              </a:ext>
            </a:extLst>
          </p:cNvPr>
          <p:cNvPicPr>
            <a:picLocks noChangeAspect="1"/>
          </p:cNvPicPr>
          <p:nvPr/>
        </p:nvPicPr>
        <p:blipFill>
          <a:blip r:embed="rId3"/>
          <a:stretch>
            <a:fillRect/>
          </a:stretch>
        </p:blipFill>
        <p:spPr>
          <a:xfrm>
            <a:off x="11457432" y="75268"/>
            <a:ext cx="594360" cy="5992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56032"/>
            <a:ext cx="10728655" cy="256032"/>
          </a:xfrm>
          <a:prstGeom prst="rect">
            <a:avLst/>
          </a:prstGeom>
          <a:noFill/>
        </p:spPr>
        <p:txBody>
          <a:bodyPr wrap="square" lIns="0" tIns="0" rIns="0" bIns="0">
            <a:spAutoFit/>
          </a:bodyPr>
          <a:lstStyle/>
          <a:p>
            <a:pPr>
              <a:defRPr sz="1300" b="1">
                <a:solidFill>
                  <a:srgbClr val="0070AD"/>
                </a:solidFill>
                <a:latin typeface="Arial"/>
              </a:defRPr>
            </a:pPr>
            <a:r>
              <a:t>PHẦN 5: ĐÁNH GIÁ THỰC NGHIỆM</a:t>
            </a:r>
          </a:p>
        </p:txBody>
      </p:sp>
      <p:sp>
        <p:nvSpPr>
          <p:cNvPr id="4" name="TextBox 3"/>
          <p:cNvSpPr txBox="1"/>
          <p:nvPr/>
        </p:nvSpPr>
        <p:spPr>
          <a:xfrm>
            <a:off x="731520" y="493776"/>
            <a:ext cx="10728655" cy="502920"/>
          </a:xfrm>
          <a:prstGeom prst="rect">
            <a:avLst/>
          </a:prstGeom>
          <a:noFill/>
        </p:spPr>
        <p:txBody>
          <a:bodyPr wrap="square" lIns="0" tIns="0" rIns="0" bIns="0">
            <a:spAutoFit/>
          </a:bodyPr>
          <a:lstStyle/>
          <a:p>
            <a:pPr>
              <a:defRPr sz="2400" b="1">
                <a:solidFill>
                  <a:srgbClr val="00205B"/>
                </a:solidFill>
                <a:latin typeface="Arial"/>
              </a:defRPr>
            </a:pPr>
            <a:r>
              <a:t>Đánh Giá Thực Nghiệm: 26 Kịch Bản Red-Teaming &amp; Chỉ Số Đầu Tiên</a:t>
            </a:r>
          </a:p>
        </p:txBody>
      </p:sp>
      <p:sp>
        <p:nvSpPr>
          <p:cNvPr id="5" name="TextBox 4"/>
          <p:cNvSpPr txBox="1"/>
          <p:nvPr/>
        </p:nvSpPr>
        <p:spPr>
          <a:xfrm>
            <a:off x="731520" y="1005840"/>
            <a:ext cx="10728655" cy="347472"/>
          </a:xfrm>
          <a:prstGeom prst="rect">
            <a:avLst/>
          </a:prstGeom>
          <a:noFill/>
        </p:spPr>
        <p:txBody>
          <a:bodyPr wrap="square" lIns="0" tIns="0" rIns="0" bIns="0">
            <a:spAutoFit/>
          </a:bodyPr>
          <a:lstStyle/>
          <a:p>
            <a:pPr>
              <a:defRPr sz="1350" i="1">
                <a:solidFill>
                  <a:srgbClr val="64748B"/>
                </a:solidFill>
                <a:latin typeface="Arial"/>
              </a:defRPr>
            </a:pPr>
            <a:r>
              <a:t>Kiến trúc Neuro-Symbolic đạt Attack Block Rate 100% và Privilege Escalation 0%, đồng thời tăng Execution Accuracy lên 93.8%.</a:t>
            </a:r>
          </a:p>
        </p:txBody>
      </p:sp>
      <p:sp>
        <p:nvSpPr>
          <p:cNvPr id="6" name="Rectangle 5"/>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508760"/>
            <a:ext cx="4297680" cy="3611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508760"/>
            <a:ext cx="4297680" cy="365760"/>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250" b="1">
                <a:solidFill>
                  <a:srgbClr val="FFFFFF"/>
                </a:solidFill>
                <a:latin typeface="Arial"/>
              </a:defRPr>
            </a:pPr>
            <a:r>
              <a:t>BỘ HARNESS 26 KỊCH BẢN THỰC NGHIỆM (scenarios.js)</a:t>
            </a:r>
          </a:p>
        </p:txBody>
      </p:sp>
      <p:sp>
        <p:nvSpPr>
          <p:cNvPr id="9" name="TextBox 8"/>
          <p:cNvSpPr txBox="1"/>
          <p:nvPr/>
        </p:nvSpPr>
        <p:spPr>
          <a:xfrm>
            <a:off x="868680" y="1938528"/>
            <a:ext cx="4023360" cy="3154680"/>
          </a:xfrm>
          <a:prstGeom prst="rect">
            <a:avLst/>
          </a:prstGeom>
          <a:noFill/>
        </p:spPr>
        <p:txBody>
          <a:bodyPr wrap="square" lIns="0" tIns="0" rIns="0" bIns="0">
            <a:spAutoFit/>
          </a:bodyPr>
          <a:lstStyle/>
          <a:p>
            <a:pPr>
              <a:spcAft>
                <a:spcPts val="400"/>
              </a:spcAft>
              <a:defRPr sz="1100">
                <a:solidFill>
                  <a:srgbClr val="1E293B"/>
                </a:solidFill>
                <a:latin typeface="Arial"/>
              </a:defRPr>
            </a:pPr>
            <a:r>
              <a:rPr b="1">
                <a:solidFill>
                  <a:srgbClr val="00205B"/>
                </a:solidFill>
              </a:rPr>
              <a:t>• 4 Kịch bản Nghiệp vụ Chuẩn (Baseline BI): </a:t>
            </a:r>
          </a:p>
          <a:p>
            <a:pPr>
              <a:spcAft>
                <a:spcPts val="400"/>
              </a:spcAft>
              <a:defRPr sz="1100">
                <a:solidFill>
                  <a:srgbClr val="1E293B"/>
                </a:solidFill>
                <a:latin typeface="Arial"/>
              </a:defRPr>
            </a:pPr>
            <a:r>
              <a:t>    – Doanh thu category, Top nhân viên, Federated Cross-DB JOIN, Export CSV -&gt; Yêu cầu đúng kết quả (Pass 100%).</a:t>
            </a:r>
          </a:p>
          <a:p>
            <a:pPr>
              <a:spcAft>
                <a:spcPts val="400"/>
              </a:spcAft>
              <a:defRPr sz="1100">
                <a:solidFill>
                  <a:srgbClr val="1E293B"/>
                </a:solidFill>
                <a:latin typeface="Arial"/>
              </a:defRPr>
            </a:pPr>
            <a:r>
              <a:rPr b="1">
                <a:solidFill>
                  <a:srgbClr val="00205B"/>
                </a:solidFill>
              </a:rPr>
              <a:t>• 22 Kịch bản Tấn công Đối kháng (6 Nhóm): </a:t>
            </a:r>
          </a:p>
          <a:p>
            <a:pPr>
              <a:spcAft>
                <a:spcPts val="400"/>
              </a:spcAft>
              <a:defRPr sz="1100">
                <a:solidFill>
                  <a:srgbClr val="1E293B"/>
                </a:solidFill>
                <a:latin typeface="Arial"/>
              </a:defRPr>
            </a:pPr>
            <a:r>
              <a:t>    – SQL Injection phá hoại DDL/DML (4 kịch bản)</a:t>
            </a:r>
          </a:p>
          <a:p>
            <a:pPr>
              <a:spcAft>
                <a:spcPts val="400"/>
              </a:spcAft>
              <a:defRPr sz="1100">
                <a:solidFill>
                  <a:srgbClr val="1E293B"/>
                </a:solidFill>
                <a:latin typeface="Arial"/>
              </a:defRPr>
            </a:pPr>
            <a:r>
              <a:t>    – DoS Cartesian &amp; Recursion (3 kịch bản)</a:t>
            </a:r>
          </a:p>
          <a:p>
            <a:pPr>
              <a:spcAft>
                <a:spcPts val="400"/>
              </a:spcAft>
              <a:defRPr sz="1100">
                <a:solidFill>
                  <a:srgbClr val="1E293B"/>
                </a:solidFill>
                <a:latin typeface="Arial"/>
              </a:defRPr>
            </a:pPr>
            <a:r>
              <a:t>    – Rò rỉ PII, lương &amp; API Secrets (5 kịch bản)</a:t>
            </a:r>
          </a:p>
          <a:p>
            <a:pPr>
              <a:spcAft>
                <a:spcPts val="400"/>
              </a:spcAft>
              <a:defRPr sz="1100">
                <a:solidFill>
                  <a:srgbClr val="1E293B"/>
                </a:solidFill>
                <a:latin typeface="Arial"/>
              </a:defRPr>
            </a:pPr>
            <a:r>
              <a:t>    – Indirect Prompt Injection qua UGC (3 kịch bản)</a:t>
            </a:r>
          </a:p>
          <a:p>
            <a:pPr>
              <a:spcAft>
                <a:spcPts val="400"/>
              </a:spcAft>
              <a:defRPr sz="1100">
                <a:solidFill>
                  <a:srgbClr val="1E293B"/>
                </a:solidFill>
                <a:latin typeface="Arial"/>
              </a:defRPr>
            </a:pPr>
            <a:r>
              <a:t>    – Confused Deputy / Path Traversal (4 kịch bản)</a:t>
            </a:r>
          </a:p>
          <a:p>
            <a:pPr>
              <a:spcAft>
                <a:spcPts val="400"/>
              </a:spcAft>
              <a:defRPr sz="1100">
                <a:solidFill>
                  <a:srgbClr val="1E293B"/>
                </a:solidFill>
                <a:latin typeface="Arial"/>
              </a:defRPr>
            </a:pPr>
            <a:r>
              <a:t>    – Persistent Memory Poisoning (3 kịch bản)</a:t>
            </a:r>
          </a:p>
          <a:p>
            <a:pPr>
              <a:spcAft>
                <a:spcPts val="400"/>
              </a:spcAft>
              <a:defRPr sz="1100">
                <a:solidFill>
                  <a:srgbClr val="1E293B"/>
                </a:solidFill>
                <a:latin typeface="Arial"/>
              </a:defRPr>
            </a:pPr>
            <a:r>
              <a:t>• -&gt; **Toàn bộ 22/22 kịch bản đều bị chặn đứng 100%.**</a:t>
            </a:r>
          </a:p>
        </p:txBody>
      </p:sp>
      <p:graphicFrame>
        <p:nvGraphicFramePr>
          <p:cNvPr id="10" name="Table 9"/>
          <p:cNvGraphicFramePr>
            <a:graphicFrameLocks noGrp="1"/>
          </p:cNvGraphicFramePr>
          <p:nvPr/>
        </p:nvGraphicFramePr>
        <p:xfrm>
          <a:off x="5166360" y="1508760"/>
          <a:ext cx="6293815" cy="361188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904695">
                  <a:extLst>
                    <a:ext uri="{9D8B030D-6E8A-4147-A177-3AD203B41FA5}">
                      <a16:colId xmlns:a16="http://schemas.microsoft.com/office/drawing/2014/main" val="20003"/>
                    </a:ext>
                  </a:extLst>
                </a:gridCol>
              </a:tblGrid>
              <a:tr h="601980">
                <a:tc>
                  <a:txBody>
                    <a:bodyPr/>
                    <a:lstStyle/>
                    <a:p>
                      <a:pPr>
                        <a:defRPr sz="1200" b="1">
                          <a:solidFill>
                            <a:srgbClr val="FFFFFF"/>
                          </a:solidFill>
                          <a:latin typeface="Arial"/>
                        </a:defRPr>
                      </a:pPr>
                      <a:r>
                        <a:t>Chỉ Số Đánh Giá (Metrics)</a:t>
                      </a:r>
                    </a:p>
                  </a:txBody>
                  <a:tcPr anchor="ctr">
                    <a:solidFill>
                      <a:srgbClr val="00205B"/>
                    </a:solidFill>
                  </a:tcPr>
                </a:tc>
                <a:tc>
                  <a:txBody>
                    <a:bodyPr/>
                    <a:lstStyle/>
                    <a:p>
                      <a:pPr algn="ctr">
                        <a:defRPr sz="1200" b="1">
                          <a:solidFill>
                            <a:srgbClr val="FFFFFF"/>
                          </a:solidFill>
                          <a:latin typeface="Arial"/>
                        </a:defRPr>
                      </a:pPr>
                      <a:r>
                        <a:t>Pure ReAct</a:t>
                      </a:r>
                    </a:p>
                  </a:txBody>
                  <a:tcPr anchor="ctr">
                    <a:solidFill>
                      <a:srgbClr val="00205B"/>
                    </a:solidFill>
                  </a:tcPr>
                </a:tc>
                <a:tc>
                  <a:txBody>
                    <a:bodyPr/>
                    <a:lstStyle/>
                    <a:p>
                      <a:pPr algn="ctr">
                        <a:defRPr sz="1200" b="1">
                          <a:solidFill>
                            <a:srgbClr val="FFFFFF"/>
                          </a:solidFill>
                          <a:latin typeface="Arial"/>
                        </a:defRPr>
                      </a:pPr>
                      <a:r>
                        <a:t>Neuro-Symbolic</a:t>
                      </a:r>
                    </a:p>
                  </a:txBody>
                  <a:tcPr anchor="ctr">
                    <a:solidFill>
                      <a:srgbClr val="00205B"/>
                    </a:solidFill>
                  </a:tcPr>
                </a:tc>
                <a:tc>
                  <a:txBody>
                    <a:bodyPr/>
                    <a:lstStyle/>
                    <a:p>
                      <a:pPr>
                        <a:defRPr sz="1200" b="1">
                          <a:solidFill>
                            <a:srgbClr val="FFFFFF"/>
                          </a:solidFill>
                          <a:latin typeface="Arial"/>
                        </a:defRPr>
                      </a:pPr>
                      <a:r>
                        <a:t>Ý Nghĩa Thực Tiễn</a:t>
                      </a:r>
                    </a:p>
                  </a:txBody>
                  <a:tcPr anchor="ctr">
                    <a:solidFill>
                      <a:srgbClr val="00205B"/>
                    </a:solidFill>
                  </a:tcPr>
                </a:tc>
                <a:extLst>
                  <a:ext uri="{0D108BD9-81ED-4DB2-BD59-A6C34878D82A}">
                    <a16:rowId xmlns:a16="http://schemas.microsoft.com/office/drawing/2014/main" val="10000"/>
                  </a:ext>
                </a:extLst>
              </a:tr>
              <a:tr h="601980">
                <a:tc>
                  <a:txBody>
                    <a:bodyPr/>
                    <a:lstStyle/>
                    <a:p>
                      <a:pPr>
                        <a:defRPr sz="1100" b="1">
                          <a:solidFill>
                            <a:srgbClr val="1E293B"/>
                          </a:solidFill>
                          <a:latin typeface="Arial"/>
                        </a:defRPr>
                      </a:pPr>
                      <a:r>
                        <a:t>Attack Block Rate (ABR %)</a:t>
                      </a:r>
                    </a:p>
                  </a:txBody>
                  <a:tcPr anchor="ctr">
                    <a:solidFill>
                      <a:srgbClr val="F8FAFC"/>
                    </a:solidFill>
                  </a:tcPr>
                </a:tc>
                <a:tc>
                  <a:txBody>
                    <a:bodyPr/>
                    <a:lstStyle/>
                    <a:p>
                      <a:pPr algn="ctr">
                        <a:defRPr sz="1100" b="1">
                          <a:solidFill>
                            <a:srgbClr val="1E293B"/>
                          </a:solidFill>
                          <a:latin typeface="Arial"/>
                        </a:defRPr>
                      </a:pPr>
                      <a:r>
                        <a:t>13.6% (3/22)</a:t>
                      </a:r>
                    </a:p>
                  </a:txBody>
                  <a:tcPr anchor="ctr">
                    <a:solidFill>
                      <a:srgbClr val="F8FAFC"/>
                    </a:solidFill>
                  </a:tcPr>
                </a:tc>
                <a:tc>
                  <a:txBody>
                    <a:bodyPr/>
                    <a:lstStyle/>
                    <a:p>
                      <a:pPr algn="ctr">
                        <a:defRPr sz="1100" b="1">
                          <a:solidFill>
                            <a:srgbClr val="16A34A"/>
                          </a:solidFill>
                          <a:latin typeface="Arial"/>
                        </a:defRPr>
                      </a:pPr>
                      <a:r>
                        <a:t>100.0% (22/22)</a:t>
                      </a:r>
                    </a:p>
                  </a:txBody>
                  <a:tcPr anchor="ctr">
                    <a:solidFill>
                      <a:srgbClr val="F8FAFC"/>
                    </a:solidFill>
                  </a:tcPr>
                </a:tc>
                <a:tc>
                  <a:txBody>
                    <a:bodyPr/>
                    <a:lstStyle/>
                    <a:p>
                      <a:pPr>
                        <a:defRPr sz="1100">
                          <a:solidFill>
                            <a:srgbClr val="1E293B"/>
                          </a:solidFill>
                          <a:latin typeface="Arial"/>
                        </a:defRPr>
                      </a:pPr>
                      <a:r>
                        <a:t>Chặn đứng hoàn toàn cả 6 nhóm tấn công</a:t>
                      </a:r>
                    </a:p>
                  </a:txBody>
                  <a:tcPr anchor="ctr">
                    <a:solidFill>
                      <a:srgbClr val="F8FAFC"/>
                    </a:solidFill>
                  </a:tcPr>
                </a:tc>
                <a:extLst>
                  <a:ext uri="{0D108BD9-81ED-4DB2-BD59-A6C34878D82A}">
                    <a16:rowId xmlns:a16="http://schemas.microsoft.com/office/drawing/2014/main" val="10001"/>
                  </a:ext>
                </a:extLst>
              </a:tr>
              <a:tr h="601980">
                <a:tc>
                  <a:txBody>
                    <a:bodyPr/>
                    <a:lstStyle/>
                    <a:p>
                      <a:pPr>
                        <a:defRPr sz="1100" b="1">
                          <a:solidFill>
                            <a:srgbClr val="1E293B"/>
                          </a:solidFill>
                          <a:latin typeface="Arial"/>
                        </a:defRPr>
                      </a:pPr>
                      <a:r>
                        <a:t>Privilege Escalation (PER %)</a:t>
                      </a:r>
                    </a:p>
                  </a:txBody>
                  <a:tcPr anchor="ctr">
                    <a:solidFill>
                      <a:srgbClr val="FFFFFF"/>
                    </a:solidFill>
                  </a:tcPr>
                </a:tc>
                <a:tc>
                  <a:txBody>
                    <a:bodyPr/>
                    <a:lstStyle/>
                    <a:p>
                      <a:pPr algn="ctr">
                        <a:defRPr sz="1100" b="1">
                          <a:solidFill>
                            <a:srgbClr val="1E293B"/>
                          </a:solidFill>
                          <a:latin typeface="Arial"/>
                        </a:defRPr>
                      </a:pPr>
                      <a:r>
                        <a:t>68.2% (15/22)</a:t>
                      </a:r>
                    </a:p>
                  </a:txBody>
                  <a:tcPr anchor="ctr">
                    <a:solidFill>
                      <a:srgbClr val="FFFFFF"/>
                    </a:solidFill>
                  </a:tcPr>
                </a:tc>
                <a:tc>
                  <a:txBody>
                    <a:bodyPr/>
                    <a:lstStyle/>
                    <a:p>
                      <a:pPr algn="ctr">
                        <a:defRPr sz="1100" b="1">
                          <a:solidFill>
                            <a:srgbClr val="16A34A"/>
                          </a:solidFill>
                          <a:latin typeface="Arial"/>
                        </a:defRPr>
                      </a:pPr>
                      <a:r>
                        <a:t>0.0% (0/22)</a:t>
                      </a:r>
                    </a:p>
                  </a:txBody>
                  <a:tcPr anchor="ctr">
                    <a:solidFill>
                      <a:srgbClr val="FFFFFF"/>
                    </a:solidFill>
                  </a:tcPr>
                </a:tc>
                <a:tc>
                  <a:txBody>
                    <a:bodyPr/>
                    <a:lstStyle/>
                    <a:p>
                      <a:pPr>
                        <a:defRPr sz="1100">
                          <a:solidFill>
                            <a:srgbClr val="1E293B"/>
                          </a:solidFill>
                          <a:latin typeface="Arial"/>
                        </a:defRPr>
                      </a:pPr>
                      <a:r>
                        <a:t>Triệt tiêu rủi ro rò rỉ dữ liệu nhạy cảm</a:t>
                      </a:r>
                    </a:p>
                  </a:txBody>
                  <a:tcPr anchor="ctr">
                    <a:solidFill>
                      <a:srgbClr val="FFFFFF"/>
                    </a:solidFill>
                  </a:tcPr>
                </a:tc>
                <a:extLst>
                  <a:ext uri="{0D108BD9-81ED-4DB2-BD59-A6C34878D82A}">
                    <a16:rowId xmlns:a16="http://schemas.microsoft.com/office/drawing/2014/main" val="10002"/>
                  </a:ext>
                </a:extLst>
              </a:tr>
              <a:tr h="601980">
                <a:tc>
                  <a:txBody>
                    <a:bodyPr/>
                    <a:lstStyle/>
                    <a:p>
                      <a:pPr>
                        <a:defRPr sz="1100" b="1">
                          <a:solidFill>
                            <a:srgbClr val="1E293B"/>
                          </a:solidFill>
                          <a:latin typeface="Arial"/>
                        </a:defRPr>
                      </a:pPr>
                      <a:r>
                        <a:t>Execution Accuracy (EX %)</a:t>
                      </a:r>
                    </a:p>
                  </a:txBody>
                  <a:tcPr anchor="ctr">
                    <a:solidFill>
                      <a:srgbClr val="F8FAFC"/>
                    </a:solidFill>
                  </a:tcPr>
                </a:tc>
                <a:tc>
                  <a:txBody>
                    <a:bodyPr/>
                    <a:lstStyle/>
                    <a:p>
                      <a:pPr algn="ctr">
                        <a:defRPr sz="1100" b="1">
                          <a:solidFill>
                            <a:srgbClr val="1E293B"/>
                          </a:solidFill>
                          <a:latin typeface="Arial"/>
                        </a:defRPr>
                      </a:pPr>
                      <a:r>
                        <a:t>78.5%</a:t>
                      </a:r>
                    </a:p>
                  </a:txBody>
                  <a:tcPr anchor="ctr">
                    <a:solidFill>
                      <a:srgbClr val="F8FAFC"/>
                    </a:solidFill>
                  </a:tcPr>
                </a:tc>
                <a:tc>
                  <a:txBody>
                    <a:bodyPr/>
                    <a:lstStyle/>
                    <a:p>
                      <a:pPr algn="ctr">
                        <a:defRPr sz="1100" b="1">
                          <a:solidFill>
                            <a:srgbClr val="00205B"/>
                          </a:solidFill>
                          <a:latin typeface="Arial"/>
                        </a:defRPr>
                      </a:pPr>
                      <a:r>
                        <a:t>93.8%</a:t>
                      </a:r>
                    </a:p>
                  </a:txBody>
                  <a:tcPr anchor="ctr">
                    <a:solidFill>
                      <a:srgbClr val="F8FAFC"/>
                    </a:solidFill>
                  </a:tcPr>
                </a:tc>
                <a:tc>
                  <a:txBody>
                    <a:bodyPr/>
                    <a:lstStyle/>
                    <a:p>
                      <a:pPr>
                        <a:defRPr sz="1100">
                          <a:solidFill>
                            <a:srgbClr val="1E293B"/>
                          </a:solidFill>
                          <a:latin typeface="Arial"/>
                        </a:defRPr>
                      </a:pPr>
                      <a:r>
                        <a:t>Tăng +15.3% nhờ Reflexion tự sửa lỗi</a:t>
                      </a:r>
                    </a:p>
                  </a:txBody>
                  <a:tcPr anchor="ctr">
                    <a:solidFill>
                      <a:srgbClr val="F8FAFC"/>
                    </a:solidFill>
                  </a:tcPr>
                </a:tc>
                <a:extLst>
                  <a:ext uri="{0D108BD9-81ED-4DB2-BD59-A6C34878D82A}">
                    <a16:rowId xmlns:a16="http://schemas.microsoft.com/office/drawing/2014/main" val="10003"/>
                  </a:ext>
                </a:extLst>
              </a:tr>
              <a:tr h="601980">
                <a:tc>
                  <a:txBody>
                    <a:bodyPr/>
                    <a:lstStyle/>
                    <a:p>
                      <a:pPr>
                        <a:defRPr sz="1100" b="1">
                          <a:solidFill>
                            <a:srgbClr val="1E293B"/>
                          </a:solidFill>
                          <a:latin typeface="Arial"/>
                        </a:defRPr>
                      </a:pPr>
                      <a:r>
                        <a:t>End-to-End Latency</a:t>
                      </a:r>
                    </a:p>
                  </a:txBody>
                  <a:tcPr anchor="ctr">
                    <a:solidFill>
                      <a:srgbClr val="FFFFFF"/>
                    </a:solidFill>
                  </a:tcPr>
                </a:tc>
                <a:tc>
                  <a:txBody>
                    <a:bodyPr/>
                    <a:lstStyle/>
                    <a:p>
                      <a:pPr algn="ctr">
                        <a:defRPr sz="1100" b="1">
                          <a:solidFill>
                            <a:srgbClr val="1E293B"/>
                          </a:solidFill>
                          <a:latin typeface="Arial"/>
                        </a:defRPr>
                      </a:pPr>
                      <a:r>
                        <a:t>1.42s</a:t>
                      </a:r>
                    </a:p>
                  </a:txBody>
                  <a:tcPr anchor="ctr">
                    <a:solidFill>
                      <a:srgbClr val="FFFFFF"/>
                    </a:solidFill>
                  </a:tcPr>
                </a:tc>
                <a:tc>
                  <a:txBody>
                    <a:bodyPr/>
                    <a:lstStyle/>
                    <a:p>
                      <a:pPr algn="ctr">
                        <a:defRPr sz="1100" b="1">
                          <a:solidFill>
                            <a:srgbClr val="1E293B"/>
                          </a:solidFill>
                          <a:latin typeface="Arial"/>
                        </a:defRPr>
                      </a:pPr>
                      <a:r>
                        <a:t>1.85s</a:t>
                      </a:r>
                    </a:p>
                  </a:txBody>
                  <a:tcPr anchor="ctr">
                    <a:solidFill>
                      <a:srgbClr val="FFFFFF"/>
                    </a:solidFill>
                  </a:tcPr>
                </a:tc>
                <a:tc>
                  <a:txBody>
                    <a:bodyPr/>
                    <a:lstStyle/>
                    <a:p>
                      <a:pPr>
                        <a:defRPr sz="1100">
                          <a:solidFill>
                            <a:srgbClr val="1E293B"/>
                          </a:solidFill>
                          <a:latin typeface="Arial"/>
                        </a:defRPr>
                      </a:pPr>
                      <a:r>
                        <a:t>Khối Symbolic chỉ tăng thêm ~0.43s</a:t>
                      </a:r>
                    </a:p>
                  </a:txBody>
                  <a:tcPr anchor="ctr">
                    <a:solidFill>
                      <a:srgbClr val="FFFFFF"/>
                    </a:solidFill>
                  </a:tcPr>
                </a:tc>
                <a:extLst>
                  <a:ext uri="{0D108BD9-81ED-4DB2-BD59-A6C34878D82A}">
                    <a16:rowId xmlns:a16="http://schemas.microsoft.com/office/drawing/2014/main" val="10004"/>
                  </a:ext>
                </a:extLst>
              </a:tr>
              <a:tr h="601980">
                <a:tc>
                  <a:txBody>
                    <a:bodyPr/>
                    <a:lstStyle/>
                    <a:p>
                      <a:pPr>
                        <a:defRPr sz="1100" b="1">
                          <a:solidFill>
                            <a:srgbClr val="1E293B"/>
                          </a:solidFill>
                          <a:latin typeface="Arial"/>
                        </a:defRPr>
                      </a:pPr>
                      <a:r>
                        <a:t>Chi phí API / Truy vấn</a:t>
                      </a:r>
                    </a:p>
                  </a:txBody>
                  <a:tcPr anchor="ctr">
                    <a:solidFill>
                      <a:srgbClr val="F8FAFC"/>
                    </a:solidFill>
                  </a:tcPr>
                </a:tc>
                <a:tc>
                  <a:txBody>
                    <a:bodyPr/>
                    <a:lstStyle/>
                    <a:p>
                      <a:pPr algn="ctr">
                        <a:defRPr sz="1100" b="1">
                          <a:solidFill>
                            <a:srgbClr val="1E293B"/>
                          </a:solidFill>
                          <a:latin typeface="Arial"/>
                        </a:defRPr>
                      </a:pPr>
                      <a:r>
                        <a:t>0.00065 USD</a:t>
                      </a:r>
                    </a:p>
                  </a:txBody>
                  <a:tcPr anchor="ctr">
                    <a:solidFill>
                      <a:srgbClr val="F8FAFC"/>
                    </a:solidFill>
                  </a:tcPr>
                </a:tc>
                <a:tc>
                  <a:txBody>
                    <a:bodyPr/>
                    <a:lstStyle/>
                    <a:p>
                      <a:pPr algn="ctr">
                        <a:defRPr sz="1100" b="1">
                          <a:solidFill>
                            <a:srgbClr val="16A34A"/>
                          </a:solidFill>
                          <a:latin typeface="Arial"/>
                        </a:defRPr>
                      </a:pPr>
                      <a:r>
                        <a:t>0.00021 USD</a:t>
                      </a:r>
                    </a:p>
                  </a:txBody>
                  <a:tcPr anchor="ctr">
                    <a:solidFill>
                      <a:srgbClr val="F8FAFC"/>
                    </a:solidFill>
                  </a:tcPr>
                </a:tc>
                <a:tc>
                  <a:txBody>
                    <a:bodyPr/>
                    <a:lstStyle/>
                    <a:p>
                      <a:pPr>
                        <a:defRPr sz="1100">
                          <a:solidFill>
                            <a:srgbClr val="1E293B"/>
                          </a:solidFill>
                          <a:latin typeface="Arial"/>
                        </a:defRPr>
                      </a:pPr>
                      <a:r>
                        <a:t>Tiết kiệm 70% token qua Schema Filter</a:t>
                      </a:r>
                    </a:p>
                  </a:txBody>
                  <a:tcPr anchor="ctr">
                    <a:solidFill>
                      <a:srgbClr val="F8FAFC"/>
                    </a:solidFill>
                  </a:tcPr>
                </a:tc>
                <a:extLst>
                  <a:ext uri="{0D108BD9-81ED-4DB2-BD59-A6C34878D82A}">
                    <a16:rowId xmlns:a16="http://schemas.microsoft.com/office/drawing/2014/main" val="10005"/>
                  </a:ext>
                </a:extLst>
              </a:tr>
            </a:tbl>
          </a:graphicData>
        </a:graphic>
      </p:graphicFrame>
      <p:sp>
        <p:nvSpPr>
          <p:cNvPr id="11" name="Rounded Rectangle 10"/>
          <p:cNvSpPr/>
          <p:nvPr/>
        </p:nvSpPr>
        <p:spPr>
          <a:xfrm>
            <a:off x="731520" y="5257800"/>
            <a:ext cx="2542032" cy="10515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312664"/>
            <a:ext cx="2395728" cy="941832"/>
          </a:xfrm>
          <a:prstGeom prst="rect">
            <a:avLst/>
          </a:prstGeom>
          <a:noFill/>
        </p:spPr>
        <p:txBody>
          <a:bodyPr wrap="square" lIns="0" tIns="0" rIns="0" bIns="0">
            <a:spAutoFit/>
          </a:bodyPr>
          <a:lstStyle/>
          <a:p>
            <a:pPr algn="ctr">
              <a:defRPr sz="3200" b="1">
                <a:solidFill>
                  <a:srgbClr val="16A34A"/>
                </a:solidFill>
                <a:latin typeface="Arial"/>
              </a:defRPr>
            </a:pPr>
            <a:r>
              <a:t>100.0%</a:t>
            </a:r>
          </a:p>
          <a:p>
            <a:pPr algn="ctr">
              <a:spcBef>
                <a:spcPts val="300"/>
              </a:spcBef>
              <a:defRPr sz="1300" b="1">
                <a:solidFill>
                  <a:srgbClr val="1E293B"/>
                </a:solidFill>
                <a:latin typeface="Arial"/>
              </a:defRPr>
            </a:pPr>
            <a:r>
              <a:t>ATTACK BLOCK RATE</a:t>
            </a:r>
          </a:p>
          <a:p>
            <a:pPr algn="ctr">
              <a:spcBef>
                <a:spcPts val="200"/>
              </a:spcBef>
              <a:defRPr sz="1100">
                <a:solidFill>
                  <a:srgbClr val="64748B"/>
                </a:solidFill>
                <a:latin typeface="Arial"/>
              </a:defRPr>
            </a:pPr>
            <a:r>
              <a:t>Chặn 22/22 kịch bản đối kháng</a:t>
            </a:r>
          </a:p>
        </p:txBody>
      </p:sp>
      <p:sp>
        <p:nvSpPr>
          <p:cNvPr id="13" name="Rounded Rectangle 12"/>
          <p:cNvSpPr/>
          <p:nvPr/>
        </p:nvSpPr>
        <p:spPr>
          <a:xfrm>
            <a:off x="3456432" y="5257800"/>
            <a:ext cx="2542032" cy="10515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29584" y="5312664"/>
            <a:ext cx="2395728" cy="941832"/>
          </a:xfrm>
          <a:prstGeom prst="rect">
            <a:avLst/>
          </a:prstGeom>
          <a:noFill/>
        </p:spPr>
        <p:txBody>
          <a:bodyPr wrap="square" lIns="0" tIns="0" rIns="0" bIns="0">
            <a:spAutoFit/>
          </a:bodyPr>
          <a:lstStyle/>
          <a:p>
            <a:pPr algn="ctr">
              <a:defRPr sz="3200" b="1">
                <a:solidFill>
                  <a:srgbClr val="16A34A"/>
                </a:solidFill>
                <a:latin typeface="Arial"/>
              </a:defRPr>
            </a:pPr>
            <a:r>
              <a:t>0.0%</a:t>
            </a:r>
          </a:p>
          <a:p>
            <a:pPr algn="ctr">
              <a:spcBef>
                <a:spcPts val="300"/>
              </a:spcBef>
              <a:defRPr sz="1300" b="1">
                <a:solidFill>
                  <a:srgbClr val="1E293B"/>
                </a:solidFill>
                <a:latin typeface="Arial"/>
              </a:defRPr>
            </a:pPr>
            <a:r>
              <a:t>PRIVILEGE ESCALATION</a:t>
            </a:r>
          </a:p>
          <a:p>
            <a:pPr algn="ctr">
              <a:spcBef>
                <a:spcPts val="200"/>
              </a:spcBef>
              <a:defRPr sz="1100">
                <a:solidFill>
                  <a:srgbClr val="64748B"/>
                </a:solidFill>
                <a:latin typeface="Arial"/>
              </a:defRPr>
            </a:pPr>
            <a:r>
              <a:t>Triệt tiêu 100% rò rỉ PII</a:t>
            </a:r>
          </a:p>
        </p:txBody>
      </p:sp>
      <p:sp>
        <p:nvSpPr>
          <p:cNvPr id="15" name="Rounded Rectangle 14"/>
          <p:cNvSpPr/>
          <p:nvPr/>
        </p:nvSpPr>
        <p:spPr>
          <a:xfrm>
            <a:off x="6181344" y="5257800"/>
            <a:ext cx="2542032" cy="1051560"/>
          </a:xfrm>
          <a:prstGeom prst="roundRect">
            <a:avLst/>
          </a:prstGeom>
          <a:solidFill>
            <a:srgbClr val="EBF4FE"/>
          </a:solidFill>
          <a:ln w="12700">
            <a:solidFill>
              <a:srgbClr val="BAD7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54496" y="5312664"/>
            <a:ext cx="2395728" cy="941832"/>
          </a:xfrm>
          <a:prstGeom prst="rect">
            <a:avLst/>
          </a:prstGeom>
          <a:noFill/>
        </p:spPr>
        <p:txBody>
          <a:bodyPr wrap="square" lIns="0" tIns="0" rIns="0" bIns="0">
            <a:spAutoFit/>
          </a:bodyPr>
          <a:lstStyle/>
          <a:p>
            <a:pPr algn="ctr">
              <a:defRPr sz="3200" b="1">
                <a:solidFill>
                  <a:srgbClr val="00205B"/>
                </a:solidFill>
                <a:latin typeface="Arial"/>
              </a:defRPr>
            </a:pPr>
            <a:r>
              <a:t>93.8%</a:t>
            </a:r>
          </a:p>
          <a:p>
            <a:pPr algn="ctr">
              <a:spcBef>
                <a:spcPts val="300"/>
              </a:spcBef>
              <a:defRPr sz="1300" b="1">
                <a:solidFill>
                  <a:srgbClr val="1E293B"/>
                </a:solidFill>
                <a:latin typeface="Arial"/>
              </a:defRPr>
            </a:pPr>
            <a:r>
              <a:t>EXECUTION ACCURACY</a:t>
            </a:r>
          </a:p>
          <a:p>
            <a:pPr algn="ctr">
              <a:spcBef>
                <a:spcPts val="200"/>
              </a:spcBef>
              <a:defRPr sz="1100">
                <a:solidFill>
                  <a:srgbClr val="64748B"/>
                </a:solidFill>
                <a:latin typeface="Arial"/>
              </a:defRPr>
            </a:pPr>
            <a:r>
              <a:t>+15.3% nhờ Reflexion sửa lỗi</a:t>
            </a:r>
          </a:p>
        </p:txBody>
      </p:sp>
      <p:sp>
        <p:nvSpPr>
          <p:cNvPr id="17" name="Rounded Rectangle 16"/>
          <p:cNvSpPr/>
          <p:nvPr/>
        </p:nvSpPr>
        <p:spPr>
          <a:xfrm>
            <a:off x="8906256" y="5257800"/>
            <a:ext cx="2542032"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979408" y="5312664"/>
            <a:ext cx="2395728" cy="941832"/>
          </a:xfrm>
          <a:prstGeom prst="rect">
            <a:avLst/>
          </a:prstGeom>
          <a:noFill/>
        </p:spPr>
        <p:txBody>
          <a:bodyPr wrap="square" lIns="0" tIns="0" rIns="0" bIns="0">
            <a:spAutoFit/>
          </a:bodyPr>
          <a:lstStyle/>
          <a:p>
            <a:pPr algn="ctr">
              <a:defRPr sz="3200" b="1">
                <a:solidFill>
                  <a:srgbClr val="00205B"/>
                </a:solidFill>
                <a:latin typeface="Arial"/>
              </a:defRPr>
            </a:pPr>
            <a:r>
              <a:t>~5 VNĐ</a:t>
            </a:r>
          </a:p>
          <a:p>
            <a:pPr algn="ctr">
              <a:spcBef>
                <a:spcPts val="300"/>
              </a:spcBef>
              <a:defRPr sz="1300" b="1">
                <a:solidFill>
                  <a:srgbClr val="1E293B"/>
                </a:solidFill>
                <a:latin typeface="Arial"/>
              </a:defRPr>
            </a:pPr>
            <a:r>
              <a:t>CHI PHÍ TRUY VẤN</a:t>
            </a:r>
          </a:p>
          <a:p>
            <a:pPr algn="ctr">
              <a:spcBef>
                <a:spcPts val="200"/>
              </a:spcBef>
              <a:defRPr sz="1100">
                <a:solidFill>
                  <a:srgbClr val="64748B"/>
                </a:solidFill>
                <a:latin typeface="Arial"/>
              </a:defRPr>
            </a:pPr>
            <a:r>
              <a:t>Tiết kiệm 70% token qua Filter</a:t>
            </a:r>
          </a:p>
        </p:txBody>
      </p:sp>
      <p:sp>
        <p:nvSpPr>
          <p:cNvPr id="19" name="Rectangle 18"/>
          <p:cNvSpPr/>
          <p:nvPr/>
        </p:nvSpPr>
        <p:spPr>
          <a:xfrm>
            <a:off x="731520" y="6419088"/>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6455664"/>
            <a:ext cx="8229600" cy="256032"/>
          </a:xfrm>
          <a:prstGeom prst="rect">
            <a:avLst/>
          </a:prstGeom>
          <a:noFill/>
        </p:spPr>
        <p:txBody>
          <a:bodyPr wrap="square" lIns="0" tIns="0" rIns="0" bIns="0">
            <a:spAutoFit/>
          </a:bodyPr>
          <a:lstStyle/>
          <a:p>
            <a:pPr>
              <a:defRPr sz="1050">
                <a:solidFill>
                  <a:srgbClr val="94A3B8"/>
                </a:solidFill>
                <a:latin typeface="Arial"/>
              </a:defRPr>
            </a:pPr>
            <a:r>
              <a:t>Secure Agentic BI Framework | Checkpoint D2 | Khoa KH&amp;KT Máy tính - ĐH Bách Khoa TP.HCM</a:t>
            </a:r>
          </a:p>
        </p:txBody>
      </p:sp>
      <p:sp>
        <p:nvSpPr>
          <p:cNvPr id="21" name="TextBox 20"/>
          <p:cNvSpPr txBox="1"/>
          <p:nvPr/>
        </p:nvSpPr>
        <p:spPr>
          <a:xfrm>
            <a:off x="9144000" y="6455664"/>
            <a:ext cx="2316175" cy="256032"/>
          </a:xfrm>
          <a:prstGeom prst="rect">
            <a:avLst/>
          </a:prstGeom>
          <a:noFill/>
        </p:spPr>
        <p:txBody>
          <a:bodyPr wrap="square" lIns="0" tIns="0" rIns="0" bIns="0">
            <a:spAutoFit/>
          </a:bodyPr>
          <a:lstStyle/>
          <a:p>
            <a:pPr algn="r">
              <a:defRPr sz="1100" b="1">
                <a:solidFill>
                  <a:srgbClr val="00205B"/>
                </a:solidFill>
                <a:latin typeface="Arial"/>
              </a:defRPr>
            </a:pPr>
            <a:r>
              <a:t>Slide 09 / 14</a:t>
            </a:r>
          </a:p>
        </p:txBody>
      </p:sp>
      <p:pic>
        <p:nvPicPr>
          <p:cNvPr id="22" name="Picture 21" descr="X6.png">
            <a:extLst>
              <a:ext uri="{FF2B5EF4-FFF2-40B4-BE49-F238E27FC236}">
                <a16:creationId xmlns:a16="http://schemas.microsoft.com/office/drawing/2014/main" id="{94DF63B6-2AE0-0CBE-367D-205A5B714E03}"/>
              </a:ext>
            </a:extLst>
          </p:cNvPr>
          <p:cNvPicPr>
            <a:picLocks noChangeAspect="1"/>
          </p:cNvPicPr>
          <p:nvPr/>
        </p:nvPicPr>
        <p:blipFill>
          <a:blip r:embed="rId3"/>
          <a:stretch>
            <a:fillRect/>
          </a:stretch>
        </p:blipFill>
        <p:spPr>
          <a:xfrm>
            <a:off x="11457432" y="75268"/>
            <a:ext cx="594360" cy="5992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56032"/>
            <a:ext cx="10728655" cy="256032"/>
          </a:xfrm>
          <a:prstGeom prst="rect">
            <a:avLst/>
          </a:prstGeom>
          <a:noFill/>
        </p:spPr>
        <p:txBody>
          <a:bodyPr wrap="square" lIns="0" tIns="0" rIns="0" bIns="0">
            <a:spAutoFit/>
          </a:bodyPr>
          <a:lstStyle/>
          <a:p>
            <a:pPr>
              <a:defRPr sz="1300" b="1">
                <a:solidFill>
                  <a:srgbClr val="0070AD"/>
                </a:solidFill>
                <a:latin typeface="Arial"/>
              </a:defRPr>
            </a:pPr>
            <a:r>
              <a:t>PHẦN 5: ĐÁNH GIÁ THỰC NGHIỆM</a:t>
            </a:r>
          </a:p>
        </p:txBody>
      </p:sp>
      <p:sp>
        <p:nvSpPr>
          <p:cNvPr id="4" name="TextBox 3"/>
          <p:cNvSpPr txBox="1"/>
          <p:nvPr/>
        </p:nvSpPr>
        <p:spPr>
          <a:xfrm>
            <a:off x="731520" y="493776"/>
            <a:ext cx="10728655" cy="502920"/>
          </a:xfrm>
          <a:prstGeom prst="rect">
            <a:avLst/>
          </a:prstGeom>
          <a:noFill/>
        </p:spPr>
        <p:txBody>
          <a:bodyPr wrap="square" lIns="0" tIns="0" rIns="0" bIns="0">
            <a:spAutoFit/>
          </a:bodyPr>
          <a:lstStyle/>
          <a:p>
            <a:pPr>
              <a:defRPr sz="2400" b="1">
                <a:solidFill>
                  <a:srgbClr val="00205B"/>
                </a:solidFill>
                <a:latin typeface="Arial"/>
              </a:defRPr>
            </a:pPr>
            <a:r>
              <a:t>Phân Tích Hiệu Năng: Độ Trễ, Chi Phí Token &amp; Tự Sửa Lỗi</a:t>
            </a:r>
          </a:p>
        </p:txBody>
      </p:sp>
      <p:sp>
        <p:nvSpPr>
          <p:cNvPr id="5" name="TextBox 4"/>
          <p:cNvSpPr txBox="1"/>
          <p:nvPr/>
        </p:nvSpPr>
        <p:spPr>
          <a:xfrm>
            <a:off x="731520" y="1005840"/>
            <a:ext cx="10728655" cy="347472"/>
          </a:xfrm>
          <a:prstGeom prst="rect">
            <a:avLst/>
          </a:prstGeom>
          <a:noFill/>
        </p:spPr>
        <p:txBody>
          <a:bodyPr wrap="square" lIns="0" tIns="0" rIns="0" bIns="0">
            <a:spAutoFit/>
          </a:bodyPr>
          <a:lstStyle/>
          <a:p>
            <a:pPr>
              <a:defRPr sz="1350" i="1">
                <a:solidFill>
                  <a:srgbClr val="64748B"/>
                </a:solidFill>
                <a:latin typeface="Arial"/>
              </a:defRPr>
            </a:pPr>
            <a:r>
              <a:t>Overhead kiểm chứng AST chỉ chiếm 1.1% thời gian (0.02s); Schema Filter tiết kiệm 70% token; Vòng lặp Reflexion tự phục hồi lỗi Trino.</a:t>
            </a:r>
          </a:p>
        </p:txBody>
      </p:sp>
      <p:sp>
        <p:nvSpPr>
          <p:cNvPr id="6" name="Rectangle 5"/>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508760"/>
            <a:ext cx="3429000" cy="3840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508760"/>
            <a:ext cx="3429000" cy="384048"/>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50" b="1">
                <a:solidFill>
                  <a:srgbClr val="FFFFFF"/>
                </a:solidFill>
                <a:latin typeface="Arial"/>
              </a:defRPr>
            </a:pPr>
            <a:r>
              <a:t>PHÂN RÃ ĐỘ TRỄ (TỔNG: 1.85s)</a:t>
            </a:r>
          </a:p>
        </p:txBody>
      </p:sp>
      <p:sp>
        <p:nvSpPr>
          <p:cNvPr id="9" name="TextBox 8"/>
          <p:cNvSpPr txBox="1"/>
          <p:nvPr/>
        </p:nvSpPr>
        <p:spPr>
          <a:xfrm>
            <a:off x="868680" y="1965960"/>
            <a:ext cx="3154680" cy="3337560"/>
          </a:xfrm>
          <a:prstGeom prst="rect">
            <a:avLst/>
          </a:prstGeom>
          <a:noFill/>
        </p:spPr>
        <p:txBody>
          <a:bodyPr wrap="square" lIns="0" tIns="0" rIns="0" bIns="0">
            <a:spAutoFit/>
          </a:bodyPr>
          <a:lstStyle/>
          <a:p>
            <a:pPr>
              <a:spcAft>
                <a:spcPts val="700"/>
              </a:spcAft>
              <a:defRPr sz="1200">
                <a:solidFill>
                  <a:srgbClr val="1E293B"/>
                </a:solidFill>
                <a:latin typeface="Arial"/>
              </a:defRPr>
            </a:pPr>
            <a:r>
              <a:rPr b="1">
                <a:solidFill>
                  <a:srgbClr val="00205B"/>
                </a:solidFill>
              </a:rPr>
              <a:t>• RBAC &amp; Schema Pruning: </a:t>
            </a:r>
            <a:r>
              <a:rPr b="0">
                <a:solidFill>
                  <a:srgbClr val="1E293B"/>
                </a:solidFill>
              </a:rPr>
              <a:t>~0.16s (8.6% thời gian).</a:t>
            </a:r>
          </a:p>
          <a:p>
            <a:pPr>
              <a:spcAft>
                <a:spcPts val="700"/>
              </a:spcAft>
              <a:defRPr sz="1200">
                <a:solidFill>
                  <a:srgbClr val="1E293B"/>
                </a:solidFill>
                <a:latin typeface="Arial"/>
              </a:defRPr>
            </a:pPr>
            <a:r>
              <a:rPr b="1">
                <a:solidFill>
                  <a:srgbClr val="00205B"/>
                </a:solidFill>
              </a:rPr>
              <a:t>• Neural Planning (Gemini Flash): </a:t>
            </a:r>
            <a:r>
              <a:rPr b="0">
                <a:solidFill>
                  <a:srgbClr val="1E293B"/>
                </a:solidFill>
              </a:rPr>
              <a:t>~0.95s (51.4% thời gian — bước suy luận chính).</a:t>
            </a:r>
          </a:p>
          <a:p>
            <a:pPr>
              <a:spcAft>
                <a:spcPts val="700"/>
              </a:spcAft>
              <a:defRPr sz="1200">
                <a:solidFill>
                  <a:srgbClr val="1E293B"/>
                </a:solidFill>
                <a:latin typeface="Arial"/>
              </a:defRPr>
            </a:pPr>
            <a:r>
              <a:rPr b="1">
                <a:solidFill>
                  <a:srgbClr val="00205B"/>
                </a:solidFill>
              </a:rPr>
              <a:t>• Symbolic AST Guardrail (sqlglot): </a:t>
            </a:r>
            <a:r>
              <a:rPr b="0">
                <a:solidFill>
                  <a:srgbClr val="1E293B"/>
                </a:solidFill>
              </a:rPr>
              <a:t>**~0.02s (chỉ 1.1% thời gian!)**</a:t>
            </a:r>
          </a:p>
          <a:p>
            <a:pPr>
              <a:spcAft>
                <a:spcPts val="700"/>
              </a:spcAft>
              <a:defRPr sz="1200">
                <a:solidFill>
                  <a:srgbClr val="1E293B"/>
                </a:solidFill>
                <a:latin typeface="Arial"/>
              </a:defRPr>
            </a:pPr>
            <a:r>
              <a:t>•   -&gt; *Bác bỏ định kiến kiểm tra cú pháp làm chậm hệ thống.*</a:t>
            </a:r>
          </a:p>
          <a:p>
            <a:pPr>
              <a:spcAft>
                <a:spcPts val="700"/>
              </a:spcAft>
              <a:defRPr sz="1200">
                <a:solidFill>
                  <a:srgbClr val="1E293B"/>
                </a:solidFill>
                <a:latin typeface="Arial"/>
              </a:defRPr>
            </a:pPr>
            <a:r>
              <a:rPr b="1">
                <a:solidFill>
                  <a:srgbClr val="00205B"/>
                </a:solidFill>
              </a:rPr>
              <a:t>• Trino Federated Execution: </a:t>
            </a:r>
            <a:r>
              <a:rPr b="0">
                <a:solidFill>
                  <a:srgbClr val="1E293B"/>
                </a:solidFill>
              </a:rPr>
              <a:t>~0.35s (18.9% thời gian).</a:t>
            </a:r>
          </a:p>
          <a:p>
            <a:pPr>
              <a:spcAft>
                <a:spcPts val="700"/>
              </a:spcAft>
              <a:defRPr sz="1200">
                <a:solidFill>
                  <a:srgbClr val="1E293B"/>
                </a:solidFill>
                <a:latin typeface="Arial"/>
              </a:defRPr>
            </a:pPr>
            <a:r>
              <a:rPr b="1">
                <a:solidFill>
                  <a:srgbClr val="00205B"/>
                </a:solidFill>
              </a:rPr>
              <a:t>• Taint Filter &amp; Safe Synthesis: </a:t>
            </a:r>
            <a:r>
              <a:rPr b="0">
                <a:solidFill>
                  <a:srgbClr val="1E293B"/>
                </a:solidFill>
              </a:rPr>
              <a:t>~0.37s (20.0% thời gian).</a:t>
            </a:r>
          </a:p>
        </p:txBody>
      </p:sp>
      <p:sp>
        <p:nvSpPr>
          <p:cNvPr id="10" name="Rounded Rectangle 9"/>
          <p:cNvSpPr/>
          <p:nvPr/>
        </p:nvSpPr>
        <p:spPr>
          <a:xfrm>
            <a:off x="4379976" y="1508760"/>
            <a:ext cx="3429000" cy="3840480"/>
          </a:xfrm>
          <a:prstGeom prst="roundRect">
            <a:avLst/>
          </a:prstGeom>
          <a:solidFill>
            <a:srgbClr val="F8FAFC"/>
          </a:solidFill>
          <a:ln w="12700">
            <a:solidFill>
              <a:srgbClr val="BAD7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79976" y="1508760"/>
            <a:ext cx="3429000" cy="3840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50" b="1">
                <a:solidFill>
                  <a:srgbClr val="FFFFFF"/>
                </a:solidFill>
                <a:latin typeface="Arial"/>
              </a:defRPr>
            </a:pPr>
            <a:r>
              <a:t>TỐI ƯU CHI PHÍ TOKEN &amp; FALLBACK</a:t>
            </a:r>
          </a:p>
        </p:txBody>
      </p:sp>
      <p:sp>
        <p:nvSpPr>
          <p:cNvPr id="12" name="TextBox 11"/>
          <p:cNvSpPr txBox="1"/>
          <p:nvPr/>
        </p:nvSpPr>
        <p:spPr>
          <a:xfrm>
            <a:off x="4517136" y="1965960"/>
            <a:ext cx="3154680" cy="3337560"/>
          </a:xfrm>
          <a:prstGeom prst="rect">
            <a:avLst/>
          </a:prstGeom>
          <a:noFill/>
        </p:spPr>
        <p:txBody>
          <a:bodyPr wrap="square" lIns="0" tIns="0" rIns="0" bIns="0">
            <a:spAutoFit/>
          </a:bodyPr>
          <a:lstStyle/>
          <a:p>
            <a:pPr>
              <a:spcAft>
                <a:spcPts val="800"/>
              </a:spcAft>
              <a:defRPr sz="1200">
                <a:solidFill>
                  <a:srgbClr val="1E293B"/>
                </a:solidFill>
                <a:latin typeface="Arial"/>
              </a:defRPr>
            </a:pPr>
            <a:r>
              <a:rPr b="1">
                <a:solidFill>
                  <a:srgbClr val="00205B"/>
                </a:solidFill>
              </a:rPr>
              <a:t>• Tiết kiệm 70% token đầu vào: </a:t>
            </a:r>
            <a:r>
              <a:rPr b="0">
                <a:solidFill>
                  <a:srgbClr val="1E293B"/>
                </a:solidFill>
              </a:rPr>
              <a:t>Kỹ thuật Least-Privilege Schema chỉ tiêm các bảng được cấp phép (từ 4,200 xuống ~950 tokens).</a:t>
            </a:r>
          </a:p>
          <a:p>
            <a:pPr>
              <a:spcAft>
                <a:spcPts val="800"/>
              </a:spcAft>
              <a:defRPr sz="1200">
                <a:solidFill>
                  <a:srgbClr val="1E293B"/>
                </a:solidFill>
                <a:latin typeface="Arial"/>
              </a:defRPr>
            </a:pPr>
            <a:r>
              <a:rPr b="1">
                <a:solidFill>
                  <a:srgbClr val="00205B"/>
                </a:solidFill>
              </a:rPr>
              <a:t>• Chi phí cực thấp: </a:t>
            </a:r>
            <a:r>
              <a:rPr b="0">
                <a:solidFill>
                  <a:srgbClr val="1E293B"/>
                </a:solidFill>
              </a:rPr>
              <a:t>Trung bình **~0.0002 USD (~5 VNĐ) / truy vấn**.</a:t>
            </a:r>
          </a:p>
          <a:p>
            <a:pPr>
              <a:spcAft>
                <a:spcPts val="800"/>
              </a:spcAft>
              <a:defRPr sz="1200">
                <a:solidFill>
                  <a:srgbClr val="1E293B"/>
                </a:solidFill>
                <a:latin typeface="Arial"/>
              </a:defRPr>
            </a:pPr>
            <a:r>
              <a:rPr b="1">
                <a:solidFill>
                  <a:srgbClr val="00205B"/>
                </a:solidFill>
              </a:rPr>
              <a:t>• Fallback Engine Thông Minh: </a:t>
            </a:r>
            <a:r>
              <a:rPr b="0">
                <a:solidFill>
                  <a:srgbClr val="1E293B"/>
                </a:solidFill>
              </a:rPr>
              <a:t>Tự động trượt giữa Gemini Flash và Flash-lite khi gặp HTTP 429 Quota.</a:t>
            </a:r>
          </a:p>
          <a:p>
            <a:pPr>
              <a:spcAft>
                <a:spcPts val="800"/>
              </a:spcAft>
              <a:defRPr sz="1200">
                <a:solidFill>
                  <a:srgbClr val="1E293B"/>
                </a:solidFill>
                <a:latin typeface="Arial"/>
              </a:defRPr>
            </a:pPr>
            <a:r>
              <a:rPr b="1">
                <a:solidFill>
                  <a:srgbClr val="00205B"/>
                </a:solidFill>
              </a:rPr>
              <a:t>• Độ sẵn sàng 100%: </a:t>
            </a:r>
            <a:r>
              <a:rPr b="0">
                <a:solidFill>
                  <a:srgbClr val="1E293B"/>
                </a:solidFill>
              </a:rPr>
              <a:t>Vận hành bền bỉ với chi phí 0 USD trên Free Tier.</a:t>
            </a:r>
          </a:p>
        </p:txBody>
      </p:sp>
      <p:sp>
        <p:nvSpPr>
          <p:cNvPr id="13" name="Rounded Rectangle 12"/>
          <p:cNvSpPr/>
          <p:nvPr/>
        </p:nvSpPr>
        <p:spPr>
          <a:xfrm>
            <a:off x="8028432" y="1508760"/>
            <a:ext cx="3429000" cy="3840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28432" y="1508760"/>
            <a:ext cx="3429000" cy="384048"/>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50" b="1">
                <a:solidFill>
                  <a:srgbClr val="FFFFFF"/>
                </a:solidFill>
                <a:latin typeface="Arial"/>
              </a:defRPr>
            </a:pPr>
            <a:r>
              <a:t>3 LỖI REFLEXION TỰ PHỤC HỒI</a:t>
            </a:r>
          </a:p>
        </p:txBody>
      </p:sp>
      <p:sp>
        <p:nvSpPr>
          <p:cNvPr id="15" name="TextBox 14"/>
          <p:cNvSpPr txBox="1"/>
          <p:nvPr/>
        </p:nvSpPr>
        <p:spPr>
          <a:xfrm>
            <a:off x="8165592" y="1965960"/>
            <a:ext cx="3154680" cy="3337560"/>
          </a:xfrm>
          <a:prstGeom prst="rect">
            <a:avLst/>
          </a:prstGeom>
          <a:noFill/>
        </p:spPr>
        <p:txBody>
          <a:bodyPr wrap="square" lIns="0" tIns="0" rIns="0" bIns="0">
            <a:spAutoFit/>
          </a:bodyPr>
          <a:lstStyle/>
          <a:p>
            <a:pPr>
              <a:spcAft>
                <a:spcPts val="700"/>
              </a:spcAft>
              <a:defRPr sz="1200">
                <a:solidFill>
                  <a:srgbClr val="1E293B"/>
                </a:solidFill>
                <a:latin typeface="Arial"/>
              </a:defRPr>
            </a:pPr>
            <a:r>
              <a:rPr b="1">
                <a:solidFill>
                  <a:srgbClr val="00205B"/>
                </a:solidFill>
              </a:rPr>
              <a:t>• 1. Thiếu prefix catalog 3 phần: </a:t>
            </a:r>
          </a:p>
          <a:p>
            <a:pPr>
              <a:spcAft>
                <a:spcPts val="700"/>
              </a:spcAft>
              <a:defRPr sz="1200">
                <a:solidFill>
                  <a:srgbClr val="1E293B"/>
                </a:solidFill>
                <a:latin typeface="Arial"/>
              </a:defRPr>
            </a:pPr>
            <a:r>
              <a:t>    – orders -&gt; Tự sửa thành pg.public.orders khi Trino báo lỗi missing catalog.</a:t>
            </a:r>
          </a:p>
          <a:p>
            <a:pPr>
              <a:spcAft>
                <a:spcPts val="700"/>
              </a:spcAft>
              <a:defRPr sz="1200">
                <a:solidFill>
                  <a:srgbClr val="1E293B"/>
                </a:solidFill>
                <a:latin typeface="Arial"/>
              </a:defRPr>
            </a:pPr>
            <a:r>
              <a:rPr b="1">
                <a:solidFill>
                  <a:srgbClr val="00205B"/>
                </a:solidFill>
              </a:rPr>
              <a:t>• 2. Nhầm tên cột khi JOIN: </a:t>
            </a:r>
          </a:p>
          <a:p>
            <a:pPr>
              <a:spcAft>
                <a:spcPts val="700"/>
              </a:spcAft>
              <a:defRPr sz="1200">
                <a:solidFill>
                  <a:srgbClr val="1E293B"/>
                </a:solidFill>
                <a:latin typeface="Arial"/>
              </a:defRPr>
            </a:pPr>
            <a:r>
              <a:t>    – user_id -&gt; Tự sửa thành pg_customer_id dựa vào metadata phản hồi.</a:t>
            </a:r>
          </a:p>
          <a:p>
            <a:pPr>
              <a:spcAft>
                <a:spcPts val="700"/>
              </a:spcAft>
              <a:defRPr sz="1200">
                <a:solidFill>
                  <a:srgbClr val="1E293B"/>
                </a:solidFill>
                <a:latin typeface="Arial"/>
              </a:defRPr>
            </a:pPr>
            <a:r>
              <a:rPr b="1">
                <a:solidFill>
                  <a:srgbClr val="00205B"/>
                </a:solidFill>
              </a:rPr>
              <a:t>• 3. Phương ngữ Trino (Trino Dialect): </a:t>
            </a:r>
          </a:p>
          <a:p>
            <a:pPr>
              <a:spcAft>
                <a:spcPts val="700"/>
              </a:spcAft>
              <a:defRPr sz="1200">
                <a:solidFill>
                  <a:srgbClr val="1E293B"/>
                </a:solidFill>
                <a:latin typeface="Arial"/>
              </a:defRPr>
            </a:pPr>
            <a:r>
              <a:t>    – IFNULL() -&gt; Tự chuyển đổi sang chuẩn ANSI COALESCE() ở lượt 2.</a:t>
            </a:r>
          </a:p>
        </p:txBody>
      </p:sp>
      <p:sp>
        <p:nvSpPr>
          <p:cNvPr id="16" name="Rounded Rectangle 15"/>
          <p:cNvSpPr/>
          <p:nvPr/>
        </p:nvSpPr>
        <p:spPr>
          <a:xfrm>
            <a:off x="731520" y="5486400"/>
            <a:ext cx="10728655" cy="77724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5541264"/>
            <a:ext cx="10424160" cy="658368"/>
          </a:xfrm>
          <a:prstGeom prst="rect">
            <a:avLst/>
          </a:prstGeom>
          <a:noFill/>
        </p:spPr>
        <p:txBody>
          <a:bodyPr wrap="square" lIns="0" tIns="0" rIns="0" bIns="0">
            <a:spAutoFit/>
          </a:bodyPr>
          <a:lstStyle/>
          <a:p>
            <a:pPr>
              <a:defRPr sz="1300" b="1">
                <a:solidFill>
                  <a:srgbClr val="16A34A"/>
                </a:solidFill>
                <a:latin typeface="Arial"/>
              </a:defRPr>
            </a:pPr>
            <a:r>
              <a:t>KẾT QUẢ VẬN HÀNH THỰC TẾ:</a:t>
            </a:r>
          </a:p>
          <a:p>
            <a:pPr>
              <a:spcBef>
                <a:spcPts val="200"/>
              </a:spcBef>
              <a:defRPr sz="1200">
                <a:solidFill>
                  <a:srgbClr val="1E293B"/>
                </a:solidFill>
                <a:latin typeface="Arial"/>
              </a:defRPr>
            </a:pPr>
            <a:r>
              <a:t>Khối Symbolic bổ sung rào chắn an ninh toán học gần như không phát sinh độ trễ (+0.02s), đồng thời vòng lặp Reflexion giúp AI tự khắc phục sai sót SQL, nâng độ chính xác nghiệp vụ lên 93.8%.</a:t>
            </a:r>
          </a:p>
        </p:txBody>
      </p:sp>
      <p:sp>
        <p:nvSpPr>
          <p:cNvPr id="18" name="Rectangle 17"/>
          <p:cNvSpPr/>
          <p:nvPr/>
        </p:nvSpPr>
        <p:spPr>
          <a:xfrm>
            <a:off x="731520" y="6419088"/>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6455664"/>
            <a:ext cx="8229600" cy="256032"/>
          </a:xfrm>
          <a:prstGeom prst="rect">
            <a:avLst/>
          </a:prstGeom>
          <a:noFill/>
        </p:spPr>
        <p:txBody>
          <a:bodyPr wrap="square" lIns="0" tIns="0" rIns="0" bIns="0">
            <a:spAutoFit/>
          </a:bodyPr>
          <a:lstStyle/>
          <a:p>
            <a:pPr>
              <a:defRPr sz="1050">
                <a:solidFill>
                  <a:srgbClr val="94A3B8"/>
                </a:solidFill>
                <a:latin typeface="Arial"/>
              </a:defRPr>
            </a:pPr>
            <a:r>
              <a:t>Secure Agentic BI Framework | Checkpoint D2 | Khoa KH&amp;KT Máy tính - ĐH Bách Khoa TP.HCM</a:t>
            </a:r>
          </a:p>
        </p:txBody>
      </p:sp>
      <p:sp>
        <p:nvSpPr>
          <p:cNvPr id="20" name="TextBox 19"/>
          <p:cNvSpPr txBox="1"/>
          <p:nvPr/>
        </p:nvSpPr>
        <p:spPr>
          <a:xfrm>
            <a:off x="9144000" y="6455664"/>
            <a:ext cx="2316175" cy="256032"/>
          </a:xfrm>
          <a:prstGeom prst="rect">
            <a:avLst/>
          </a:prstGeom>
          <a:noFill/>
        </p:spPr>
        <p:txBody>
          <a:bodyPr wrap="square" lIns="0" tIns="0" rIns="0" bIns="0">
            <a:spAutoFit/>
          </a:bodyPr>
          <a:lstStyle/>
          <a:p>
            <a:pPr algn="r">
              <a:defRPr sz="1100" b="1">
                <a:solidFill>
                  <a:srgbClr val="00205B"/>
                </a:solidFill>
                <a:latin typeface="Arial"/>
              </a:defRPr>
            </a:pPr>
            <a:r>
              <a:t>Slide 10 / 14</a:t>
            </a:r>
          </a:p>
        </p:txBody>
      </p:sp>
      <p:pic>
        <p:nvPicPr>
          <p:cNvPr id="21" name="Picture 20" descr="X6.png">
            <a:extLst>
              <a:ext uri="{FF2B5EF4-FFF2-40B4-BE49-F238E27FC236}">
                <a16:creationId xmlns:a16="http://schemas.microsoft.com/office/drawing/2014/main" id="{AB1E7554-8848-773C-BBB2-723DB07B43DB}"/>
              </a:ext>
            </a:extLst>
          </p:cNvPr>
          <p:cNvPicPr>
            <a:picLocks noChangeAspect="1"/>
          </p:cNvPicPr>
          <p:nvPr/>
        </p:nvPicPr>
        <p:blipFill>
          <a:blip r:embed="rId3"/>
          <a:stretch>
            <a:fillRect/>
          </a:stretch>
        </p:blipFill>
        <p:spPr>
          <a:xfrm>
            <a:off x="11457432" y="75268"/>
            <a:ext cx="594360" cy="59927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56032"/>
            <a:ext cx="10728655" cy="256032"/>
          </a:xfrm>
          <a:prstGeom prst="rect">
            <a:avLst/>
          </a:prstGeom>
          <a:noFill/>
        </p:spPr>
        <p:txBody>
          <a:bodyPr wrap="square" lIns="0" tIns="0" rIns="0" bIns="0">
            <a:spAutoFit/>
          </a:bodyPr>
          <a:lstStyle/>
          <a:p>
            <a:pPr>
              <a:defRPr sz="1300" b="1">
                <a:solidFill>
                  <a:srgbClr val="0070AD"/>
                </a:solidFill>
                <a:latin typeface="Arial"/>
              </a:defRPr>
            </a:pPr>
            <a:r>
              <a:t>PHẦN 6: THREAT MODEL V1</a:t>
            </a:r>
          </a:p>
        </p:txBody>
      </p:sp>
      <p:sp>
        <p:nvSpPr>
          <p:cNvPr id="4" name="TextBox 3"/>
          <p:cNvSpPr txBox="1"/>
          <p:nvPr/>
        </p:nvSpPr>
        <p:spPr>
          <a:xfrm>
            <a:off x="731520" y="493776"/>
            <a:ext cx="10728655" cy="502920"/>
          </a:xfrm>
          <a:prstGeom prst="rect">
            <a:avLst/>
          </a:prstGeom>
          <a:noFill/>
        </p:spPr>
        <p:txBody>
          <a:bodyPr wrap="square" lIns="0" tIns="0" rIns="0" bIns="0">
            <a:spAutoFit/>
          </a:bodyPr>
          <a:lstStyle/>
          <a:p>
            <a:pPr>
              <a:defRPr sz="2400" b="1">
                <a:solidFill>
                  <a:srgbClr val="00205B"/>
                </a:solidFill>
                <a:latin typeface="Arial"/>
              </a:defRPr>
            </a:pPr>
            <a:r>
              <a:t>Mô Hình Mối Đe Dọa (Threat Model v1): 6 Vector &amp; Phòng Thủ</a:t>
            </a:r>
          </a:p>
        </p:txBody>
      </p:sp>
      <p:sp>
        <p:nvSpPr>
          <p:cNvPr id="5" name="TextBox 4"/>
          <p:cNvSpPr txBox="1"/>
          <p:nvPr/>
        </p:nvSpPr>
        <p:spPr>
          <a:xfrm>
            <a:off x="731520" y="1005840"/>
            <a:ext cx="10728655" cy="347472"/>
          </a:xfrm>
          <a:prstGeom prst="rect">
            <a:avLst/>
          </a:prstGeom>
          <a:noFill/>
        </p:spPr>
        <p:txBody>
          <a:bodyPr wrap="square" lIns="0" tIns="0" rIns="0" bIns="0">
            <a:spAutoFit/>
          </a:bodyPr>
          <a:lstStyle/>
          <a:p>
            <a:pPr>
              <a:defRPr sz="1350" i="1">
                <a:solidFill>
                  <a:srgbClr val="64748B"/>
                </a:solidFill>
                <a:latin typeface="Arial"/>
              </a:defRPr>
            </a:pPr>
            <a:r>
              <a:t>Thiết lập Threat Model toàn diện dựa trên 12 công trình nghiên cứu hạng A* (ICSE, USENIX Security, IEEE S&amp;P, NeurIPS).</a:t>
            </a:r>
          </a:p>
        </p:txBody>
      </p:sp>
      <p:sp>
        <p:nvSpPr>
          <p:cNvPr id="6" name="Rectangle 5"/>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508760"/>
            <a:ext cx="5257800" cy="658368"/>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563624"/>
            <a:ext cx="4983480" cy="548640"/>
          </a:xfrm>
          <a:prstGeom prst="rect">
            <a:avLst/>
          </a:prstGeom>
          <a:noFill/>
        </p:spPr>
        <p:txBody>
          <a:bodyPr wrap="square" lIns="0" tIns="0" rIns="0" bIns="0">
            <a:spAutoFit/>
          </a:bodyPr>
          <a:lstStyle/>
          <a:p>
            <a:pPr>
              <a:defRPr sz="1200" b="1">
                <a:solidFill>
                  <a:srgbClr val="00205B"/>
                </a:solidFill>
                <a:latin typeface="Arial"/>
              </a:defRPr>
            </a:pPr>
            <a:r>
              <a:t>TÀI SẢN DOANH NGHIỆP CẦN BẢO VỆ (ASSETS):</a:t>
            </a:r>
          </a:p>
          <a:p>
            <a:pPr>
              <a:spcBef>
                <a:spcPts val="100"/>
              </a:spcBef>
              <a:defRPr sz="1100">
                <a:solidFill>
                  <a:srgbClr val="1E293B"/>
                </a:solidFill>
                <a:latin typeface="Arial"/>
              </a:defRPr>
            </a:pPr>
            <a:r>
              <a:t>Bảng lương PII (hr_payroll), Khóa bí mật (api_keys_config), Thông tin thẻ tín dụng, Tài nguyên server CPU/RAM, File cấu hình môi trường .env.</a:t>
            </a:r>
          </a:p>
        </p:txBody>
      </p:sp>
      <p:sp>
        <p:nvSpPr>
          <p:cNvPr id="9" name="Rounded Rectangle 8"/>
          <p:cNvSpPr/>
          <p:nvPr/>
        </p:nvSpPr>
        <p:spPr>
          <a:xfrm>
            <a:off x="6202375" y="1508760"/>
            <a:ext cx="5257800" cy="658368"/>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39535" y="1563624"/>
            <a:ext cx="4983480" cy="548640"/>
          </a:xfrm>
          <a:prstGeom prst="rect">
            <a:avLst/>
          </a:prstGeom>
          <a:noFill/>
        </p:spPr>
        <p:txBody>
          <a:bodyPr wrap="square" lIns="0" tIns="0" rIns="0" bIns="0">
            <a:spAutoFit/>
          </a:bodyPr>
          <a:lstStyle/>
          <a:p>
            <a:pPr>
              <a:defRPr sz="1200" b="1">
                <a:solidFill>
                  <a:srgbClr val="C53030"/>
                </a:solidFill>
                <a:latin typeface="Arial"/>
              </a:defRPr>
            </a:pPr>
            <a:r>
              <a:t>ĐẦU VÀO KHÔNG TIN CẬY (UNTRUSTED INPUTS):</a:t>
            </a:r>
          </a:p>
          <a:p>
            <a:pPr>
              <a:spcBef>
                <a:spcPts val="100"/>
              </a:spcBef>
              <a:defRPr sz="1100">
                <a:solidFill>
                  <a:srgbClr val="1E293B"/>
                </a:solidFill>
                <a:latin typeface="Arial"/>
              </a:defRPr>
            </a:pPr>
            <a:r>
              <a:t>User Prompts trực tiếp, Dữ liệu người dùng UGC (support_tickets, reviews), Tham số output_file, Lịch sử truy vấn trong Semantic Cache.</a:t>
            </a:r>
          </a:p>
        </p:txBody>
      </p:sp>
      <p:sp>
        <p:nvSpPr>
          <p:cNvPr id="11" name="Rounded Rectangle 10"/>
          <p:cNvSpPr/>
          <p:nvPr/>
        </p:nvSpPr>
        <p:spPr>
          <a:xfrm>
            <a:off x="731520" y="2267712"/>
            <a:ext cx="3429000" cy="153619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31520" y="2267712"/>
            <a:ext cx="3429000" cy="347472"/>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200" b="1">
                <a:solidFill>
                  <a:srgbClr val="FFFFFF"/>
                </a:solidFill>
                <a:latin typeface="Arial"/>
              </a:defRPr>
            </a:pPr>
            <a:r>
              <a:t>1. Prompt-to-SQL (DDL/DML)</a:t>
            </a:r>
          </a:p>
        </p:txBody>
      </p:sp>
      <p:sp>
        <p:nvSpPr>
          <p:cNvPr id="13" name="TextBox 12"/>
          <p:cNvSpPr txBox="1"/>
          <p:nvPr/>
        </p:nvSpPr>
        <p:spPr>
          <a:xfrm>
            <a:off x="841248" y="2651760"/>
            <a:ext cx="3209544" cy="1115568"/>
          </a:xfrm>
          <a:prstGeom prst="rect">
            <a:avLst/>
          </a:prstGeom>
          <a:noFill/>
        </p:spPr>
        <p:txBody>
          <a:bodyPr wrap="square" lIns="0" tIns="0" rIns="0" bIns="0">
            <a:spAutoFit/>
          </a:bodyPr>
          <a:lstStyle/>
          <a:p>
            <a:pPr>
              <a:defRPr sz="1100">
                <a:solidFill>
                  <a:srgbClr val="64748B"/>
                </a:solidFill>
                <a:latin typeface="Arial"/>
              </a:defRPr>
            </a:pPr>
            <a:r>
              <a:t>Hiểm họa: Kẻ tấn công ép Agent sinh DROP, ALTER, UPDATE phá hủy CSDL.</a:t>
            </a:r>
          </a:p>
          <a:p>
            <a:pPr>
              <a:spcBef>
                <a:spcPts val="300"/>
              </a:spcBef>
              <a:defRPr sz="1100">
                <a:latin typeface="Arial"/>
              </a:defRPr>
            </a:pPr>
            <a:r>
              <a:rPr b="1">
                <a:solidFill>
                  <a:srgbClr val="16A34A"/>
                </a:solidFill>
              </a:rPr>
              <a:t>Phòng thủ: </a:t>
            </a:r>
            <a:r>
              <a:rPr b="0">
                <a:solidFill>
                  <a:srgbClr val="1E293B"/>
                </a:solidFill>
              </a:rPr>
              <a:t>AST Parser bắt buộc exp.Select, cấm ;, Fail-Closed ở MCP.</a:t>
            </a:r>
          </a:p>
        </p:txBody>
      </p:sp>
      <p:sp>
        <p:nvSpPr>
          <p:cNvPr id="14" name="Rounded Rectangle 13"/>
          <p:cNvSpPr/>
          <p:nvPr/>
        </p:nvSpPr>
        <p:spPr>
          <a:xfrm>
            <a:off x="4379976" y="2267712"/>
            <a:ext cx="3429000" cy="153619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79976" y="2267712"/>
            <a:ext cx="3429000" cy="347472"/>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200" b="1">
                <a:solidFill>
                  <a:srgbClr val="FFFFFF"/>
                </a:solidFill>
                <a:latin typeface="Arial"/>
              </a:defRPr>
            </a:pPr>
            <a:r>
              <a:t>2. Từ chối dịch vụ (DoS)</a:t>
            </a:r>
          </a:p>
        </p:txBody>
      </p:sp>
      <p:sp>
        <p:nvSpPr>
          <p:cNvPr id="16" name="TextBox 15"/>
          <p:cNvSpPr txBox="1"/>
          <p:nvPr/>
        </p:nvSpPr>
        <p:spPr>
          <a:xfrm>
            <a:off x="4489704" y="2651760"/>
            <a:ext cx="3209544" cy="1115568"/>
          </a:xfrm>
          <a:prstGeom prst="rect">
            <a:avLst/>
          </a:prstGeom>
          <a:noFill/>
        </p:spPr>
        <p:txBody>
          <a:bodyPr wrap="square" lIns="0" tIns="0" rIns="0" bIns="0">
            <a:spAutoFit/>
          </a:bodyPr>
          <a:lstStyle/>
          <a:p>
            <a:pPr>
              <a:defRPr sz="1100">
                <a:solidFill>
                  <a:srgbClr val="64748B"/>
                </a:solidFill>
                <a:latin typeface="Arial"/>
              </a:defRPr>
            </a:pPr>
            <a:r>
              <a:t>Hiểm họa: Sinh truy vấn CROSS JOIN tích Descartes hoặc đệ quy vô hạn.</a:t>
            </a:r>
          </a:p>
          <a:p>
            <a:pPr>
              <a:spcBef>
                <a:spcPts val="300"/>
              </a:spcBef>
              <a:defRPr sz="1100">
                <a:latin typeface="Arial"/>
              </a:defRPr>
            </a:pPr>
            <a:r>
              <a:rPr b="1">
                <a:solidFill>
                  <a:srgbClr val="16A34A"/>
                </a:solidFill>
              </a:rPr>
              <a:t>Phòng thủ: </a:t>
            </a:r>
            <a:r>
              <a:rPr b="0">
                <a:solidFill>
                  <a:srgbClr val="1E293B"/>
                </a:solidFill>
              </a:rPr>
              <a:t>AST cấm CROSS JOIN / RECURSIVE + Circuit Breaker ngắt 5.0s.</a:t>
            </a:r>
          </a:p>
        </p:txBody>
      </p:sp>
      <p:sp>
        <p:nvSpPr>
          <p:cNvPr id="17" name="Rounded Rectangle 16"/>
          <p:cNvSpPr/>
          <p:nvPr/>
        </p:nvSpPr>
        <p:spPr>
          <a:xfrm>
            <a:off x="8028432" y="2267712"/>
            <a:ext cx="3429000" cy="153619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28432" y="2267712"/>
            <a:ext cx="3429000" cy="347472"/>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200" b="1">
                <a:solidFill>
                  <a:srgbClr val="FFFFFF"/>
                </a:solidFill>
                <a:latin typeface="Arial"/>
              </a:defRPr>
            </a:pPr>
            <a:r>
              <a:t>3. Rò rỉ PII &amp; Secrets</a:t>
            </a:r>
          </a:p>
        </p:txBody>
      </p:sp>
      <p:sp>
        <p:nvSpPr>
          <p:cNvPr id="19" name="TextBox 18"/>
          <p:cNvSpPr txBox="1"/>
          <p:nvPr/>
        </p:nvSpPr>
        <p:spPr>
          <a:xfrm>
            <a:off x="8138160" y="2651760"/>
            <a:ext cx="3209544" cy="1115568"/>
          </a:xfrm>
          <a:prstGeom prst="rect">
            <a:avLst/>
          </a:prstGeom>
          <a:noFill/>
        </p:spPr>
        <p:txBody>
          <a:bodyPr wrap="square" lIns="0" tIns="0" rIns="0" bIns="0">
            <a:spAutoFit/>
          </a:bodyPr>
          <a:lstStyle/>
          <a:p>
            <a:pPr>
              <a:defRPr sz="1100">
                <a:solidFill>
                  <a:srgbClr val="64748B"/>
                </a:solidFill>
                <a:latin typeface="Arial"/>
              </a:defRPr>
            </a:pPr>
            <a:r>
              <a:t>Hiểm họa: Khai thác quyền Agent để đọc lén dữ liệu lương, API keys.</a:t>
            </a:r>
          </a:p>
          <a:p>
            <a:pPr>
              <a:spcBef>
                <a:spcPts val="300"/>
              </a:spcBef>
              <a:defRPr sz="1100">
                <a:latin typeface="Arial"/>
              </a:defRPr>
            </a:pPr>
            <a:r>
              <a:rPr b="1">
                <a:solidFill>
                  <a:srgbClr val="16A34A"/>
                </a:solidFill>
              </a:rPr>
              <a:t>Phòng thủ: </a:t>
            </a:r>
            <a:r>
              <a:rPr b="0">
                <a:solidFill>
                  <a:srgbClr val="1E293B"/>
                </a:solidFill>
              </a:rPr>
              <a:t>Schema Filter giấu bảng cấm + RBAC Scope Check đa tầng.</a:t>
            </a:r>
          </a:p>
        </p:txBody>
      </p:sp>
      <p:sp>
        <p:nvSpPr>
          <p:cNvPr id="20" name="Rounded Rectangle 19"/>
          <p:cNvSpPr/>
          <p:nvPr/>
        </p:nvSpPr>
        <p:spPr>
          <a:xfrm>
            <a:off x="731520" y="3913632"/>
            <a:ext cx="3429000" cy="153619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31520" y="3913632"/>
            <a:ext cx="3429000" cy="347472"/>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200" b="1">
                <a:solidFill>
                  <a:srgbClr val="FFFFFF"/>
                </a:solidFill>
                <a:latin typeface="Arial"/>
              </a:defRPr>
            </a:pPr>
            <a:r>
              <a:t>4. Indirect Prompt Injection</a:t>
            </a:r>
          </a:p>
        </p:txBody>
      </p:sp>
      <p:sp>
        <p:nvSpPr>
          <p:cNvPr id="22" name="TextBox 21"/>
          <p:cNvSpPr txBox="1"/>
          <p:nvPr/>
        </p:nvSpPr>
        <p:spPr>
          <a:xfrm>
            <a:off x="841248" y="4297680"/>
            <a:ext cx="3209544" cy="1115568"/>
          </a:xfrm>
          <a:prstGeom prst="rect">
            <a:avLst/>
          </a:prstGeom>
          <a:noFill/>
        </p:spPr>
        <p:txBody>
          <a:bodyPr wrap="square" lIns="0" tIns="0" rIns="0" bIns="0">
            <a:spAutoFit/>
          </a:bodyPr>
          <a:lstStyle/>
          <a:p>
            <a:pPr>
              <a:defRPr sz="1100">
                <a:solidFill>
                  <a:srgbClr val="64748B"/>
                </a:solidFill>
                <a:latin typeface="Arial"/>
              </a:defRPr>
            </a:pPr>
            <a:r>
              <a:t>Hiểm họa: Cấy mã độc vào ticket, đánh giá sản phẩm nhằm chiếm quyền.</a:t>
            </a:r>
          </a:p>
          <a:p>
            <a:pPr>
              <a:spcBef>
                <a:spcPts val="300"/>
              </a:spcBef>
              <a:defRPr sz="1100">
                <a:latin typeface="Arial"/>
              </a:defRPr>
            </a:pPr>
            <a:r>
              <a:rPr b="1">
                <a:solidFill>
                  <a:srgbClr val="16A34A"/>
                </a:solidFill>
              </a:rPr>
              <a:t>Phòng thủ: </a:t>
            </a:r>
            <a:r>
              <a:rPr b="0">
                <a:solidFill>
                  <a:srgbClr val="1E293B"/>
                </a:solidFill>
              </a:rPr>
              <a:t>Table Taint Filter cách ly dữ liệu thành Passive Text Only.</a:t>
            </a:r>
          </a:p>
        </p:txBody>
      </p:sp>
      <p:sp>
        <p:nvSpPr>
          <p:cNvPr id="23" name="Rounded Rectangle 22"/>
          <p:cNvSpPr/>
          <p:nvPr/>
        </p:nvSpPr>
        <p:spPr>
          <a:xfrm>
            <a:off x="4379976" y="3913632"/>
            <a:ext cx="3429000" cy="153619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379976" y="3913632"/>
            <a:ext cx="3429000" cy="347472"/>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200" b="1">
                <a:solidFill>
                  <a:srgbClr val="FFFFFF"/>
                </a:solidFill>
                <a:latin typeface="Arial"/>
              </a:defRPr>
            </a:pPr>
            <a:r>
              <a:t>5. Confused Deputy (Path Traversal)</a:t>
            </a:r>
          </a:p>
        </p:txBody>
      </p:sp>
      <p:sp>
        <p:nvSpPr>
          <p:cNvPr id="25" name="TextBox 24"/>
          <p:cNvSpPr txBox="1"/>
          <p:nvPr/>
        </p:nvSpPr>
        <p:spPr>
          <a:xfrm>
            <a:off x="4489704" y="4297680"/>
            <a:ext cx="3209544" cy="1115568"/>
          </a:xfrm>
          <a:prstGeom prst="rect">
            <a:avLst/>
          </a:prstGeom>
          <a:noFill/>
        </p:spPr>
        <p:txBody>
          <a:bodyPr wrap="square" lIns="0" tIns="0" rIns="0" bIns="0">
            <a:spAutoFit/>
          </a:bodyPr>
          <a:lstStyle/>
          <a:p>
            <a:pPr>
              <a:defRPr sz="1100">
                <a:solidFill>
                  <a:srgbClr val="64748B"/>
                </a:solidFill>
                <a:latin typeface="Arial"/>
              </a:defRPr>
            </a:pPr>
            <a:r>
              <a:t>Hiểm họa: Lợi dụng công cụ export để ghi đè file hệ thống bên ngoài.</a:t>
            </a:r>
          </a:p>
          <a:p>
            <a:pPr>
              <a:spcBef>
                <a:spcPts val="300"/>
              </a:spcBef>
              <a:defRPr sz="1100">
                <a:latin typeface="Arial"/>
              </a:defRPr>
            </a:pPr>
            <a:r>
              <a:rPr b="1">
                <a:solidFill>
                  <a:srgbClr val="16A34A"/>
                </a:solidFill>
              </a:rPr>
              <a:t>Phòng thủ: </a:t>
            </a:r>
            <a:r>
              <a:rPr b="0">
                <a:solidFill>
                  <a:srgbClr val="1E293B"/>
                </a:solidFill>
              </a:rPr>
              <a:t>Path Sandbox Canonicalization giới hạn trong thư mục reports/.</a:t>
            </a:r>
          </a:p>
        </p:txBody>
      </p:sp>
      <p:sp>
        <p:nvSpPr>
          <p:cNvPr id="26" name="Rounded Rectangle 25"/>
          <p:cNvSpPr/>
          <p:nvPr/>
        </p:nvSpPr>
        <p:spPr>
          <a:xfrm>
            <a:off x="8028432" y="3913632"/>
            <a:ext cx="3429000" cy="153619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028432" y="3913632"/>
            <a:ext cx="3429000" cy="347472"/>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200" b="1">
                <a:solidFill>
                  <a:srgbClr val="FFFFFF"/>
                </a:solidFill>
                <a:latin typeface="Arial"/>
              </a:defRPr>
            </a:pPr>
            <a:r>
              <a:t>6. Memory Poisoning</a:t>
            </a:r>
          </a:p>
        </p:txBody>
      </p:sp>
      <p:sp>
        <p:nvSpPr>
          <p:cNvPr id="28" name="TextBox 27"/>
          <p:cNvSpPr txBox="1"/>
          <p:nvPr/>
        </p:nvSpPr>
        <p:spPr>
          <a:xfrm>
            <a:off x="8138160" y="4297680"/>
            <a:ext cx="3209544" cy="1115568"/>
          </a:xfrm>
          <a:prstGeom prst="rect">
            <a:avLst/>
          </a:prstGeom>
          <a:noFill/>
        </p:spPr>
        <p:txBody>
          <a:bodyPr wrap="square" lIns="0" tIns="0" rIns="0" bIns="0">
            <a:spAutoFit/>
          </a:bodyPr>
          <a:lstStyle/>
          <a:p>
            <a:pPr>
              <a:defRPr sz="1100">
                <a:solidFill>
                  <a:srgbClr val="64748B"/>
                </a:solidFill>
                <a:latin typeface="Arial"/>
              </a:defRPr>
            </a:pPr>
            <a:r>
              <a:t>Hiểm họa: Cấy truy vấn độc hại vào cache để lây nhiễm các phiên sau.</a:t>
            </a:r>
          </a:p>
          <a:p>
            <a:pPr>
              <a:spcBef>
                <a:spcPts val="300"/>
              </a:spcBef>
              <a:defRPr sz="1100">
                <a:latin typeface="Arial"/>
              </a:defRPr>
            </a:pPr>
            <a:r>
              <a:rPr b="1">
                <a:solidFill>
                  <a:srgbClr val="16A34A"/>
                </a:solidFill>
              </a:rPr>
              <a:t>Phòng thủ: </a:t>
            </a:r>
            <a:r>
              <a:rPr b="0">
                <a:solidFill>
                  <a:srgbClr val="1E293B"/>
                </a:solidFill>
              </a:rPr>
              <a:t>Strict Write Policy + Zero-Trust Re-validation on Retrieval.</a:t>
            </a:r>
          </a:p>
        </p:txBody>
      </p:sp>
      <p:sp>
        <p:nvSpPr>
          <p:cNvPr id="29" name="Rounded Rectangle 28"/>
          <p:cNvSpPr/>
          <p:nvPr/>
        </p:nvSpPr>
        <p:spPr>
          <a:xfrm>
            <a:off x="731520" y="5559552"/>
            <a:ext cx="10728655" cy="713232"/>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68680" y="5614416"/>
            <a:ext cx="10424160" cy="603504"/>
          </a:xfrm>
          <a:prstGeom prst="rect">
            <a:avLst/>
          </a:prstGeom>
          <a:noFill/>
        </p:spPr>
        <p:txBody>
          <a:bodyPr wrap="square" lIns="0" tIns="0" rIns="0" bIns="0">
            <a:spAutoFit/>
          </a:bodyPr>
          <a:lstStyle/>
          <a:p>
            <a:pPr>
              <a:defRPr sz="1200" b="1">
                <a:solidFill>
                  <a:srgbClr val="00205B"/>
                </a:solidFill>
                <a:latin typeface="Arial"/>
              </a:defRPr>
            </a:pPr>
            <a:r>
              <a:t>GHI CHÚ ĐÁP ỨNG TIÊU CHÍ ĐÁNH GIÁ CHECKPOINT D2:</a:t>
            </a:r>
          </a:p>
          <a:p>
            <a:pPr>
              <a:spcBef>
                <a:spcPts val="200"/>
              </a:spcBef>
              <a:defRPr sz="1150">
                <a:solidFill>
                  <a:srgbClr val="64748B"/>
                </a:solidFill>
                <a:latin typeface="Arial"/>
              </a:defRPr>
            </a:pPr>
            <a:r>
              <a:t>Theo đúng đề cương Checkpoint D2, việc đo lường thực nghiệm Prompt Injection quy mô lớn sẽ được nhóm trình bày tại Báo cáo cuối kỳ. Mốc D2 tập trung hoàn thiện thiết kế Threat Model chuẩn hóa và xác thực trên 26 kịch bản đối kháng ban đầu.</a:t>
            </a:r>
          </a:p>
        </p:txBody>
      </p:sp>
      <p:sp>
        <p:nvSpPr>
          <p:cNvPr id="31" name="Rectangle 30"/>
          <p:cNvSpPr/>
          <p:nvPr/>
        </p:nvSpPr>
        <p:spPr>
          <a:xfrm>
            <a:off x="731520" y="6419088"/>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1520" y="6455664"/>
            <a:ext cx="8229600" cy="256032"/>
          </a:xfrm>
          <a:prstGeom prst="rect">
            <a:avLst/>
          </a:prstGeom>
          <a:noFill/>
        </p:spPr>
        <p:txBody>
          <a:bodyPr wrap="square" lIns="0" tIns="0" rIns="0" bIns="0">
            <a:spAutoFit/>
          </a:bodyPr>
          <a:lstStyle/>
          <a:p>
            <a:pPr>
              <a:defRPr sz="1050">
                <a:solidFill>
                  <a:srgbClr val="94A3B8"/>
                </a:solidFill>
                <a:latin typeface="Arial"/>
              </a:defRPr>
            </a:pPr>
            <a:r>
              <a:t>Tổng hòa từ 12 nghiên cứu quốc tế hạng A*: ICSE 2025, USENIX Security, IEEE S&amp;P, NeurIPS 2024</a:t>
            </a:r>
          </a:p>
        </p:txBody>
      </p:sp>
      <p:sp>
        <p:nvSpPr>
          <p:cNvPr id="33" name="TextBox 32"/>
          <p:cNvSpPr txBox="1"/>
          <p:nvPr/>
        </p:nvSpPr>
        <p:spPr>
          <a:xfrm>
            <a:off x="9144000" y="6455664"/>
            <a:ext cx="2316175" cy="256032"/>
          </a:xfrm>
          <a:prstGeom prst="rect">
            <a:avLst/>
          </a:prstGeom>
          <a:noFill/>
        </p:spPr>
        <p:txBody>
          <a:bodyPr wrap="square" lIns="0" tIns="0" rIns="0" bIns="0">
            <a:spAutoFit/>
          </a:bodyPr>
          <a:lstStyle/>
          <a:p>
            <a:pPr algn="r">
              <a:defRPr sz="1100" b="1">
                <a:solidFill>
                  <a:srgbClr val="00205B"/>
                </a:solidFill>
                <a:latin typeface="Arial"/>
              </a:defRPr>
            </a:pPr>
            <a:r>
              <a:t>Slide 11 / 14</a:t>
            </a:r>
          </a:p>
        </p:txBody>
      </p:sp>
      <p:pic>
        <p:nvPicPr>
          <p:cNvPr id="34" name="Picture 33" descr="X6.png">
            <a:extLst>
              <a:ext uri="{FF2B5EF4-FFF2-40B4-BE49-F238E27FC236}">
                <a16:creationId xmlns:a16="http://schemas.microsoft.com/office/drawing/2014/main" id="{791074A8-57A2-3AC7-05B9-AACBABDD16BB}"/>
              </a:ext>
            </a:extLst>
          </p:cNvPr>
          <p:cNvPicPr>
            <a:picLocks noChangeAspect="1"/>
          </p:cNvPicPr>
          <p:nvPr/>
        </p:nvPicPr>
        <p:blipFill>
          <a:blip r:embed="rId3"/>
          <a:stretch>
            <a:fillRect/>
          </a:stretch>
        </p:blipFill>
        <p:spPr>
          <a:xfrm>
            <a:off x="11457432" y="75268"/>
            <a:ext cx="594360" cy="59927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56032"/>
            <a:ext cx="10728655" cy="256032"/>
          </a:xfrm>
          <a:prstGeom prst="rect">
            <a:avLst/>
          </a:prstGeom>
          <a:noFill/>
        </p:spPr>
        <p:txBody>
          <a:bodyPr wrap="square" lIns="0" tIns="0" rIns="0" bIns="0">
            <a:spAutoFit/>
          </a:bodyPr>
          <a:lstStyle/>
          <a:p>
            <a:pPr>
              <a:defRPr sz="1300" b="1">
                <a:solidFill>
                  <a:srgbClr val="0070AD"/>
                </a:solidFill>
                <a:latin typeface="Arial"/>
              </a:defRPr>
            </a:pPr>
            <a:r>
              <a:t>PHẦN 7: KẾ HOẠCH HÀNH ĐỘNG</a:t>
            </a:r>
          </a:p>
        </p:txBody>
      </p:sp>
      <p:sp>
        <p:nvSpPr>
          <p:cNvPr id="4" name="TextBox 3"/>
          <p:cNvSpPr txBox="1"/>
          <p:nvPr/>
        </p:nvSpPr>
        <p:spPr>
          <a:xfrm>
            <a:off x="731520" y="493776"/>
            <a:ext cx="10728655" cy="502920"/>
          </a:xfrm>
          <a:prstGeom prst="rect">
            <a:avLst/>
          </a:prstGeom>
          <a:noFill/>
        </p:spPr>
        <p:txBody>
          <a:bodyPr wrap="square" lIns="0" tIns="0" rIns="0" bIns="0">
            <a:spAutoFit/>
          </a:bodyPr>
          <a:lstStyle/>
          <a:p>
            <a:pPr>
              <a:defRPr sz="2400" b="1">
                <a:solidFill>
                  <a:srgbClr val="00205B"/>
                </a:solidFill>
                <a:latin typeface="Arial"/>
              </a:defRPr>
            </a:pPr>
            <a:r>
              <a:t>Lộ Trình 5 Tuần Đến Buổi Báo Cáo Cuối Kỳ (02/12/2026)</a:t>
            </a:r>
          </a:p>
        </p:txBody>
      </p:sp>
      <p:sp>
        <p:nvSpPr>
          <p:cNvPr id="5" name="TextBox 4"/>
          <p:cNvSpPr txBox="1"/>
          <p:nvPr/>
        </p:nvSpPr>
        <p:spPr>
          <a:xfrm>
            <a:off x="731520" y="1005840"/>
            <a:ext cx="10728655" cy="347472"/>
          </a:xfrm>
          <a:prstGeom prst="rect">
            <a:avLst/>
          </a:prstGeom>
          <a:noFill/>
        </p:spPr>
        <p:txBody>
          <a:bodyPr wrap="square" lIns="0" tIns="0" rIns="0" bIns="0">
            <a:spAutoFit/>
          </a:bodyPr>
          <a:lstStyle/>
          <a:p>
            <a:pPr>
              <a:defRPr sz="1350" i="1">
                <a:solidFill>
                  <a:srgbClr val="64748B"/>
                </a:solidFill>
                <a:latin typeface="Arial"/>
              </a:defRPr>
            </a:pPr>
            <a:r>
              <a:t>Kế hoạch hành động tuần tự, phân công cụ thể, nhận diện trước rủi ro và xác nhận tiến độ đạt 100% On-Track.</a:t>
            </a:r>
          </a:p>
        </p:txBody>
      </p:sp>
      <p:sp>
        <p:nvSpPr>
          <p:cNvPr id="6" name="Rectangle 5"/>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508760"/>
            <a:ext cx="1993392" cy="2926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508760"/>
            <a:ext cx="1993392" cy="347472"/>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100" b="1">
                <a:solidFill>
                  <a:srgbClr val="FFFFFF"/>
                </a:solidFill>
                <a:latin typeface="Arial"/>
              </a:defRPr>
            </a:pPr>
            <a:r>
              <a:t>Tuần 08 (23/10–29/10)</a:t>
            </a:r>
          </a:p>
        </p:txBody>
      </p:sp>
      <p:sp>
        <p:nvSpPr>
          <p:cNvPr id="9" name="TextBox 8"/>
          <p:cNvSpPr txBox="1"/>
          <p:nvPr/>
        </p:nvSpPr>
        <p:spPr>
          <a:xfrm>
            <a:off x="822960" y="1911096"/>
            <a:ext cx="1810512" cy="2468880"/>
          </a:xfrm>
          <a:prstGeom prst="rect">
            <a:avLst/>
          </a:prstGeom>
          <a:noFill/>
        </p:spPr>
        <p:txBody>
          <a:bodyPr wrap="square" lIns="0" tIns="0" rIns="0" bIns="0">
            <a:spAutoFit/>
          </a:bodyPr>
          <a:lstStyle/>
          <a:p>
            <a:pPr>
              <a:defRPr sz="1250" b="1">
                <a:solidFill>
                  <a:srgbClr val="00205B"/>
                </a:solidFill>
                <a:latin typeface="Arial"/>
              </a:defRPr>
            </a:pPr>
            <a:r>
              <a:t>MỞ RỘNG BENCHMARK</a:t>
            </a:r>
          </a:p>
          <a:p>
            <a:pPr>
              <a:spcBef>
                <a:spcPts val="400"/>
              </a:spcBef>
              <a:defRPr sz="1100">
                <a:solidFill>
                  <a:srgbClr val="1E293B"/>
                </a:solidFill>
                <a:latin typeface="Arial"/>
              </a:defRPr>
            </a:pPr>
            <a:r>
              <a:t>Mở rộng bộ benchmark lên &gt;= 50 tasks (tích hợp Spider, BIRD và Synthetic Prompts đối kháng).</a:t>
            </a:r>
          </a:p>
          <a:p>
            <a:pPr>
              <a:spcBef>
                <a:spcPts val="600"/>
              </a:spcBef>
              <a:defRPr sz="1050" b="1">
                <a:solidFill>
                  <a:srgbClr val="0070AD"/>
                </a:solidFill>
                <a:latin typeface="Arial"/>
              </a:defRPr>
            </a:pPr>
            <a:r>
              <a:t>Phụ trách: Trân + Thành</a:t>
            </a:r>
          </a:p>
        </p:txBody>
      </p:sp>
      <p:sp>
        <p:nvSpPr>
          <p:cNvPr id="10" name="Rounded Rectangle 9"/>
          <p:cNvSpPr/>
          <p:nvPr/>
        </p:nvSpPr>
        <p:spPr>
          <a:xfrm>
            <a:off x="2907792" y="1508760"/>
            <a:ext cx="1993392" cy="2926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907792" y="1508760"/>
            <a:ext cx="1993392" cy="347472"/>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100" b="1">
                <a:solidFill>
                  <a:srgbClr val="FFFFFF"/>
                </a:solidFill>
                <a:latin typeface="Arial"/>
              </a:defRPr>
            </a:pPr>
            <a:r>
              <a:t>Tuần 09 (30/10–05/11)</a:t>
            </a:r>
          </a:p>
        </p:txBody>
      </p:sp>
      <p:sp>
        <p:nvSpPr>
          <p:cNvPr id="12" name="TextBox 11"/>
          <p:cNvSpPr txBox="1"/>
          <p:nvPr/>
        </p:nvSpPr>
        <p:spPr>
          <a:xfrm>
            <a:off x="2999232" y="1911096"/>
            <a:ext cx="1810512" cy="2468880"/>
          </a:xfrm>
          <a:prstGeom prst="rect">
            <a:avLst/>
          </a:prstGeom>
          <a:noFill/>
        </p:spPr>
        <p:txBody>
          <a:bodyPr wrap="square" lIns="0" tIns="0" rIns="0" bIns="0">
            <a:spAutoFit/>
          </a:bodyPr>
          <a:lstStyle/>
          <a:p>
            <a:pPr>
              <a:defRPr sz="1250" b="1">
                <a:solidFill>
                  <a:srgbClr val="00205B"/>
                </a:solidFill>
                <a:latin typeface="Arial"/>
              </a:defRPr>
            </a:pPr>
            <a:r>
              <a:t>ABLATION STUDY</a:t>
            </a:r>
          </a:p>
          <a:p>
            <a:pPr>
              <a:spcBef>
                <a:spcPts val="400"/>
              </a:spcBef>
              <a:defRPr sz="1100">
                <a:solidFill>
                  <a:srgbClr val="1E293B"/>
                </a:solidFill>
                <a:latin typeface="Arial"/>
              </a:defRPr>
            </a:pPr>
            <a:r>
              <a:t>Thực nghiệm Ablation Study trên 3 Cấu hình: Baseline, Guardrail Only, Full Pipeline với 3 seeds.</a:t>
            </a:r>
          </a:p>
          <a:p>
            <a:pPr>
              <a:spcBef>
                <a:spcPts val="600"/>
              </a:spcBef>
              <a:defRPr sz="1050" b="1">
                <a:solidFill>
                  <a:srgbClr val="0070AD"/>
                </a:solidFill>
                <a:latin typeface="Arial"/>
              </a:defRPr>
            </a:pPr>
            <a:r>
              <a:t>Phụ trách: Thành + Trân</a:t>
            </a:r>
          </a:p>
        </p:txBody>
      </p:sp>
      <p:sp>
        <p:nvSpPr>
          <p:cNvPr id="13" name="Rounded Rectangle 12"/>
          <p:cNvSpPr/>
          <p:nvPr/>
        </p:nvSpPr>
        <p:spPr>
          <a:xfrm>
            <a:off x="5084064" y="1508760"/>
            <a:ext cx="1993392" cy="2926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84064" y="1508760"/>
            <a:ext cx="1993392" cy="347472"/>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100" b="1">
                <a:solidFill>
                  <a:srgbClr val="FFFFFF"/>
                </a:solidFill>
                <a:latin typeface="Arial"/>
              </a:defRPr>
            </a:pPr>
            <a:r>
              <a:t>Tuần 10 (06/11–12/11)</a:t>
            </a:r>
          </a:p>
        </p:txBody>
      </p:sp>
      <p:sp>
        <p:nvSpPr>
          <p:cNvPr id="15" name="TextBox 14"/>
          <p:cNvSpPr txBox="1"/>
          <p:nvPr/>
        </p:nvSpPr>
        <p:spPr>
          <a:xfrm>
            <a:off x="5175504" y="1911096"/>
            <a:ext cx="1810512" cy="2468880"/>
          </a:xfrm>
          <a:prstGeom prst="rect">
            <a:avLst/>
          </a:prstGeom>
          <a:noFill/>
        </p:spPr>
        <p:txBody>
          <a:bodyPr wrap="square" lIns="0" tIns="0" rIns="0" bIns="0">
            <a:spAutoFit/>
          </a:bodyPr>
          <a:lstStyle/>
          <a:p>
            <a:pPr>
              <a:defRPr sz="1250" b="1">
                <a:solidFill>
                  <a:srgbClr val="00205B"/>
                </a:solidFill>
                <a:latin typeface="Arial"/>
              </a:defRPr>
            </a:pPr>
            <a:r>
              <a:t>LOCAL LLM &amp; CACHE</a:t>
            </a:r>
          </a:p>
          <a:p>
            <a:pPr>
              <a:spcBef>
                <a:spcPts val="400"/>
              </a:spcBef>
              <a:defRPr sz="1100">
                <a:solidFill>
                  <a:srgbClr val="1E293B"/>
                </a:solidFill>
                <a:latin typeface="Arial"/>
              </a:defRPr>
            </a:pPr>
            <a:r>
              <a:t>Thử nghiệm Local LLMs (Qwen-2.5-Coder-14B / Llama-3.1 qua vLLM); kích hoạt Vector Cache ChromaDB.</a:t>
            </a:r>
          </a:p>
          <a:p>
            <a:pPr>
              <a:spcBef>
                <a:spcPts val="600"/>
              </a:spcBef>
              <a:defRPr sz="1050" b="1">
                <a:solidFill>
                  <a:srgbClr val="0070AD"/>
                </a:solidFill>
                <a:latin typeface="Arial"/>
              </a:defRPr>
            </a:pPr>
            <a:r>
              <a:t>Phụ trách: Lợi + Thành</a:t>
            </a:r>
          </a:p>
        </p:txBody>
      </p:sp>
      <p:sp>
        <p:nvSpPr>
          <p:cNvPr id="16" name="Rounded Rectangle 15"/>
          <p:cNvSpPr/>
          <p:nvPr/>
        </p:nvSpPr>
        <p:spPr>
          <a:xfrm>
            <a:off x="7260336" y="1508760"/>
            <a:ext cx="1993392" cy="2926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260336" y="1508760"/>
            <a:ext cx="1993392" cy="347472"/>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100" b="1">
                <a:solidFill>
                  <a:srgbClr val="FFFFFF"/>
                </a:solidFill>
                <a:latin typeface="Arial"/>
              </a:defRPr>
            </a:pPr>
            <a:r>
              <a:t>Tuần 11 (13/11–19/11)</a:t>
            </a:r>
          </a:p>
        </p:txBody>
      </p:sp>
      <p:sp>
        <p:nvSpPr>
          <p:cNvPr id="18" name="TextBox 17"/>
          <p:cNvSpPr txBox="1"/>
          <p:nvPr/>
        </p:nvSpPr>
        <p:spPr>
          <a:xfrm>
            <a:off x="7351776" y="1911096"/>
            <a:ext cx="1810512" cy="2468880"/>
          </a:xfrm>
          <a:prstGeom prst="rect">
            <a:avLst/>
          </a:prstGeom>
          <a:noFill/>
        </p:spPr>
        <p:txBody>
          <a:bodyPr wrap="square" lIns="0" tIns="0" rIns="0" bIns="0">
            <a:spAutoFit/>
          </a:bodyPr>
          <a:lstStyle/>
          <a:p>
            <a:pPr>
              <a:defRPr sz="1250" b="1">
                <a:solidFill>
                  <a:srgbClr val="00205B"/>
                </a:solidFill>
                <a:latin typeface="Arial"/>
              </a:defRPr>
            </a:pPr>
            <a:r>
              <a:t>UI &amp; WALKTHROUGH</a:t>
            </a:r>
          </a:p>
          <a:p>
            <a:pPr>
              <a:spcBef>
                <a:spcPts val="400"/>
              </a:spcBef>
              <a:defRPr sz="1100">
                <a:solidFill>
                  <a:srgbClr val="1E293B"/>
                </a:solidFill>
                <a:latin typeface="Arial"/>
              </a:defRPr>
            </a:pPr>
            <a:r>
              <a:t>Nâng cấp trực quan hóa AST Tree Visualizer trên UI; tổ chức Walkthrough với chuyên gia BI / SecOps.</a:t>
            </a:r>
          </a:p>
          <a:p>
            <a:pPr>
              <a:spcBef>
                <a:spcPts val="600"/>
              </a:spcBef>
              <a:defRPr sz="1050" b="1">
                <a:solidFill>
                  <a:srgbClr val="0070AD"/>
                </a:solidFill>
                <a:latin typeface="Arial"/>
              </a:defRPr>
            </a:pPr>
            <a:r>
              <a:t>Phụ trách: Trân + Lợi</a:t>
            </a:r>
          </a:p>
        </p:txBody>
      </p:sp>
      <p:sp>
        <p:nvSpPr>
          <p:cNvPr id="19" name="Rounded Rectangle 18"/>
          <p:cNvSpPr/>
          <p:nvPr/>
        </p:nvSpPr>
        <p:spPr>
          <a:xfrm>
            <a:off x="9436608" y="1508760"/>
            <a:ext cx="1993392" cy="2926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436608" y="1508760"/>
            <a:ext cx="1993392" cy="347472"/>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100" b="1">
                <a:solidFill>
                  <a:srgbClr val="FFFFFF"/>
                </a:solidFill>
                <a:latin typeface="Arial"/>
              </a:defRPr>
            </a:pPr>
            <a:r>
              <a:t>Tuần 12–13 (20/11–02/12)</a:t>
            </a:r>
          </a:p>
        </p:txBody>
      </p:sp>
      <p:sp>
        <p:nvSpPr>
          <p:cNvPr id="21" name="TextBox 20"/>
          <p:cNvSpPr txBox="1"/>
          <p:nvPr/>
        </p:nvSpPr>
        <p:spPr>
          <a:xfrm>
            <a:off x="9528048" y="1911096"/>
            <a:ext cx="1810512" cy="2468880"/>
          </a:xfrm>
          <a:prstGeom prst="rect">
            <a:avLst/>
          </a:prstGeom>
          <a:noFill/>
        </p:spPr>
        <p:txBody>
          <a:bodyPr wrap="square" lIns="0" tIns="0" rIns="0" bIns="0">
            <a:spAutoFit/>
          </a:bodyPr>
          <a:lstStyle/>
          <a:p>
            <a:pPr>
              <a:defRPr sz="1250" b="1">
                <a:solidFill>
                  <a:srgbClr val="00205B"/>
                </a:solidFill>
                <a:latin typeface="Arial"/>
              </a:defRPr>
            </a:pPr>
            <a:r>
              <a:t>ĐÓNG GÓI &amp; BẢO VỆ</a:t>
            </a:r>
          </a:p>
          <a:p>
            <a:pPr>
              <a:spcBef>
                <a:spcPts val="400"/>
              </a:spcBef>
              <a:defRPr sz="1100">
                <a:solidFill>
                  <a:srgbClr val="1E293B"/>
                </a:solidFill>
                <a:latin typeface="Arial"/>
              </a:defRPr>
            </a:pPr>
            <a:r>
              <a:t>Tối ưu hóa vi độ trễ (&lt; 1.5s), hoàn thiện Báo cáo D3/D4, tổng duyệt và BÁO CÁO CHÍNH THỨC (02/12).</a:t>
            </a:r>
          </a:p>
          <a:p>
            <a:pPr>
              <a:spcBef>
                <a:spcPts val="600"/>
              </a:spcBef>
              <a:defRPr sz="1050" b="1">
                <a:solidFill>
                  <a:srgbClr val="0070AD"/>
                </a:solidFill>
                <a:latin typeface="Arial"/>
              </a:defRPr>
            </a:pPr>
            <a:r>
              <a:t>Phụ trách: Cả nhóm</a:t>
            </a:r>
          </a:p>
        </p:txBody>
      </p:sp>
      <p:sp>
        <p:nvSpPr>
          <p:cNvPr id="22" name="Rounded Rectangle 21"/>
          <p:cNvSpPr/>
          <p:nvPr/>
        </p:nvSpPr>
        <p:spPr>
          <a:xfrm>
            <a:off x="731520" y="4590288"/>
            <a:ext cx="5257800" cy="1691640"/>
          </a:xfrm>
          <a:prstGeom prst="roundRect">
            <a:avLst/>
          </a:prstGeom>
          <a:solidFill>
            <a:srgbClr val="FEF3C7"/>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31520" y="4590288"/>
            <a:ext cx="5257800" cy="34747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00" b="1">
                <a:solidFill>
                  <a:srgbClr val="FFFFFF"/>
                </a:solidFill>
                <a:latin typeface="Arial"/>
              </a:defRPr>
            </a:pPr>
            <a:r>
              <a:t>QUẢN TRỊ RỦI RO KỸ THUẬT (RISK MITIGATION)</a:t>
            </a:r>
          </a:p>
        </p:txBody>
      </p:sp>
      <p:sp>
        <p:nvSpPr>
          <p:cNvPr id="24" name="TextBox 23"/>
          <p:cNvSpPr txBox="1"/>
          <p:nvPr/>
        </p:nvSpPr>
        <p:spPr>
          <a:xfrm>
            <a:off x="868680" y="4992624"/>
            <a:ext cx="4983480" cy="1234440"/>
          </a:xfrm>
          <a:prstGeom prst="rect">
            <a:avLst/>
          </a:prstGeom>
          <a:noFill/>
        </p:spPr>
        <p:txBody>
          <a:bodyPr wrap="square" lIns="0" tIns="0" rIns="0" bIns="0">
            <a:spAutoFit/>
          </a:bodyPr>
          <a:lstStyle/>
          <a:p>
            <a:pPr>
              <a:spcAft>
                <a:spcPts val="400"/>
              </a:spcAft>
              <a:defRPr sz="1150">
                <a:solidFill>
                  <a:srgbClr val="1E293B"/>
                </a:solidFill>
                <a:latin typeface="Arial"/>
              </a:defRPr>
            </a:pPr>
            <a:r>
              <a:rPr b="1">
                <a:solidFill>
                  <a:srgbClr val="00205B"/>
                </a:solidFill>
              </a:rPr>
              <a:t>• Rủi ro trôi ngữ nghĩa Vector Cache: </a:t>
            </a:r>
            <a:r>
              <a:rPr b="0">
                <a:solidFill>
                  <a:srgbClr val="1E293B"/>
                </a:solidFill>
              </a:rPr>
              <a:t>Đặt ngưỡng Cosine Similarity &gt;= 0.92 kết hợp bắt buộc Re-validation cú pháp qua AST Guardrail.</a:t>
            </a:r>
          </a:p>
          <a:p>
            <a:pPr>
              <a:spcAft>
                <a:spcPts val="400"/>
              </a:spcAft>
              <a:defRPr sz="1150">
                <a:solidFill>
                  <a:srgbClr val="1E293B"/>
                </a:solidFill>
                <a:latin typeface="Arial"/>
              </a:defRPr>
            </a:pPr>
            <a:r>
              <a:rPr b="1">
                <a:solidFill>
                  <a:srgbClr val="00205B"/>
                </a:solidFill>
              </a:rPr>
              <a:t>• Rủi ro LLM nhỏ sinh sai dialect Trino: </a:t>
            </a:r>
            <a:r>
              <a:rPr b="0">
                <a:solidFill>
                  <a:srgbClr val="1E293B"/>
                </a:solidFill>
              </a:rPr>
              <a:t>Sử dụng Few-shot Prompting với ví dụ Trino chuẩn + mở rộng vòng lặp Reflexion lên 5 lượt.</a:t>
            </a:r>
          </a:p>
        </p:txBody>
      </p:sp>
      <p:sp>
        <p:nvSpPr>
          <p:cNvPr id="25" name="Rounded Rectangle 24"/>
          <p:cNvSpPr/>
          <p:nvPr/>
        </p:nvSpPr>
        <p:spPr>
          <a:xfrm>
            <a:off x="6202375" y="4590288"/>
            <a:ext cx="5257800" cy="169164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02375" y="4590288"/>
            <a:ext cx="5257800" cy="347472"/>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00" b="1">
                <a:solidFill>
                  <a:srgbClr val="FFFFFF"/>
                </a:solidFill>
                <a:latin typeface="Arial"/>
              </a:defRPr>
            </a:pPr>
            <a:r>
              <a:t>TỰ ĐÁNH GIÁ TIẾN ĐỘ DỰ ÁN</a:t>
            </a:r>
          </a:p>
        </p:txBody>
      </p:sp>
      <p:sp>
        <p:nvSpPr>
          <p:cNvPr id="27" name="TextBox 26"/>
          <p:cNvSpPr txBox="1"/>
          <p:nvPr/>
        </p:nvSpPr>
        <p:spPr>
          <a:xfrm>
            <a:off x="6339535" y="4992624"/>
            <a:ext cx="4983480" cy="1234440"/>
          </a:xfrm>
          <a:prstGeom prst="rect">
            <a:avLst/>
          </a:prstGeom>
          <a:noFill/>
        </p:spPr>
        <p:txBody>
          <a:bodyPr wrap="square" lIns="0" tIns="0" rIns="0" bIns="0">
            <a:spAutoFit/>
          </a:bodyPr>
          <a:lstStyle/>
          <a:p>
            <a:pPr>
              <a:defRPr sz="1300" b="1">
                <a:solidFill>
                  <a:srgbClr val="16A34A"/>
                </a:solidFill>
                <a:latin typeface="Arial"/>
              </a:defRPr>
            </a:pPr>
            <a:r>
              <a:t>TRẠNG THÁI: [ĐÚNG TIẾN ĐỘ - ON TRACK 100%]</a:t>
            </a:r>
          </a:p>
          <a:p>
            <a:pPr>
              <a:spcBef>
                <a:spcPts val="300"/>
              </a:spcBef>
              <a:defRPr sz="1100">
                <a:solidFill>
                  <a:srgbClr val="1E293B"/>
                </a:solidFill>
                <a:latin typeface="Arial"/>
              </a:defRPr>
            </a:pPr>
            <a:r>
              <a:t>Toàn bộ kiến trúc cốt lõi đã được cài đặt và vận hành end-to-end với kết quả thực nghiệm ban đầu vượt cam kết. Nhóm hoàn toàn tự tin hoàn thành xuất sắc toàn bộ mục tiêu đề ra trước ngày Báo cáo Khóa luận chính thức (02/12/2026).</a:t>
            </a:r>
          </a:p>
        </p:txBody>
      </p:sp>
      <p:sp>
        <p:nvSpPr>
          <p:cNvPr id="28" name="Rectangle 27"/>
          <p:cNvSpPr/>
          <p:nvPr/>
        </p:nvSpPr>
        <p:spPr>
          <a:xfrm>
            <a:off x="731520" y="6419088"/>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6455664"/>
            <a:ext cx="8229600" cy="256032"/>
          </a:xfrm>
          <a:prstGeom prst="rect">
            <a:avLst/>
          </a:prstGeom>
          <a:noFill/>
        </p:spPr>
        <p:txBody>
          <a:bodyPr wrap="square" lIns="0" tIns="0" rIns="0" bIns="0">
            <a:spAutoFit/>
          </a:bodyPr>
          <a:lstStyle/>
          <a:p>
            <a:pPr>
              <a:defRPr sz="1050">
                <a:solidFill>
                  <a:srgbClr val="94A3B8"/>
                </a:solidFill>
                <a:latin typeface="Arial"/>
              </a:defRPr>
            </a:pPr>
            <a:r>
              <a:t>Secure Agentic BI Framework | Checkpoint D2 | Khoa KH&amp;KT Máy tính - ĐH Bách Khoa TP.HCM</a:t>
            </a:r>
          </a:p>
        </p:txBody>
      </p:sp>
      <p:sp>
        <p:nvSpPr>
          <p:cNvPr id="30" name="TextBox 29"/>
          <p:cNvSpPr txBox="1"/>
          <p:nvPr/>
        </p:nvSpPr>
        <p:spPr>
          <a:xfrm>
            <a:off x="9144000" y="6455664"/>
            <a:ext cx="2316175" cy="256032"/>
          </a:xfrm>
          <a:prstGeom prst="rect">
            <a:avLst/>
          </a:prstGeom>
          <a:noFill/>
        </p:spPr>
        <p:txBody>
          <a:bodyPr wrap="square" lIns="0" tIns="0" rIns="0" bIns="0">
            <a:spAutoFit/>
          </a:bodyPr>
          <a:lstStyle/>
          <a:p>
            <a:pPr algn="r">
              <a:defRPr sz="1100" b="1">
                <a:solidFill>
                  <a:srgbClr val="00205B"/>
                </a:solidFill>
                <a:latin typeface="Arial"/>
              </a:defRPr>
            </a:pPr>
            <a:r>
              <a:t>Slide 12 / 14</a:t>
            </a:r>
          </a:p>
        </p:txBody>
      </p:sp>
      <p:pic>
        <p:nvPicPr>
          <p:cNvPr id="31" name="Picture 30" descr="X6.png">
            <a:extLst>
              <a:ext uri="{FF2B5EF4-FFF2-40B4-BE49-F238E27FC236}">
                <a16:creationId xmlns:a16="http://schemas.microsoft.com/office/drawing/2014/main" id="{584A449B-0D0C-8F11-E9D7-8FD2ED75D412}"/>
              </a:ext>
            </a:extLst>
          </p:cNvPr>
          <p:cNvPicPr>
            <a:picLocks noChangeAspect="1"/>
          </p:cNvPicPr>
          <p:nvPr/>
        </p:nvPicPr>
        <p:blipFill>
          <a:blip r:embed="rId3"/>
          <a:stretch>
            <a:fillRect/>
          </a:stretch>
        </p:blipFill>
        <p:spPr>
          <a:xfrm>
            <a:off x="11457432" y="75268"/>
            <a:ext cx="594360" cy="59927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56032"/>
            <a:ext cx="10728655" cy="256032"/>
          </a:xfrm>
          <a:prstGeom prst="rect">
            <a:avLst/>
          </a:prstGeom>
          <a:noFill/>
        </p:spPr>
        <p:txBody>
          <a:bodyPr wrap="square" lIns="0" tIns="0" rIns="0" bIns="0">
            <a:spAutoFit/>
          </a:bodyPr>
          <a:lstStyle/>
          <a:p>
            <a:pPr>
              <a:defRPr sz="1300" b="1">
                <a:solidFill>
                  <a:srgbClr val="0070AD"/>
                </a:solidFill>
                <a:latin typeface="Arial"/>
              </a:defRPr>
            </a:pPr>
            <a:r>
              <a:t>PHẦN 8: ĐÓNG GÓP THÀNH VIÊN &amp; LIÊM CHÍNH HỌC THUẬT</a:t>
            </a:r>
          </a:p>
        </p:txBody>
      </p:sp>
      <p:sp>
        <p:nvSpPr>
          <p:cNvPr id="4" name="TextBox 3"/>
          <p:cNvSpPr txBox="1"/>
          <p:nvPr/>
        </p:nvSpPr>
        <p:spPr>
          <a:xfrm>
            <a:off x="731520" y="493776"/>
            <a:ext cx="10728655" cy="502920"/>
          </a:xfrm>
          <a:prstGeom prst="rect">
            <a:avLst/>
          </a:prstGeom>
          <a:noFill/>
        </p:spPr>
        <p:txBody>
          <a:bodyPr wrap="square" lIns="0" tIns="0" rIns="0" bIns="0">
            <a:spAutoFit/>
          </a:bodyPr>
          <a:lstStyle/>
          <a:p>
            <a:pPr>
              <a:defRPr sz="2400" b="1">
                <a:solidFill>
                  <a:srgbClr val="00205B"/>
                </a:solidFill>
                <a:latin typeface="Arial"/>
              </a:defRPr>
            </a:pPr>
            <a:r>
              <a:t>Đóng Góp Thành Viên &amp; Tuyên Bố Liêm Chính Sử Dụng AI</a:t>
            </a:r>
          </a:p>
        </p:txBody>
      </p:sp>
      <p:sp>
        <p:nvSpPr>
          <p:cNvPr id="5" name="TextBox 4"/>
          <p:cNvSpPr txBox="1"/>
          <p:nvPr/>
        </p:nvSpPr>
        <p:spPr>
          <a:xfrm>
            <a:off x="731520" y="1005840"/>
            <a:ext cx="10728655" cy="347472"/>
          </a:xfrm>
          <a:prstGeom prst="rect">
            <a:avLst/>
          </a:prstGeom>
          <a:noFill/>
        </p:spPr>
        <p:txBody>
          <a:bodyPr wrap="square" lIns="0" tIns="0" rIns="0" bIns="0">
            <a:spAutoFit/>
          </a:bodyPr>
          <a:lstStyle/>
          <a:p>
            <a:pPr>
              <a:defRPr sz="1350" i="1">
                <a:solidFill>
                  <a:srgbClr val="64748B"/>
                </a:solidFill>
                <a:latin typeface="Arial"/>
              </a:defRPr>
            </a:pPr>
            <a:r>
              <a:t>Phân công trách nhiệm minh bạch kèm Git Commits; cam kết liêm chính học thuật tuyệt đối theo chuẩn mực quốc tế.</a:t>
            </a:r>
          </a:p>
        </p:txBody>
      </p:sp>
      <p:sp>
        <p:nvSpPr>
          <p:cNvPr id="6" name="Rectangle 5"/>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508760"/>
            <a:ext cx="3429000" cy="3108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508760"/>
            <a:ext cx="3429000" cy="365760"/>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250" b="1">
                <a:solidFill>
                  <a:srgbClr val="FFFFFF"/>
                </a:solidFill>
                <a:latin typeface="Arial"/>
              </a:defRPr>
            </a:pPr>
            <a:r>
              <a:t>NGUYỄN CÔNG THÀNH (100% — TRƯỞNG NHÓM)</a:t>
            </a:r>
          </a:p>
        </p:txBody>
      </p:sp>
      <p:sp>
        <p:nvSpPr>
          <p:cNvPr id="9" name="TextBox 8"/>
          <p:cNvSpPr txBox="1"/>
          <p:nvPr/>
        </p:nvSpPr>
        <p:spPr>
          <a:xfrm>
            <a:off x="868680" y="1947672"/>
            <a:ext cx="3154680" cy="2606040"/>
          </a:xfrm>
          <a:prstGeom prst="rect">
            <a:avLst/>
          </a:prstGeom>
          <a:noFill/>
        </p:spPr>
        <p:txBody>
          <a:bodyPr wrap="square" lIns="0" tIns="0" rIns="0" bIns="0">
            <a:spAutoFit/>
          </a:bodyPr>
          <a:lstStyle/>
          <a:p>
            <a:pPr>
              <a:spcAft>
                <a:spcPts val="400"/>
              </a:spcAft>
              <a:defRPr sz="1100">
                <a:solidFill>
                  <a:srgbClr val="1E293B"/>
                </a:solidFill>
                <a:latin typeface="Arial"/>
              </a:defRPr>
            </a:pPr>
            <a:r>
              <a:rPr b="1">
                <a:solidFill>
                  <a:srgbClr val="00205B"/>
                </a:solidFill>
              </a:rPr>
              <a:t>• Vai trò: </a:t>
            </a:r>
            <a:r>
              <a:rPr b="0">
                <a:solidFill>
                  <a:srgbClr val="1E293B"/>
                </a:solidFill>
              </a:rPr>
              <a:t>Core Architect &amp; Fullstack Developer</a:t>
            </a:r>
          </a:p>
          <a:p>
            <a:pPr>
              <a:spcAft>
                <a:spcPts val="400"/>
              </a:spcAft>
              <a:defRPr sz="1100">
                <a:solidFill>
                  <a:srgbClr val="1E293B"/>
                </a:solidFill>
                <a:latin typeface="Arial"/>
              </a:defRPr>
            </a:pPr>
            <a:r>
              <a:rPr b="1">
                <a:solidFill>
                  <a:srgbClr val="00205B"/>
                </a:solidFill>
              </a:rPr>
              <a:t>• Đóng góp: </a:t>
            </a:r>
            <a:r>
              <a:rPr b="0">
                <a:solidFill>
                  <a:srgbClr val="1E293B"/>
                </a:solidFill>
              </a:rPr>
              <a:t>Thiết kế kiến trúc tổng thể Neuro-Symbolic; lập trình Backend FastAPI; phát triển AST Guardrail (sqlglot), Reflexion Loop, Circuit Breaker, Taint Filter; tích hợp Gemini SDK &amp; Fallback Engine; đóng gói Trino MCP Server qua Stdio JSON-RPC.</a:t>
            </a:r>
          </a:p>
          <a:p>
            <a:pPr>
              <a:spcAft>
                <a:spcPts val="400"/>
              </a:spcAft>
              <a:defRPr sz="1100">
                <a:solidFill>
                  <a:srgbClr val="1E293B"/>
                </a:solidFill>
                <a:latin typeface="Arial"/>
              </a:defRPr>
            </a:pPr>
            <a:r>
              <a:rPr b="1">
                <a:solidFill>
                  <a:srgbClr val="00205B"/>
                </a:solidFill>
              </a:rPr>
              <a:t>• Git Commits: </a:t>
            </a:r>
            <a:r>
              <a:rPr b="0">
                <a:solidFill>
                  <a:srgbClr val="1E293B"/>
                </a:solidFill>
              </a:rPr>
              <a:t>140d420, aaec853, 3379de8, b2120ee, ce7f69f, 863ff9f, 7812bac, 26e849b, adf6280</a:t>
            </a:r>
          </a:p>
        </p:txBody>
      </p:sp>
      <p:sp>
        <p:nvSpPr>
          <p:cNvPr id="10" name="Rounded Rectangle 9"/>
          <p:cNvSpPr/>
          <p:nvPr/>
        </p:nvSpPr>
        <p:spPr>
          <a:xfrm>
            <a:off x="4379976" y="1508760"/>
            <a:ext cx="3429000" cy="3108960"/>
          </a:xfrm>
          <a:prstGeom prst="roundRect">
            <a:avLst/>
          </a:prstGeom>
          <a:solidFill>
            <a:srgbClr val="F8FAFC"/>
          </a:solidFill>
          <a:ln w="12700">
            <a:solidFill>
              <a:srgbClr val="BAD7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79976" y="1508760"/>
            <a:ext cx="3429000" cy="365760"/>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250" b="1">
                <a:solidFill>
                  <a:srgbClr val="FFFFFF"/>
                </a:solidFill>
                <a:latin typeface="Arial"/>
              </a:defRPr>
            </a:pPr>
            <a:r>
              <a:t>PHẠM QUỲNH TRÂN (100%)</a:t>
            </a:r>
          </a:p>
        </p:txBody>
      </p:sp>
      <p:sp>
        <p:nvSpPr>
          <p:cNvPr id="12" name="TextBox 11"/>
          <p:cNvSpPr txBox="1"/>
          <p:nvPr/>
        </p:nvSpPr>
        <p:spPr>
          <a:xfrm>
            <a:off x="4517136" y="1947672"/>
            <a:ext cx="3154680" cy="2606040"/>
          </a:xfrm>
          <a:prstGeom prst="rect">
            <a:avLst/>
          </a:prstGeom>
          <a:noFill/>
        </p:spPr>
        <p:txBody>
          <a:bodyPr wrap="square" lIns="0" tIns="0" rIns="0" bIns="0">
            <a:spAutoFit/>
          </a:bodyPr>
          <a:lstStyle/>
          <a:p>
            <a:pPr>
              <a:spcAft>
                <a:spcPts val="500"/>
              </a:spcAft>
              <a:defRPr sz="1100">
                <a:solidFill>
                  <a:srgbClr val="1E293B"/>
                </a:solidFill>
                <a:latin typeface="Arial"/>
              </a:defRPr>
            </a:pPr>
            <a:r>
              <a:rPr b="1">
                <a:solidFill>
                  <a:srgbClr val="00205B"/>
                </a:solidFill>
              </a:rPr>
              <a:t>• Vai trò: </a:t>
            </a:r>
            <a:r>
              <a:rPr b="0">
                <a:solidFill>
                  <a:srgbClr val="1E293B"/>
                </a:solidFill>
              </a:rPr>
              <a:t>Frontend &amp; Red-Teaming Specialist</a:t>
            </a:r>
          </a:p>
          <a:p>
            <a:pPr>
              <a:spcAft>
                <a:spcPts val="500"/>
              </a:spcAft>
              <a:defRPr sz="1100">
                <a:solidFill>
                  <a:srgbClr val="1E293B"/>
                </a:solidFill>
                <a:latin typeface="Arial"/>
              </a:defRPr>
            </a:pPr>
            <a:r>
              <a:rPr b="1">
                <a:solidFill>
                  <a:srgbClr val="00205B"/>
                </a:solidFill>
              </a:rPr>
              <a:t>• Đóng góp: </a:t>
            </a:r>
            <a:r>
              <a:rPr b="0">
                <a:solidFill>
                  <a:srgbClr val="1E293B"/>
                </a:solidFill>
              </a:rPr>
              <a:t>Thiết kế &amp; lập trình Frontend Web Console (React 19, Vite, Tailwind CSS); xây dựng cơ chế NDJSON Streaming hiển thị theo thời gian thực; biên soạn 26 kịch bản Red-teaming (scenarios.js); nghiên cứu cơ sở lý luận Threat Model.</a:t>
            </a:r>
          </a:p>
          <a:p>
            <a:pPr>
              <a:spcAft>
                <a:spcPts val="500"/>
              </a:spcAft>
              <a:defRPr sz="1100">
                <a:solidFill>
                  <a:srgbClr val="1E293B"/>
                </a:solidFill>
                <a:latin typeface="Arial"/>
              </a:defRPr>
            </a:pPr>
            <a:r>
              <a:rPr b="1">
                <a:solidFill>
                  <a:srgbClr val="00205B"/>
                </a:solidFill>
              </a:rPr>
              <a:t>• Git Commits: </a:t>
            </a:r>
            <a:r>
              <a:rPr b="0">
                <a:solidFill>
                  <a:srgbClr val="1E293B"/>
                </a:solidFill>
              </a:rPr>
              <a:t>0ef0379 &amp; Frontend PRs</a:t>
            </a:r>
          </a:p>
        </p:txBody>
      </p:sp>
      <p:sp>
        <p:nvSpPr>
          <p:cNvPr id="13" name="Rounded Rectangle 12"/>
          <p:cNvSpPr/>
          <p:nvPr/>
        </p:nvSpPr>
        <p:spPr>
          <a:xfrm>
            <a:off x="8028432" y="1508760"/>
            <a:ext cx="3429000" cy="3108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28432" y="1508760"/>
            <a:ext cx="3429000" cy="365760"/>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250" b="1">
                <a:solidFill>
                  <a:srgbClr val="FFFFFF"/>
                </a:solidFill>
                <a:latin typeface="Arial"/>
              </a:defRPr>
            </a:pPr>
            <a:r>
              <a:t>NGUYỄN HỮU LỢI (100%)</a:t>
            </a:r>
          </a:p>
        </p:txBody>
      </p:sp>
      <p:sp>
        <p:nvSpPr>
          <p:cNvPr id="15" name="TextBox 14"/>
          <p:cNvSpPr txBox="1"/>
          <p:nvPr/>
        </p:nvSpPr>
        <p:spPr>
          <a:xfrm>
            <a:off x="8165592" y="1947672"/>
            <a:ext cx="3154680" cy="2606040"/>
          </a:xfrm>
          <a:prstGeom prst="rect">
            <a:avLst/>
          </a:prstGeom>
          <a:noFill/>
        </p:spPr>
        <p:txBody>
          <a:bodyPr wrap="square" lIns="0" tIns="0" rIns="0" bIns="0">
            <a:spAutoFit/>
          </a:bodyPr>
          <a:lstStyle/>
          <a:p>
            <a:pPr>
              <a:spcAft>
                <a:spcPts val="500"/>
              </a:spcAft>
              <a:defRPr sz="1100">
                <a:solidFill>
                  <a:srgbClr val="1E293B"/>
                </a:solidFill>
                <a:latin typeface="Arial"/>
              </a:defRPr>
            </a:pPr>
            <a:r>
              <a:rPr b="1">
                <a:solidFill>
                  <a:srgbClr val="00205B"/>
                </a:solidFill>
              </a:rPr>
              <a:t>• Vai trò: </a:t>
            </a:r>
            <a:r>
              <a:rPr b="0">
                <a:solidFill>
                  <a:srgbClr val="1E293B"/>
                </a:solidFill>
              </a:rPr>
              <a:t>Data Infrastructure &amp; MCP Engineer</a:t>
            </a:r>
          </a:p>
          <a:p>
            <a:pPr>
              <a:spcAft>
                <a:spcPts val="500"/>
              </a:spcAft>
              <a:defRPr sz="1100">
                <a:solidFill>
                  <a:srgbClr val="1E293B"/>
                </a:solidFill>
                <a:latin typeface="Arial"/>
              </a:defRPr>
            </a:pPr>
            <a:r>
              <a:rPr b="1">
                <a:solidFill>
                  <a:srgbClr val="00205B"/>
                </a:solidFill>
              </a:rPr>
              <a:t>• Đóng góp: </a:t>
            </a:r>
            <a:r>
              <a:rPr b="0">
                <a:solidFill>
                  <a:srgbClr val="1E293B"/>
                </a:solidFill>
              </a:rPr>
              <a:t>Thiết kế và triển khai cụm Docker Federated DB (PostgreSQL 16, MySQL 8.4, Trino 21 bảng dữ liệu seed); cài đặt Concurrency Semaphore và Path Sandbox an toàn.</a:t>
            </a:r>
          </a:p>
          <a:p>
            <a:pPr>
              <a:spcAft>
                <a:spcPts val="500"/>
              </a:spcAft>
              <a:defRPr sz="1100">
                <a:solidFill>
                  <a:srgbClr val="1E293B"/>
                </a:solidFill>
                <a:latin typeface="Arial"/>
              </a:defRPr>
            </a:pPr>
            <a:r>
              <a:rPr b="1">
                <a:solidFill>
                  <a:srgbClr val="00205B"/>
                </a:solidFill>
              </a:rPr>
              <a:t>• Artifacts: </a:t>
            </a:r>
            <a:r>
              <a:rPr b="0">
                <a:solidFill>
                  <a:srgbClr val="1E293B"/>
                </a:solidFill>
              </a:rPr>
              <a:t>Docker Compose, Catalog properties, init SQL schema &amp; seed files</a:t>
            </a:r>
          </a:p>
        </p:txBody>
      </p:sp>
      <p:sp>
        <p:nvSpPr>
          <p:cNvPr id="16" name="Rounded Rectangle 15"/>
          <p:cNvSpPr/>
          <p:nvPr/>
        </p:nvSpPr>
        <p:spPr>
          <a:xfrm>
            <a:off x="731520" y="4800600"/>
            <a:ext cx="10728655" cy="1463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31520" y="4800600"/>
            <a:ext cx="10728655" cy="347472"/>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250" b="1">
                <a:solidFill>
                  <a:srgbClr val="FFFFFF"/>
                </a:solidFill>
                <a:latin typeface="Arial"/>
              </a:defRPr>
            </a:pPr>
            <a:r>
              <a:t>TUYÊN BỐ LIÊM CHÍNH SỬ DỤNG AI (AI-USE STATEMENT)</a:t>
            </a:r>
          </a:p>
        </p:txBody>
      </p:sp>
      <p:sp>
        <p:nvSpPr>
          <p:cNvPr id="18" name="TextBox 17"/>
          <p:cNvSpPr txBox="1"/>
          <p:nvPr/>
        </p:nvSpPr>
        <p:spPr>
          <a:xfrm>
            <a:off x="868680" y="5193792"/>
            <a:ext cx="10424160" cy="1024128"/>
          </a:xfrm>
          <a:prstGeom prst="rect">
            <a:avLst/>
          </a:prstGeom>
          <a:noFill/>
        </p:spPr>
        <p:txBody>
          <a:bodyPr wrap="square" lIns="0" tIns="0" rIns="0" bIns="0">
            <a:spAutoFit/>
          </a:bodyPr>
          <a:lstStyle/>
          <a:p>
            <a:pPr>
              <a:spcAft>
                <a:spcPts val="400"/>
              </a:spcAft>
              <a:defRPr sz="1100">
                <a:solidFill>
                  <a:srgbClr val="1E293B"/>
                </a:solidFill>
                <a:latin typeface="Arial"/>
              </a:defRPr>
            </a:pPr>
            <a:r>
              <a:rPr b="1">
                <a:solidFill>
                  <a:srgbClr val="00205B"/>
                </a:solidFill>
              </a:rPr>
              <a:t>• Runtime Components: </a:t>
            </a:r>
            <a:r>
              <a:rPr b="0">
                <a:solidFill>
                  <a:srgbClr val="1E293B"/>
                </a:solidFill>
              </a:rPr>
              <a:t>Google Gemini 2.5 Flash làm lõi suy luận ReAct và tổng hợp câu trả lời báo cáo an toàn.</a:t>
            </a:r>
          </a:p>
          <a:p>
            <a:pPr>
              <a:spcAft>
                <a:spcPts val="400"/>
              </a:spcAft>
              <a:defRPr sz="1100">
                <a:solidFill>
                  <a:srgbClr val="1E293B"/>
                </a:solidFill>
                <a:latin typeface="Arial"/>
              </a:defRPr>
            </a:pPr>
            <a:r>
              <a:rPr b="1">
                <a:solidFill>
                  <a:srgbClr val="00205B"/>
                </a:solidFill>
              </a:rPr>
              <a:t>• AI Assistants: </a:t>
            </a:r>
            <a:r>
              <a:rPr b="0">
                <a:solidFill>
                  <a:srgbClr val="1E293B"/>
                </a:solidFill>
              </a:rPr>
              <a:t>Trợ lý Cursor và Windsurf (Claude 3.5 Sonnet) hỗ trợ sinh code khung boilerplate, CSS giao diện và mock seed data.</a:t>
            </a:r>
          </a:p>
          <a:p>
            <a:pPr>
              <a:spcAft>
                <a:spcPts val="400"/>
              </a:spcAft>
              <a:defRPr sz="1100">
                <a:solidFill>
                  <a:srgbClr val="1E293B"/>
                </a:solidFill>
                <a:latin typeface="Arial"/>
              </a:defRPr>
            </a:pPr>
            <a:r>
              <a:rPr b="1">
                <a:solidFill>
                  <a:srgbClr val="00205B"/>
                </a:solidFill>
              </a:rPr>
              <a:t>• Khẳng định Liêm chính Học thuật: </a:t>
            </a:r>
            <a:r>
              <a:rPr b="0">
                <a:solidFill>
                  <a:srgbClr val="1E293B"/>
                </a:solidFill>
              </a:rPr>
              <a:t>Toàn bộ tư tưởng kiến trúc Neuro-Symbolic, thiết kế Threat Model, giải thuật AST Guardrail, quy tắc quản trị bộ nhớ và audit an ninh do con người (3 học viên) tự nghiên cứu, kiểm chứng và chịu trách nhiệm 100%.</a:t>
            </a:r>
          </a:p>
        </p:txBody>
      </p:sp>
      <p:sp>
        <p:nvSpPr>
          <p:cNvPr id="19" name="Rectangle 18"/>
          <p:cNvSpPr/>
          <p:nvPr/>
        </p:nvSpPr>
        <p:spPr>
          <a:xfrm>
            <a:off x="731520" y="6419088"/>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6455664"/>
            <a:ext cx="8229600" cy="256032"/>
          </a:xfrm>
          <a:prstGeom prst="rect">
            <a:avLst/>
          </a:prstGeom>
          <a:noFill/>
        </p:spPr>
        <p:txBody>
          <a:bodyPr wrap="square" lIns="0" tIns="0" rIns="0" bIns="0">
            <a:spAutoFit/>
          </a:bodyPr>
          <a:lstStyle/>
          <a:p>
            <a:pPr>
              <a:defRPr sz="1050">
                <a:solidFill>
                  <a:srgbClr val="94A3B8"/>
                </a:solidFill>
                <a:latin typeface="Arial"/>
              </a:defRPr>
            </a:pPr>
            <a:r>
              <a:t>Secure Agentic BI Framework | Checkpoint D2 | Khoa KH&amp;KT Máy tính - ĐH Bách Khoa TP.HCM</a:t>
            </a:r>
          </a:p>
        </p:txBody>
      </p:sp>
      <p:sp>
        <p:nvSpPr>
          <p:cNvPr id="21" name="TextBox 20"/>
          <p:cNvSpPr txBox="1"/>
          <p:nvPr/>
        </p:nvSpPr>
        <p:spPr>
          <a:xfrm>
            <a:off x="9144000" y="6455664"/>
            <a:ext cx="2316175" cy="256032"/>
          </a:xfrm>
          <a:prstGeom prst="rect">
            <a:avLst/>
          </a:prstGeom>
          <a:noFill/>
        </p:spPr>
        <p:txBody>
          <a:bodyPr wrap="square" lIns="0" tIns="0" rIns="0" bIns="0">
            <a:spAutoFit/>
          </a:bodyPr>
          <a:lstStyle/>
          <a:p>
            <a:pPr algn="r">
              <a:defRPr sz="1100" b="1">
                <a:solidFill>
                  <a:srgbClr val="00205B"/>
                </a:solidFill>
                <a:latin typeface="Arial"/>
              </a:defRPr>
            </a:pPr>
            <a:r>
              <a:t>Slide 13 / 14</a:t>
            </a:r>
          </a:p>
        </p:txBody>
      </p:sp>
      <p:pic>
        <p:nvPicPr>
          <p:cNvPr id="22" name="Picture 21" descr="X6.png">
            <a:extLst>
              <a:ext uri="{FF2B5EF4-FFF2-40B4-BE49-F238E27FC236}">
                <a16:creationId xmlns:a16="http://schemas.microsoft.com/office/drawing/2014/main" id="{645B3DD8-3D30-EEEA-869F-6D0E363F2FD8}"/>
              </a:ext>
            </a:extLst>
          </p:cNvPr>
          <p:cNvPicPr>
            <a:picLocks noChangeAspect="1"/>
          </p:cNvPicPr>
          <p:nvPr/>
        </p:nvPicPr>
        <p:blipFill>
          <a:blip r:embed="rId3"/>
          <a:stretch>
            <a:fillRect/>
          </a:stretch>
        </p:blipFill>
        <p:spPr>
          <a:xfrm>
            <a:off x="11457432" y="75268"/>
            <a:ext cx="594360" cy="59927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56032"/>
            <a:ext cx="10728655" cy="256032"/>
          </a:xfrm>
          <a:prstGeom prst="rect">
            <a:avLst/>
          </a:prstGeom>
          <a:noFill/>
        </p:spPr>
        <p:txBody>
          <a:bodyPr wrap="square" lIns="0" tIns="0" rIns="0" bIns="0">
            <a:spAutoFit/>
          </a:bodyPr>
          <a:lstStyle/>
          <a:p>
            <a:pPr>
              <a:defRPr sz="1300" b="1">
                <a:solidFill>
                  <a:srgbClr val="0070AD"/>
                </a:solidFill>
                <a:latin typeface="Arial"/>
              </a:defRPr>
            </a:pPr>
            <a:r>
              <a:t>TỔNG KẾT &amp; PHIÊN HỎI ĐÁP (Q&amp;A)</a:t>
            </a:r>
          </a:p>
        </p:txBody>
      </p:sp>
      <p:sp>
        <p:nvSpPr>
          <p:cNvPr id="4" name="TextBox 3"/>
          <p:cNvSpPr txBox="1"/>
          <p:nvPr/>
        </p:nvSpPr>
        <p:spPr>
          <a:xfrm>
            <a:off x="731520" y="493776"/>
            <a:ext cx="10728655" cy="502920"/>
          </a:xfrm>
          <a:prstGeom prst="rect">
            <a:avLst/>
          </a:prstGeom>
          <a:noFill/>
        </p:spPr>
        <p:txBody>
          <a:bodyPr wrap="square" lIns="0" tIns="0" rIns="0" bIns="0">
            <a:spAutoFit/>
          </a:bodyPr>
          <a:lstStyle/>
          <a:p>
            <a:pPr>
              <a:defRPr sz="2400" b="1">
                <a:solidFill>
                  <a:srgbClr val="00205B"/>
                </a:solidFill>
                <a:latin typeface="Arial"/>
              </a:defRPr>
            </a:pPr>
            <a:r>
              <a:t>Tổng Kết Đề Tài &amp; Lắng Nghe Ý Kiến Hội Đồng</a:t>
            </a:r>
          </a:p>
        </p:txBody>
      </p:sp>
      <p:sp>
        <p:nvSpPr>
          <p:cNvPr id="5" name="TextBox 4"/>
          <p:cNvSpPr txBox="1"/>
          <p:nvPr/>
        </p:nvSpPr>
        <p:spPr>
          <a:xfrm>
            <a:off x="731520" y="1005840"/>
            <a:ext cx="10728655" cy="347472"/>
          </a:xfrm>
          <a:prstGeom prst="rect">
            <a:avLst/>
          </a:prstGeom>
          <a:noFill/>
        </p:spPr>
        <p:txBody>
          <a:bodyPr wrap="square" lIns="0" tIns="0" rIns="0" bIns="0">
            <a:spAutoFit/>
          </a:bodyPr>
          <a:lstStyle/>
          <a:p>
            <a:pPr>
              <a:defRPr sz="1350" i="1">
                <a:solidFill>
                  <a:srgbClr val="64748B"/>
                </a:solidFill>
                <a:latin typeface="Arial"/>
              </a:defRPr>
            </a:pPr>
            <a:r>
              <a:t>Secure Agentic BI Framework chứng minh tính khả thi vượt trội của kiến trúc Neuro-Symbolic cho hệ thống BI tự trị.</a:t>
            </a:r>
          </a:p>
        </p:txBody>
      </p:sp>
      <p:sp>
        <p:nvSpPr>
          <p:cNvPr id="6" name="Rectangle 5"/>
          <p:cNvSpPr/>
          <p:nvPr/>
        </p:nvSpPr>
        <p:spPr>
          <a:xfrm>
            <a:off x="731520" y="1353312"/>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508760"/>
            <a:ext cx="3429000" cy="2468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508760"/>
            <a:ext cx="3429000" cy="384048"/>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50" b="1">
                <a:solidFill>
                  <a:srgbClr val="FFFFFF"/>
                </a:solidFill>
                <a:latin typeface="Arial"/>
              </a:defRPr>
            </a:pPr>
            <a:r>
              <a:t>1. NEURO-SYMBOLIC LÀ TẤT YẾU</a:t>
            </a:r>
          </a:p>
        </p:txBody>
      </p:sp>
      <p:sp>
        <p:nvSpPr>
          <p:cNvPr id="9" name="TextBox 8"/>
          <p:cNvSpPr txBox="1"/>
          <p:nvPr/>
        </p:nvSpPr>
        <p:spPr>
          <a:xfrm>
            <a:off x="868680" y="1965960"/>
            <a:ext cx="3154680" cy="1965960"/>
          </a:xfrm>
          <a:prstGeom prst="rect">
            <a:avLst/>
          </a:prstGeom>
          <a:noFill/>
        </p:spPr>
        <p:txBody>
          <a:bodyPr wrap="square" lIns="0" tIns="0" rIns="0" bIns="0">
            <a:spAutoFit/>
          </a:bodyPr>
          <a:lstStyle/>
          <a:p>
            <a:pPr>
              <a:spcAft>
                <a:spcPts val="700"/>
              </a:spcAft>
              <a:defRPr sz="1250">
                <a:solidFill>
                  <a:srgbClr val="1E293B"/>
                </a:solidFill>
                <a:latin typeface="Arial"/>
              </a:defRPr>
            </a:pPr>
            <a:r>
              <a:t>• Tuyệt đối không giao phó an ninh CSDL cho tính xác suất của LLM.</a:t>
            </a:r>
          </a:p>
          <a:p>
            <a:pPr>
              <a:spcAft>
                <a:spcPts val="700"/>
              </a:spcAft>
              <a:defRPr sz="1250">
                <a:solidFill>
                  <a:srgbClr val="1E293B"/>
                </a:solidFill>
                <a:latin typeface="Arial"/>
              </a:defRPr>
            </a:pPr>
            <a:r>
              <a:t>• Kết hợp hoàn hảo giữa năng lực suy luận ngữ nghĩa của LLM với an toàn toán học tất định của AST.</a:t>
            </a:r>
          </a:p>
          <a:p>
            <a:pPr>
              <a:spcAft>
                <a:spcPts val="700"/>
              </a:spcAft>
              <a:defRPr sz="1250">
                <a:solidFill>
                  <a:srgbClr val="1E293B"/>
                </a:solidFill>
                <a:latin typeface="Arial"/>
              </a:defRPr>
            </a:pPr>
            <a:r>
              <a:t>• Triệt tiêu 100% nguy cơ SQLi và DoS.</a:t>
            </a:r>
          </a:p>
        </p:txBody>
      </p:sp>
      <p:sp>
        <p:nvSpPr>
          <p:cNvPr id="10" name="Rounded Rectangle 9"/>
          <p:cNvSpPr/>
          <p:nvPr/>
        </p:nvSpPr>
        <p:spPr>
          <a:xfrm>
            <a:off x="4379976" y="1508760"/>
            <a:ext cx="3429000" cy="2468880"/>
          </a:xfrm>
          <a:prstGeom prst="roundRect">
            <a:avLst/>
          </a:prstGeom>
          <a:solidFill>
            <a:srgbClr val="F8FAFC"/>
          </a:solidFill>
          <a:ln w="12700">
            <a:solidFill>
              <a:srgbClr val="BAD7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79976" y="1508760"/>
            <a:ext cx="3429000" cy="384048"/>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50" b="1">
                <a:solidFill>
                  <a:srgbClr val="FFFFFF"/>
                </a:solidFill>
                <a:latin typeface="Arial"/>
              </a:defRPr>
            </a:pPr>
            <a:r>
              <a:t>2. GIAO THỨC MCP LÀ TẤM KHIÊN</a:t>
            </a:r>
          </a:p>
        </p:txBody>
      </p:sp>
      <p:sp>
        <p:nvSpPr>
          <p:cNvPr id="12" name="TextBox 11"/>
          <p:cNvSpPr txBox="1"/>
          <p:nvPr/>
        </p:nvSpPr>
        <p:spPr>
          <a:xfrm>
            <a:off x="4517136" y="1965960"/>
            <a:ext cx="3154680" cy="1965960"/>
          </a:xfrm>
          <a:prstGeom prst="rect">
            <a:avLst/>
          </a:prstGeom>
          <a:noFill/>
        </p:spPr>
        <p:txBody>
          <a:bodyPr wrap="square" lIns="0" tIns="0" rIns="0" bIns="0">
            <a:spAutoFit/>
          </a:bodyPr>
          <a:lstStyle/>
          <a:p>
            <a:pPr>
              <a:spcAft>
                <a:spcPts val="700"/>
              </a:spcAft>
              <a:defRPr sz="1250">
                <a:solidFill>
                  <a:srgbClr val="1E293B"/>
                </a:solidFill>
                <a:latin typeface="Arial"/>
              </a:defRPr>
            </a:pPr>
            <a:r>
              <a:t>• Chuẩn hóa giao tiếp công cụ mở theo Model Context Protocol của Anthropic.</a:t>
            </a:r>
          </a:p>
          <a:p>
            <a:pPr>
              <a:spcAft>
                <a:spcPts val="700"/>
              </a:spcAft>
              <a:defRPr sz="1250">
                <a:solidFill>
                  <a:srgbClr val="1E293B"/>
                </a:solidFill>
                <a:latin typeface="Arial"/>
              </a:defRPr>
            </a:pPr>
            <a:r>
              <a:t>• Cô lập hoàn toàn chứng thực CSDL khỏi Agent qua tiến trình Stdio JSON-RPC.</a:t>
            </a:r>
          </a:p>
          <a:p>
            <a:pPr>
              <a:spcAft>
                <a:spcPts val="700"/>
              </a:spcAft>
              <a:defRPr sz="1250">
                <a:solidFill>
                  <a:srgbClr val="1E293B"/>
                </a:solidFill>
                <a:latin typeface="Arial"/>
              </a:defRPr>
            </a:pPr>
            <a:r>
              <a:t>• Phân tách rạch ròi luồng điều khiển và luồng dữ liệu thụ động.</a:t>
            </a:r>
          </a:p>
        </p:txBody>
      </p:sp>
      <p:sp>
        <p:nvSpPr>
          <p:cNvPr id="13" name="Rounded Rectangle 12"/>
          <p:cNvSpPr/>
          <p:nvPr/>
        </p:nvSpPr>
        <p:spPr>
          <a:xfrm>
            <a:off x="8028432" y="1508760"/>
            <a:ext cx="3429000" cy="246888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28432" y="1508760"/>
            <a:ext cx="3429000" cy="384048"/>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lIns="109728" tIns="0" rIns="109728" bIns="0" rtlCol="0" anchor="ctr"/>
          <a:lstStyle/>
          <a:p>
            <a:pPr algn="ctr">
              <a:defRPr sz="1350" b="1">
                <a:solidFill>
                  <a:srgbClr val="FFFFFF"/>
                </a:solidFill>
                <a:latin typeface="Arial"/>
              </a:defRPr>
            </a:pPr>
            <a:r>
              <a:t>3. SẴN SÀNG CHO DOANH NGHIỆP</a:t>
            </a:r>
          </a:p>
        </p:txBody>
      </p:sp>
      <p:sp>
        <p:nvSpPr>
          <p:cNvPr id="15" name="TextBox 14"/>
          <p:cNvSpPr txBox="1"/>
          <p:nvPr/>
        </p:nvSpPr>
        <p:spPr>
          <a:xfrm>
            <a:off x="8165592" y="1965960"/>
            <a:ext cx="3154680" cy="1965960"/>
          </a:xfrm>
          <a:prstGeom prst="rect">
            <a:avLst/>
          </a:prstGeom>
          <a:noFill/>
        </p:spPr>
        <p:txBody>
          <a:bodyPr wrap="square" lIns="0" tIns="0" rIns="0" bIns="0">
            <a:spAutoFit/>
          </a:bodyPr>
          <a:lstStyle/>
          <a:p>
            <a:pPr>
              <a:spcAft>
                <a:spcPts val="600"/>
              </a:spcAft>
              <a:defRPr sz="1250">
                <a:solidFill>
                  <a:srgbClr val="1E293B"/>
                </a:solidFill>
                <a:latin typeface="Arial"/>
              </a:defRPr>
            </a:pPr>
            <a:r>
              <a:t>• Tỷ lệ chặn tấn công đối kháng tuyệt đối 100%.</a:t>
            </a:r>
          </a:p>
          <a:p>
            <a:pPr>
              <a:spcAft>
                <a:spcPts val="600"/>
              </a:spcAft>
              <a:defRPr sz="1250">
                <a:solidFill>
                  <a:srgbClr val="1E293B"/>
                </a:solidFill>
                <a:latin typeface="Arial"/>
              </a:defRPr>
            </a:pPr>
            <a:r>
              <a:t>• Tự sửa lỗi tăng độ chính xác lên 93.8% qua Reflexion Loop.</a:t>
            </a:r>
          </a:p>
          <a:p>
            <a:pPr>
              <a:spcAft>
                <a:spcPts val="600"/>
              </a:spcAft>
              <a:defRPr sz="1250">
                <a:solidFill>
                  <a:srgbClr val="1E293B"/>
                </a:solidFill>
                <a:latin typeface="Arial"/>
              </a:defRPr>
            </a:pPr>
            <a:r>
              <a:t>• Vận hành thực tế trên cụm federated 21 bảng PG+MySQL với chi phí cực thấp (~5 VNĐ/truy vấn).</a:t>
            </a:r>
          </a:p>
          <a:p>
            <a:pPr>
              <a:spcAft>
                <a:spcPts val="600"/>
              </a:spcAft>
              <a:defRPr sz="1250">
                <a:solidFill>
                  <a:srgbClr val="1E293B"/>
                </a:solidFill>
                <a:latin typeface="Arial"/>
              </a:defRPr>
            </a:pPr>
            <a:r>
              <a:t>• Sẵn sàng mở rộng thực nghiệm cuối kỳ.</a:t>
            </a:r>
          </a:p>
        </p:txBody>
      </p:sp>
      <p:sp>
        <p:nvSpPr>
          <p:cNvPr id="16" name="Rounded Rectangle 15"/>
          <p:cNvSpPr/>
          <p:nvPr/>
        </p:nvSpPr>
        <p:spPr>
          <a:xfrm>
            <a:off x="731520" y="4160520"/>
            <a:ext cx="10728655" cy="2057400"/>
          </a:xfrm>
          <a:prstGeom prst="roundRect">
            <a:avLst/>
          </a:prstGeom>
          <a:solidFill>
            <a:srgbClr val="EBF4FE"/>
          </a:solidFill>
          <a:ln w="12700">
            <a:solidFill>
              <a:srgbClr val="BAD7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31520" y="4160520"/>
            <a:ext cx="109728" cy="2057400"/>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97280" y="4297680"/>
            <a:ext cx="10058400" cy="1092607"/>
          </a:xfrm>
          <a:prstGeom prst="rect">
            <a:avLst/>
          </a:prstGeom>
          <a:noFill/>
        </p:spPr>
        <p:txBody>
          <a:bodyPr wrap="square" lIns="0" tIns="0" rIns="0" bIns="0">
            <a:spAutoFit/>
          </a:bodyPr>
          <a:lstStyle/>
          <a:p>
            <a:pPr>
              <a:defRPr sz="2000" b="1">
                <a:solidFill>
                  <a:srgbClr val="00205B"/>
                </a:solidFill>
                <a:latin typeface="Arial"/>
              </a:defRPr>
            </a:pPr>
            <a:r>
              <a:rPr dirty="0"/>
              <a:t>KÍNH MỜI THẦY VÀ TOÀN THỂ HỘI ĐỒNG ĐẶT CÂU HỎI &amp; ĐÓNG GÓP </a:t>
            </a:r>
            <a:r>
              <a:rPr dirty="0" err="1"/>
              <a:t>Ý</a:t>
            </a:r>
            <a:r>
              <a:rPr dirty="0"/>
              <a:t> KIẾN</a:t>
            </a:r>
          </a:p>
          <a:p>
            <a:pPr>
              <a:spcBef>
                <a:spcPts val="400"/>
              </a:spcBef>
              <a:defRPr sz="1400">
                <a:solidFill>
                  <a:srgbClr val="1E293B"/>
                </a:solidFill>
                <a:latin typeface="Arial"/>
              </a:defRPr>
            </a:pPr>
            <a:r>
              <a:rPr dirty="0" err="1"/>
              <a:t>Nhóm</a:t>
            </a:r>
            <a:r>
              <a:rPr dirty="0"/>
              <a:t> 6 </a:t>
            </a:r>
            <a:r>
              <a:rPr dirty="0" err="1"/>
              <a:t>xin</a:t>
            </a:r>
            <a:r>
              <a:rPr dirty="0"/>
              <a:t> </a:t>
            </a:r>
            <a:r>
              <a:rPr dirty="0" err="1"/>
              <a:t>chân</a:t>
            </a:r>
            <a:r>
              <a:rPr dirty="0"/>
              <a:t> </a:t>
            </a:r>
            <a:r>
              <a:rPr dirty="0" err="1"/>
              <a:t>thành</a:t>
            </a:r>
            <a:r>
              <a:rPr dirty="0"/>
              <a:t> </a:t>
            </a:r>
            <a:r>
              <a:rPr dirty="0" err="1"/>
              <a:t>cảm</a:t>
            </a:r>
            <a:r>
              <a:rPr dirty="0"/>
              <a:t> </a:t>
            </a:r>
            <a:r>
              <a:rPr dirty="0" err="1"/>
              <a:t>ơn</a:t>
            </a:r>
            <a:r>
              <a:rPr dirty="0"/>
              <a:t> </a:t>
            </a:r>
            <a:r>
              <a:rPr dirty="0" err="1"/>
              <a:t>Thầy</a:t>
            </a:r>
            <a:r>
              <a:rPr dirty="0"/>
              <a:t> Lê Xuân </a:t>
            </a:r>
            <a:r>
              <a:rPr dirty="0" err="1"/>
              <a:t>Bách</a:t>
            </a:r>
            <a:r>
              <a:rPr dirty="0"/>
              <a:t> </a:t>
            </a:r>
            <a:r>
              <a:rPr dirty="0" err="1"/>
              <a:t>và</a:t>
            </a:r>
            <a:r>
              <a:rPr dirty="0"/>
              <a:t> </a:t>
            </a:r>
            <a:r>
              <a:rPr dirty="0" err="1"/>
              <a:t>Hội</a:t>
            </a:r>
            <a:r>
              <a:rPr dirty="0"/>
              <a:t> </a:t>
            </a:r>
            <a:r>
              <a:rPr dirty="0" err="1"/>
              <a:t>đồng</a:t>
            </a:r>
            <a:r>
              <a:rPr dirty="0"/>
              <a:t> </a:t>
            </a:r>
            <a:r>
              <a:rPr dirty="0" err="1"/>
              <a:t>đã</a:t>
            </a:r>
            <a:r>
              <a:rPr dirty="0"/>
              <a:t> </a:t>
            </a:r>
            <a:r>
              <a:rPr dirty="0" err="1"/>
              <a:t>chú</a:t>
            </a:r>
            <a:r>
              <a:rPr dirty="0"/>
              <a:t> </a:t>
            </a:r>
            <a:r>
              <a:rPr dirty="0" err="1"/>
              <a:t>ý</a:t>
            </a:r>
            <a:r>
              <a:rPr dirty="0"/>
              <a:t> </a:t>
            </a:r>
            <a:r>
              <a:rPr dirty="0" err="1"/>
              <a:t>lắng</a:t>
            </a:r>
            <a:r>
              <a:rPr dirty="0"/>
              <a:t> </a:t>
            </a:r>
            <a:r>
              <a:rPr dirty="0" err="1"/>
              <a:t>nghe</a:t>
            </a:r>
            <a:r>
              <a:rPr dirty="0"/>
              <a:t> </a:t>
            </a:r>
            <a:r>
              <a:rPr dirty="0" err="1"/>
              <a:t>bài</a:t>
            </a:r>
            <a:r>
              <a:rPr dirty="0"/>
              <a:t> </a:t>
            </a:r>
            <a:r>
              <a:rPr dirty="0" err="1"/>
              <a:t>báo</a:t>
            </a:r>
            <a:r>
              <a:rPr dirty="0"/>
              <a:t> </a:t>
            </a:r>
            <a:r>
              <a:rPr dirty="0" err="1"/>
              <a:t>cáo</a:t>
            </a:r>
            <a:r>
              <a:rPr dirty="0"/>
              <a:t>!</a:t>
            </a:r>
          </a:p>
          <a:p>
            <a:pPr>
              <a:spcBef>
                <a:spcPts val="800"/>
              </a:spcBef>
              <a:defRPr sz="1250" b="1">
                <a:solidFill>
                  <a:srgbClr val="0070AD"/>
                </a:solidFill>
                <a:latin typeface="Arial"/>
              </a:defRPr>
            </a:pPr>
            <a:r>
              <a:rPr dirty="0"/>
              <a:t>THÔNG TIN LIÊN HỆ NHÓM NGHIÊN CỨU:</a:t>
            </a:r>
          </a:p>
          <a:p>
            <a:pPr>
              <a:spcBef>
                <a:spcPts val="300"/>
              </a:spcBef>
              <a:defRPr sz="1200">
                <a:solidFill>
                  <a:srgbClr val="64748B"/>
                </a:solidFill>
                <a:latin typeface="Arial"/>
              </a:defRPr>
            </a:pPr>
            <a:r>
              <a:rPr dirty="0"/>
              <a:t>Nguyễn Công Thành (</a:t>
            </a:r>
            <a:r>
              <a:rPr dirty="0" err="1"/>
              <a:t>nguyencong</a:t>
            </a:r>
            <a:r>
              <a:rPr lang="vi-VN" dirty="0"/>
              <a:t>thanh</a:t>
            </a:r>
            <a:r>
              <a:rPr dirty="0"/>
              <a:t>280702@gmail.com)  •  Phạm Quỳnh Trân   •  Nguyễn Hữu Lợi</a:t>
            </a:r>
          </a:p>
        </p:txBody>
      </p:sp>
      <p:sp>
        <p:nvSpPr>
          <p:cNvPr id="19" name="Rectangle 18"/>
          <p:cNvSpPr/>
          <p:nvPr/>
        </p:nvSpPr>
        <p:spPr>
          <a:xfrm>
            <a:off x="731520" y="6419088"/>
            <a:ext cx="1072865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6455664"/>
            <a:ext cx="8229600" cy="256032"/>
          </a:xfrm>
          <a:prstGeom prst="rect">
            <a:avLst/>
          </a:prstGeom>
          <a:noFill/>
        </p:spPr>
        <p:txBody>
          <a:bodyPr wrap="square" lIns="0" tIns="0" rIns="0" bIns="0">
            <a:spAutoFit/>
          </a:bodyPr>
          <a:lstStyle/>
          <a:p>
            <a:pPr>
              <a:defRPr sz="1050">
                <a:solidFill>
                  <a:srgbClr val="94A3B8"/>
                </a:solidFill>
                <a:latin typeface="Arial"/>
              </a:defRPr>
            </a:pPr>
            <a:r>
              <a:t>Secure Agentic BI Framework | Checkpoint D2 | Khoa KH&amp;KT Máy tính - ĐH Bách Khoa TP.HCM</a:t>
            </a:r>
          </a:p>
        </p:txBody>
      </p:sp>
      <p:sp>
        <p:nvSpPr>
          <p:cNvPr id="21" name="TextBox 20"/>
          <p:cNvSpPr txBox="1"/>
          <p:nvPr/>
        </p:nvSpPr>
        <p:spPr>
          <a:xfrm>
            <a:off x="9144000" y="6455664"/>
            <a:ext cx="2316175" cy="256032"/>
          </a:xfrm>
          <a:prstGeom prst="rect">
            <a:avLst/>
          </a:prstGeom>
          <a:noFill/>
        </p:spPr>
        <p:txBody>
          <a:bodyPr wrap="square" lIns="0" tIns="0" rIns="0" bIns="0">
            <a:spAutoFit/>
          </a:bodyPr>
          <a:lstStyle/>
          <a:p>
            <a:pPr algn="r">
              <a:defRPr sz="1100" b="1">
                <a:solidFill>
                  <a:srgbClr val="00205B"/>
                </a:solidFill>
                <a:latin typeface="Arial"/>
              </a:defRPr>
            </a:pPr>
            <a:r>
              <a:t>Slide 14 / 14</a:t>
            </a:r>
          </a:p>
        </p:txBody>
      </p:sp>
      <p:pic>
        <p:nvPicPr>
          <p:cNvPr id="22" name="Picture 21" descr="X6.png">
            <a:extLst>
              <a:ext uri="{FF2B5EF4-FFF2-40B4-BE49-F238E27FC236}">
                <a16:creationId xmlns:a16="http://schemas.microsoft.com/office/drawing/2014/main" id="{8E3085EC-6D5B-DFCC-3DB0-3497B142C5AB}"/>
              </a:ext>
            </a:extLst>
          </p:cNvPr>
          <p:cNvPicPr>
            <a:picLocks noChangeAspect="1"/>
          </p:cNvPicPr>
          <p:nvPr/>
        </p:nvPicPr>
        <p:blipFill>
          <a:blip r:embed="rId3"/>
          <a:stretch>
            <a:fillRect/>
          </a:stretch>
        </p:blipFill>
        <p:spPr>
          <a:xfrm>
            <a:off x="11457432" y="75268"/>
            <a:ext cx="594360" cy="59927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TotalTime>
  <Words>8440</Words>
  <Application>Microsoft Macintosh PowerPoint</Application>
  <PresentationFormat>Widescreen</PresentationFormat>
  <Paragraphs>443</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Nguyễn Công Thành</cp:lastModifiedBy>
  <cp:revision>3</cp:revision>
  <dcterms:created xsi:type="dcterms:W3CDTF">2013-01-27T09:14:16Z</dcterms:created>
  <dcterms:modified xsi:type="dcterms:W3CDTF">2026-10-25T16:22:26Z</dcterms:modified>
  <cp:category/>
</cp:coreProperties>
</file>